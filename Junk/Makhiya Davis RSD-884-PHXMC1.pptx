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8" r:id="rId4"/>
  </p:sldMasterIdLst>
  <p:notesMasterIdLst>
    <p:notesMasterId r:id="rId28"/>
  </p:notesMasterIdLst>
  <p:handoutMasterIdLst>
    <p:handoutMasterId r:id="rId29"/>
  </p:handoutMasterIdLst>
  <p:sldIdLst>
    <p:sldId id="350" r:id="rId5"/>
    <p:sldId id="404" r:id="rId6"/>
    <p:sldId id="376" r:id="rId7"/>
    <p:sldId id="378" r:id="rId8"/>
    <p:sldId id="377" r:id="rId9"/>
    <p:sldId id="379" r:id="rId10"/>
    <p:sldId id="380" r:id="rId11"/>
    <p:sldId id="382" r:id="rId12"/>
    <p:sldId id="383" r:id="rId13"/>
    <p:sldId id="385" r:id="rId14"/>
    <p:sldId id="386" r:id="rId15"/>
    <p:sldId id="389" r:id="rId16"/>
    <p:sldId id="390" r:id="rId17"/>
    <p:sldId id="391" r:id="rId18"/>
    <p:sldId id="392" r:id="rId19"/>
    <p:sldId id="393" r:id="rId20"/>
    <p:sldId id="394" r:id="rId21"/>
    <p:sldId id="395" r:id="rId22"/>
    <p:sldId id="397" r:id="rId23"/>
    <p:sldId id="398" r:id="rId24"/>
    <p:sldId id="399" r:id="rId25"/>
    <p:sldId id="400" r:id="rId26"/>
    <p:sldId id="402"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emplate Instructions" id="{0C3528E6-B7D8-46A4-B518-4CE345D7E444}">
          <p14:sldIdLst/>
        </p14:section>
        <p14:section name="RSD1 Slides" id="{E9422832-582D-494B-9A2E-182F5DB022C2}">
          <p14:sldIdLst>
            <p14:sldId id="350"/>
            <p14:sldId id="404"/>
            <p14:sldId id="376"/>
            <p14:sldId id="378"/>
            <p14:sldId id="377"/>
            <p14:sldId id="379"/>
            <p14:sldId id="380"/>
            <p14:sldId id="382"/>
            <p14:sldId id="383"/>
            <p14:sldId id="385"/>
            <p14:sldId id="386"/>
          </p14:sldIdLst>
        </p14:section>
        <p14:section name="RSD2 Slides" id="{A6005AF4-2FC4-4769-9FB9-7087E7CDB950}">
          <p14:sldIdLst>
            <p14:sldId id="389"/>
            <p14:sldId id="390"/>
            <p14:sldId id="391"/>
            <p14:sldId id="392"/>
            <p14:sldId id="393"/>
            <p14:sldId id="394"/>
            <p14:sldId id="395"/>
            <p14:sldId id="397"/>
            <p14:sldId id="398"/>
            <p14:sldId id="399"/>
            <p14:sldId id="400"/>
            <p14:sldId id="402"/>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757A4"/>
    <a:srgbClr val="768694"/>
    <a:srgbClr val="492366"/>
    <a:srgbClr val="EAE5E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86242" autoAdjust="0"/>
  </p:normalViewPr>
  <p:slideViewPr>
    <p:cSldViewPr snapToGrid="0">
      <p:cViewPr varScale="1">
        <p:scale>
          <a:sx n="100" d="100"/>
          <a:sy n="100" d="100"/>
        </p:scale>
        <p:origin x="798" y="72"/>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showGuides="1">
      <p:cViewPr varScale="1">
        <p:scale>
          <a:sx n="60" d="100"/>
          <a:sy n="60" d="100"/>
        </p:scale>
        <p:origin x="3187" y="4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commentAuthors" Target="commentAuthor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5B66E5-15AA-4745-8A67-3CE257BEE39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4" name="Footer Placeholder 3">
            <a:extLst>
              <a:ext uri="{FF2B5EF4-FFF2-40B4-BE49-F238E27FC236}">
                <a16:creationId xmlns:a16="http://schemas.microsoft.com/office/drawing/2014/main" id="{AC844A45-21B3-834A-A491-E4E4B9DC117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AC039FDB-18A0-074D-8BA3-A4C3DE896AF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E6D13E5-4CEC-3A4A-8E5D-AFCEE7512EEC}" type="slidenum">
              <a:t>‹#›</a:t>
            </a:fld>
            <a:endParaRPr lang="en-US" dirty="0"/>
          </a:p>
        </p:txBody>
      </p:sp>
    </p:spTree>
    <p:extLst>
      <p:ext uri="{BB962C8B-B14F-4D97-AF65-F5344CB8AC3E}">
        <p14:creationId xmlns:p14="http://schemas.microsoft.com/office/powerpoint/2010/main" val="2653228447"/>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E7A52F-9D89-7442-A8E9-48D1527B5F6B}" type="datetimeFigureOut">
              <a:rPr lang="en-US" smtClean="0"/>
              <a:t>10/5/2023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9C7E07-3C67-C64C-8DA0-0404F6303970}" type="slidenum">
              <a:rPr lang="en-US" smtClean="0"/>
              <a:t>‹#›</a:t>
            </a:fld>
            <a:endParaRPr lang="en-US" dirty="0"/>
          </a:p>
        </p:txBody>
      </p:sp>
    </p:spTree>
    <p:extLst>
      <p:ext uri="{BB962C8B-B14F-4D97-AF65-F5344CB8AC3E}">
        <p14:creationId xmlns:p14="http://schemas.microsoft.com/office/powerpoint/2010/main" val="4032528379"/>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Objective:</a:t>
            </a:r>
          </a:p>
          <a:p>
            <a:r>
              <a:rPr lang="en-US" b="0" u="none" dirty="0"/>
              <a:t>The alignment table provides a visual organization of the research components of the dissertation topic. As changes are made to the components on this slide, learners should copy the changes to the appropriate slides. </a:t>
            </a:r>
          </a:p>
        </p:txBody>
      </p:sp>
      <p:sp>
        <p:nvSpPr>
          <p:cNvPr id="4" name="Footer Placeholder 3"/>
          <p:cNvSpPr>
            <a:spLocks noGrp="1"/>
          </p:cNvSpPr>
          <p:nvPr>
            <p:ph type="ftr" sz="quarter" idx="4"/>
          </p:nvPr>
        </p:nvSpPr>
        <p:spPr/>
        <p:txBody>
          <a:bodyPr/>
          <a:lstStyle/>
          <a:p>
            <a:endParaRPr lang="en-US" dirty="0"/>
          </a:p>
        </p:txBody>
      </p:sp>
      <p:sp>
        <p:nvSpPr>
          <p:cNvPr id="5" name="Slide Number Placeholder 4"/>
          <p:cNvSpPr>
            <a:spLocks noGrp="1"/>
          </p:cNvSpPr>
          <p:nvPr>
            <p:ph type="sldNum" sz="quarter" idx="5"/>
          </p:nvPr>
        </p:nvSpPr>
        <p:spPr/>
        <p:txBody>
          <a:bodyPr/>
          <a:lstStyle/>
          <a:p>
            <a:fld id="{A89C7E07-3C67-C64C-8DA0-0404F6303970}" type="slidenum">
              <a:rPr lang="en-US" smtClean="0"/>
              <a:t>2</a:t>
            </a:fld>
            <a:endParaRPr lang="en-US" dirty="0"/>
          </a:p>
        </p:txBody>
      </p:sp>
    </p:spTree>
    <p:extLst>
      <p:ext uri="{BB962C8B-B14F-4D97-AF65-F5344CB8AC3E}">
        <p14:creationId xmlns:p14="http://schemas.microsoft.com/office/powerpoint/2010/main" val="1735564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b="1" u="sng" dirty="0"/>
              <a:t>Objective:</a:t>
            </a:r>
          </a:p>
          <a:p>
            <a:pPr marL="0" marR="0" lvl="0" indent="0" algn="l" defTabSz="914400" rtl="0" eaLnBrk="0" fontAlgn="base" latinLnBrk="0" hangingPunct="0">
              <a:lnSpc>
                <a:spcPct val="100000"/>
              </a:lnSpc>
              <a:spcBef>
                <a:spcPct val="0"/>
              </a:spcBef>
              <a:spcAft>
                <a:spcPct val="0"/>
              </a:spcAft>
              <a:buClrTx/>
              <a:buSzTx/>
              <a:buFontTx/>
              <a:buNone/>
              <a:tabLst/>
              <a:defRPr/>
            </a:pPr>
            <a:r>
              <a:rPr lang="en-US" dirty="0"/>
              <a:t>The outline on this slide is used in the Prospectus to develop the Background of the Study in Chapter 1 and the Background of the Problem Space in Chapter 2.  </a:t>
            </a:r>
          </a:p>
          <a:p>
            <a:endParaRPr lang="en-US" b="1" dirty="0"/>
          </a:p>
          <a:p>
            <a:r>
              <a:rPr lang="en-US" b="1" u="sng" dirty="0"/>
              <a:t>Slide Requirements: </a:t>
            </a:r>
          </a:p>
          <a:p>
            <a:pPr marL="228600" indent="-228600">
              <a:buAutoNum type="arabicPeriod"/>
            </a:pPr>
            <a:r>
              <a:rPr lang="en-US" dirty="0"/>
              <a:t>Present findings from prior research related to the history of the problem in practice, issue, and/or topic.</a:t>
            </a:r>
          </a:p>
          <a:p>
            <a:pPr marL="228600" indent="-228600">
              <a:buAutoNum type="arabicPeriod"/>
            </a:pPr>
            <a:r>
              <a:rPr lang="en-US" dirty="0"/>
              <a:t>In bullet format, provide a history of: </a:t>
            </a:r>
          </a:p>
          <a:p>
            <a:pPr marL="685800" lvl="1" indent="-228600">
              <a:buFont typeface="+mj-lt"/>
              <a:buAutoNum type="alphaLcParenR"/>
            </a:pPr>
            <a:r>
              <a:rPr lang="en-US" dirty="0"/>
              <a:t>When and how the problem emerged in the literature. </a:t>
            </a:r>
          </a:p>
          <a:p>
            <a:pPr marL="685800" lvl="1" indent="-228600">
              <a:buFont typeface="+mj-lt"/>
              <a:buAutoNum type="alphaLcParenR"/>
            </a:pPr>
            <a:r>
              <a:rPr lang="en-US" sz="1800" dirty="0">
                <a:effectLst/>
                <a:latin typeface="Times New Roman" panose="02020603050405020304" pitchFamily="18" charset="0"/>
                <a:ea typeface="Times New Roman" panose="02020603050405020304" pitchFamily="18" charset="0"/>
              </a:rPr>
              <a:t>Describe trends in research and literature since its emergence. </a:t>
            </a:r>
          </a:p>
          <a:p>
            <a:pPr marL="685800" lvl="1" indent="-228600">
              <a:buFont typeface="+mj-lt"/>
              <a:buAutoNum type="alphaLcParenR"/>
            </a:pPr>
            <a:r>
              <a:rPr lang="en-US" sz="1800" dirty="0">
                <a:effectLst/>
                <a:latin typeface="Times New Roman" panose="02020603050405020304" pitchFamily="18" charset="0"/>
                <a:ea typeface="Times New Roman" panose="02020603050405020304" pitchFamily="18" charset="0"/>
              </a:rPr>
              <a:t>Describe how the research focus has changed over the past five years.</a:t>
            </a:r>
          </a:p>
          <a:p>
            <a:pPr marL="228600" lvl="0" indent="-228600">
              <a:buFont typeface="+mj-lt"/>
              <a:buAutoNum type="arabicPeriod"/>
            </a:pPr>
            <a:r>
              <a:rPr lang="en-US" dirty="0"/>
              <a:t>Support information with empirical citations.</a:t>
            </a:r>
          </a:p>
          <a:p>
            <a:pPr marL="0" lvl="0" indent="0">
              <a:buFont typeface="+mj-lt"/>
              <a:buNone/>
            </a:pPr>
            <a:endParaRPr lang="en-US" dirty="0"/>
          </a:p>
          <a:p>
            <a:pPr marL="0" lvl="0" indent="0">
              <a:buFont typeface="+mj-lt"/>
              <a:buNone/>
            </a:pPr>
            <a:r>
              <a:rPr lang="en-US" b="1" u="sng" dirty="0"/>
              <a:t>Hints: </a:t>
            </a:r>
            <a:endParaRPr lang="en-US" b="0" u="none" dirty="0"/>
          </a:p>
          <a:p>
            <a:pPr marL="171450" lvl="0" indent="-171450">
              <a:buFont typeface="Arial" panose="020B0604020202020204" pitchFamily="34" charset="0"/>
              <a:buChar char="•"/>
            </a:pPr>
            <a:r>
              <a:rPr lang="en-US" b="0" u="none" dirty="0"/>
              <a:t>Research older than 5 years is allowed for bullets (a) and (b) above. </a:t>
            </a:r>
          </a:p>
          <a:p>
            <a:pPr marL="171450" lvl="0" indent="-171450">
              <a:buFont typeface="Arial" panose="020B0604020202020204" pitchFamily="34" charset="0"/>
              <a:buChar char="•"/>
            </a:pPr>
            <a:r>
              <a:rPr lang="en-US" b="0" u="none" dirty="0"/>
              <a:t>Primary sources (not secondary sources) must be cited.</a:t>
            </a:r>
          </a:p>
          <a:p>
            <a:pPr marL="171450" lvl="0" indent="-171450">
              <a:buFont typeface="Arial" panose="020B0604020202020204" pitchFamily="34" charset="0"/>
              <a:buChar char="•"/>
            </a:pPr>
            <a:r>
              <a:rPr lang="en-US" b="0" u="none" dirty="0"/>
              <a:t>Use the GCU Library Doctoral Research guide! https://libguides.gcu.edu/QuantitativeDoctoralResearch/Empirical</a:t>
            </a:r>
          </a:p>
          <a:p>
            <a:pPr marL="1143000" lvl="2" indent="-228600">
              <a:buFont typeface="+mj-lt"/>
              <a:buAutoNum type="alphaLcParenR"/>
            </a:pPr>
            <a:endParaRPr lang="en-US" sz="1200" kern="1200" dirty="0">
              <a:solidFill>
                <a:schemeClr val="tx1"/>
              </a:solidFill>
              <a:effectLst/>
              <a:latin typeface="Gill Sans" charset="0"/>
              <a:ea typeface="+mn-ea"/>
              <a:cs typeface="+mn-cs"/>
            </a:endParaRPr>
          </a:p>
          <a:p>
            <a:endParaRPr lang="en-US" dirty="0"/>
          </a:p>
        </p:txBody>
      </p:sp>
      <p:sp>
        <p:nvSpPr>
          <p:cNvPr id="4" name="Footer Placeholder 3"/>
          <p:cNvSpPr>
            <a:spLocks noGrp="1"/>
          </p:cNvSpPr>
          <p:nvPr>
            <p:ph type="ftr" sz="quarter" idx="4"/>
          </p:nvPr>
        </p:nvSpPr>
        <p:spPr/>
        <p:txBody>
          <a:bodyPr/>
          <a:lstStyle/>
          <a:p>
            <a:endParaRPr lang="en-US" dirty="0"/>
          </a:p>
        </p:txBody>
      </p:sp>
      <p:sp>
        <p:nvSpPr>
          <p:cNvPr id="5" name="Slide Number Placeholder 4"/>
          <p:cNvSpPr>
            <a:spLocks noGrp="1"/>
          </p:cNvSpPr>
          <p:nvPr>
            <p:ph type="sldNum" sz="quarter" idx="5"/>
          </p:nvPr>
        </p:nvSpPr>
        <p:spPr/>
        <p:txBody>
          <a:bodyPr/>
          <a:lstStyle/>
          <a:p>
            <a:fld id="{A89C7E07-3C67-C64C-8DA0-0404F6303970}" type="slidenum">
              <a:rPr lang="en-US" smtClean="0"/>
              <a:t>3</a:t>
            </a:fld>
            <a:endParaRPr lang="en-US" dirty="0"/>
          </a:p>
        </p:txBody>
      </p:sp>
    </p:spTree>
    <p:extLst>
      <p:ext uri="{BB962C8B-B14F-4D97-AF65-F5344CB8AC3E}">
        <p14:creationId xmlns:p14="http://schemas.microsoft.com/office/powerpoint/2010/main" val="26211247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b="1" u="sng" dirty="0"/>
              <a:t>Objective: </a:t>
            </a:r>
          </a:p>
          <a:p>
            <a:pPr marL="0" marR="0" lvl="0" indent="0" algn="l" defTabSz="914400" rtl="0" eaLnBrk="0" fontAlgn="base" latinLnBrk="0" hangingPunct="0">
              <a:lnSpc>
                <a:spcPct val="100000"/>
              </a:lnSpc>
              <a:spcBef>
                <a:spcPct val="0"/>
              </a:spcBef>
              <a:spcAft>
                <a:spcPct val="0"/>
              </a:spcAft>
              <a:buClrTx/>
              <a:buSzTx/>
              <a:buFontTx/>
              <a:buNone/>
              <a:tabLst/>
              <a:defRPr/>
            </a:pPr>
            <a:r>
              <a:rPr lang="en-US" dirty="0"/>
              <a:t>In the Proposal this information is used to develop the research questions for chapter 1 and 3.  It is expanded significantly in Chapter 2. </a:t>
            </a:r>
          </a:p>
          <a:p>
            <a:endParaRPr lang="en-US" dirty="0"/>
          </a:p>
          <a:p>
            <a:r>
              <a:rPr lang="en-US" b="1" u="sng" dirty="0"/>
              <a:t>Slide Requirements: </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defRPr/>
            </a:pPr>
            <a:r>
              <a:rPr lang="en-US" dirty="0"/>
              <a:t>There should be one slide for each theory, model, or concept in outline format. </a:t>
            </a:r>
          </a:p>
          <a:p>
            <a:pPr marL="685800" marR="0" lvl="1" indent="-2286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lang="en-US" dirty="0"/>
              <a:t>Duplicate this slide if more than one is needed (right click on the slide, click “Duplicate Slide”)</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defRPr/>
            </a:pPr>
            <a:r>
              <a:rPr lang="en-US" dirty="0"/>
              <a:t>For each, describe the overall theory/model/concept using </a:t>
            </a:r>
            <a:r>
              <a:rPr lang="en-US" b="1" u="sng" dirty="0"/>
              <a:t>seminal citations</a:t>
            </a:r>
            <a:r>
              <a:rPr lang="en-US" dirty="0"/>
              <a:t>. </a:t>
            </a:r>
          </a:p>
          <a:p>
            <a:pPr marL="685800" marR="0" lvl="1" indent="-2286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lang="en-US" dirty="0"/>
              <a:t>Focus on describing the theory/model/concept and how it will be used in the proposed topic, not how it has been used in prior studies.  </a:t>
            </a:r>
          </a:p>
          <a:p>
            <a:pPr marL="685800" marR="0" lvl="1" indent="-2286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lang="en-US" dirty="0"/>
              <a:t>If a visual is available, it may be included. Visuals do not replace a written explanation.</a:t>
            </a:r>
          </a:p>
          <a:p>
            <a:pPr marL="228600" indent="-228600">
              <a:buFont typeface="+mj-lt"/>
              <a:buAutoNum type="arabicPeriod"/>
            </a:pPr>
            <a:r>
              <a:rPr lang="en-US" b="1" u="sng" dirty="0"/>
              <a:t>Every variable must be defined using a theory, model, or concept.</a:t>
            </a:r>
          </a:p>
          <a:p>
            <a:pPr marL="685800" lvl="1" indent="-228600">
              <a:buFont typeface="Arial" panose="020B0604020202020204" pitchFamily="34" charset="0"/>
              <a:buChar char="•"/>
            </a:pPr>
            <a:r>
              <a:rPr lang="en-US" dirty="0"/>
              <a:t>Indicate which variable(s) this theory, model, or concept is defining.</a:t>
            </a:r>
          </a:p>
          <a:p>
            <a:pPr marL="0" lvl="0" indent="0">
              <a:buFont typeface="Arial" panose="020B0604020202020204" pitchFamily="34" charset="0"/>
              <a:buNone/>
            </a:pPr>
            <a:r>
              <a:rPr lang="en-US" dirty="0"/>
              <a:t>4.   </a:t>
            </a:r>
            <a:r>
              <a:rPr lang="en-US" sz="1800" dirty="0">
                <a:effectLst/>
                <a:latin typeface="Segoe UI" panose="020B0502040204020203" pitchFamily="34" charset="0"/>
              </a:rPr>
              <a:t>If using two or more theories or models, indicate how one theory or model informs the other, if applicable.</a:t>
            </a:r>
            <a:endParaRPr lang="en-US" dirty="0"/>
          </a:p>
          <a:p>
            <a:endParaRPr lang="en-US" dirty="0"/>
          </a:p>
          <a:p>
            <a:r>
              <a:rPr lang="en-US" b="1" u="sng" dirty="0"/>
              <a:t>Hints: </a:t>
            </a:r>
          </a:p>
          <a:p>
            <a:r>
              <a:rPr lang="en-US" dirty="0"/>
              <a:t>Ways to find models or theories are:</a:t>
            </a:r>
          </a:p>
          <a:p>
            <a:pPr marL="228600" indent="-228600">
              <a:buAutoNum type="arabicPeriod"/>
            </a:pPr>
            <a:r>
              <a:rPr lang="en-US" dirty="0"/>
              <a:t>Find studies related to your topic and see what theoretical foundation theory, model, or concept they used. Then research it to find a quantitative instrument that is used to collect data on it. </a:t>
            </a:r>
          </a:p>
          <a:p>
            <a:pPr marL="228600" indent="-228600">
              <a:buAutoNum type="arabicPeriod"/>
            </a:pPr>
            <a:r>
              <a:rPr lang="en-US" dirty="0"/>
              <a:t>Look for validated quantitative instruments that measure variables you are studying.</a:t>
            </a:r>
          </a:p>
          <a:p>
            <a:pPr marL="685800" lvl="1" indent="-228600">
              <a:buFont typeface="Arial" panose="020B0604020202020204" pitchFamily="34" charset="0"/>
              <a:buChar char="•"/>
            </a:pPr>
            <a:r>
              <a:rPr lang="en-US" dirty="0"/>
              <a:t>Do a GCU Library or Google Scholar search on the instrument to see which theory, model, or concept the author(s) used. </a:t>
            </a:r>
          </a:p>
          <a:p>
            <a:pPr marL="685800" marR="0" lvl="1" indent="-2286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lang="en-US" dirty="0"/>
              <a:t>Examine the theory, model, or concept the instrument author(s) used to create their instrument. </a:t>
            </a:r>
          </a:p>
          <a:p>
            <a:pPr marL="685800" lvl="1" indent="-228600">
              <a:buFont typeface="Arial" panose="020B0604020202020204" pitchFamily="34" charset="0"/>
              <a:buChar char="•"/>
            </a:pPr>
            <a:r>
              <a:rPr lang="en-US" dirty="0"/>
              <a:t>Once identified, trace back historically to the creator of the initial theory, model or concept to find the seminal source.  </a:t>
            </a:r>
          </a:p>
        </p:txBody>
      </p:sp>
      <p:sp>
        <p:nvSpPr>
          <p:cNvPr id="4" name="Footer Placeholder 3"/>
          <p:cNvSpPr>
            <a:spLocks noGrp="1"/>
          </p:cNvSpPr>
          <p:nvPr>
            <p:ph type="ftr" sz="quarter" idx="4"/>
          </p:nvPr>
        </p:nvSpPr>
        <p:spPr/>
        <p:txBody>
          <a:bodyPr/>
          <a:lstStyle/>
          <a:p>
            <a:endParaRPr lang="en-US" dirty="0"/>
          </a:p>
        </p:txBody>
      </p:sp>
      <p:sp>
        <p:nvSpPr>
          <p:cNvPr id="5" name="Slide Number Placeholder 4"/>
          <p:cNvSpPr>
            <a:spLocks noGrp="1"/>
          </p:cNvSpPr>
          <p:nvPr>
            <p:ph type="sldNum" sz="quarter" idx="5"/>
          </p:nvPr>
        </p:nvSpPr>
        <p:spPr/>
        <p:txBody>
          <a:bodyPr/>
          <a:lstStyle/>
          <a:p>
            <a:fld id="{A89C7E07-3C67-C64C-8DA0-0404F6303970}" type="slidenum">
              <a:rPr lang="en-US" smtClean="0"/>
              <a:t>4</a:t>
            </a:fld>
            <a:endParaRPr lang="en-US" dirty="0"/>
          </a:p>
        </p:txBody>
      </p:sp>
    </p:spTree>
    <p:extLst>
      <p:ext uri="{BB962C8B-B14F-4D97-AF65-F5344CB8AC3E}">
        <p14:creationId xmlns:p14="http://schemas.microsoft.com/office/powerpoint/2010/main" val="4300934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Objective: </a:t>
            </a:r>
          </a:p>
          <a:p>
            <a:pPr marL="0" indent="0">
              <a:buFont typeface="Arial" panose="020B0604020202020204" pitchFamily="34" charset="0"/>
              <a:buNone/>
            </a:pPr>
            <a:r>
              <a:rPr lang="en-US" dirty="0"/>
              <a:t>The outline on this slide is used in the Prospectus to develop the Introduction/Background of the Study in Chapter 1 and the Background of the Problem Space in Chapter 2.  </a:t>
            </a:r>
          </a:p>
          <a:p>
            <a:endParaRPr lang="en-US" dirty="0"/>
          </a:p>
          <a:p>
            <a:r>
              <a:rPr lang="en-US" b="1" u="sng" dirty="0"/>
              <a:t>Slide Requirements: </a:t>
            </a:r>
          </a:p>
          <a:p>
            <a:pPr marL="228600" indent="-228600">
              <a:buFont typeface="+mj-lt"/>
              <a:buAutoNum type="arabicPeriod"/>
            </a:pPr>
            <a:r>
              <a:rPr lang="en-US" dirty="0"/>
              <a:t>In bullet format, describe </a:t>
            </a:r>
            <a:r>
              <a:rPr lang="en-US" sz="1200" kern="1200" dirty="0">
                <a:solidFill>
                  <a:schemeClr val="tx1"/>
                </a:solidFill>
                <a:effectLst/>
                <a:latin typeface="Gill Sans" charset="0"/>
                <a:ea typeface="+mn-ea"/>
                <a:cs typeface="+mn-cs"/>
              </a:rPr>
              <a:t>the problem space related to the topic from empirical literature or research. The following bullets are required for this slide: </a:t>
            </a:r>
          </a:p>
          <a:p>
            <a:pPr marL="685800" lvl="1" indent="-228600">
              <a:buFont typeface="+mj-lt"/>
              <a:buAutoNum type="alphaLcParenR"/>
            </a:pPr>
            <a:r>
              <a:rPr lang="en-US" sz="1200" kern="1200" dirty="0">
                <a:solidFill>
                  <a:schemeClr val="tx1"/>
                </a:solidFill>
                <a:effectLst/>
                <a:latin typeface="Gill Sans" charset="0"/>
                <a:ea typeface="+mn-ea"/>
                <a:cs typeface="+mn-cs"/>
              </a:rPr>
              <a:t>State the problem in practice, issue, and/or topic to be studied.</a:t>
            </a:r>
          </a:p>
          <a:p>
            <a:pPr marL="685800" lvl="1" indent="-228600">
              <a:buFont typeface="+mj-lt"/>
              <a:buAutoNum type="alphaLcParenR"/>
            </a:pPr>
            <a:r>
              <a:rPr lang="en-US" sz="1200" kern="1200" dirty="0">
                <a:solidFill>
                  <a:schemeClr val="tx1"/>
                </a:solidFill>
                <a:effectLst/>
                <a:latin typeface="Gill Sans" charset="0"/>
                <a:ea typeface="+mn-ea"/>
                <a:cs typeface="+mn-cs"/>
              </a:rPr>
              <a:t>Describe what is already known about the problem, issue, and/or topic from recent and relevant empirical research. </a:t>
            </a:r>
          </a:p>
          <a:p>
            <a:pPr marL="685800" lvl="1" indent="-228600">
              <a:buFont typeface="+mj-lt"/>
              <a:buAutoNum type="alphaLcParenR"/>
            </a:pPr>
            <a:r>
              <a:rPr lang="en-US" sz="1200" kern="1200" dirty="0">
                <a:solidFill>
                  <a:schemeClr val="tx1"/>
                </a:solidFill>
                <a:effectLst/>
                <a:latin typeface="Gill Sans" charset="0"/>
                <a:ea typeface="+mn-ea"/>
                <a:cs typeface="+mn-cs"/>
              </a:rPr>
              <a:t>Describe what still needs to be studied or understood about the problem, issue, and/or topic from recent and relevant empirical research. </a:t>
            </a:r>
          </a:p>
          <a:p>
            <a:pPr marL="685800" lvl="1" indent="-228600">
              <a:buFont typeface="+mj-lt"/>
              <a:buAutoNum type="alphaLcParenR"/>
            </a:pPr>
            <a:r>
              <a:rPr lang="en-US" sz="1200" kern="1200" dirty="0">
                <a:solidFill>
                  <a:schemeClr val="tx1"/>
                </a:solidFill>
                <a:effectLst/>
                <a:latin typeface="Gill Sans" charset="0"/>
                <a:ea typeface="+mn-ea"/>
                <a:cs typeface="+mn-cs"/>
              </a:rPr>
              <a:t>Synthesize the overall problem space into a 2-3 sentence argument demonstrating the relevance and need for your proposed topic. </a:t>
            </a:r>
          </a:p>
          <a:p>
            <a:pPr marL="228600" lvl="0" indent="-228600">
              <a:buFont typeface="+mj-lt"/>
              <a:buAutoNum type="arabicPeriod"/>
            </a:pPr>
            <a:r>
              <a:rPr lang="en-US" sz="1200" kern="1200" dirty="0">
                <a:solidFill>
                  <a:schemeClr val="tx1"/>
                </a:solidFill>
                <a:effectLst/>
                <a:latin typeface="Gill Sans" charset="0"/>
                <a:ea typeface="+mn-ea"/>
                <a:cs typeface="+mn-cs"/>
              </a:rPr>
              <a:t>Citations are required for each description and/or argument.</a:t>
            </a:r>
          </a:p>
          <a:p>
            <a:pPr marL="0" indent="0">
              <a:buNone/>
            </a:pPr>
            <a:endParaRPr lang="en-US" sz="1200" kern="1200" dirty="0">
              <a:solidFill>
                <a:schemeClr val="tx1"/>
              </a:solidFill>
              <a:effectLst/>
              <a:latin typeface="Gill Sans" charset="0"/>
              <a:ea typeface="+mn-ea"/>
              <a:cs typeface="+mn-cs"/>
            </a:endParaRPr>
          </a:p>
          <a:p>
            <a:pPr marL="0" indent="0">
              <a:buNone/>
            </a:pPr>
            <a:r>
              <a:rPr lang="en-US" sz="1200" b="1" u="sng" kern="1200" dirty="0">
                <a:solidFill>
                  <a:schemeClr val="tx1"/>
                </a:solidFill>
                <a:effectLst/>
                <a:latin typeface="Gill Sans" charset="0"/>
                <a:ea typeface="+mn-ea"/>
                <a:cs typeface="+mn-cs"/>
              </a:rPr>
              <a:t>Hint:</a:t>
            </a:r>
          </a:p>
          <a:p>
            <a:pPr marL="0" indent="0">
              <a:buNone/>
            </a:pPr>
            <a:r>
              <a:rPr lang="en-US" sz="1200" kern="1200" dirty="0">
                <a:solidFill>
                  <a:schemeClr val="tx1"/>
                </a:solidFill>
                <a:effectLst/>
                <a:latin typeface="Gill Sans" charset="0"/>
                <a:ea typeface="+mn-ea"/>
                <a:cs typeface="+mn-cs"/>
              </a:rPr>
              <a:t>Using empirical literature dated primarily within the past 5 years, identify and support what still needs to be understood regarding the problem space through a combination of arguments: </a:t>
            </a:r>
          </a:p>
          <a:p>
            <a:pPr marL="228600" lvl="0" indent="-228600">
              <a:buFont typeface="Arial" panose="020B0604020202020204" pitchFamily="34" charset="0"/>
              <a:buChar char="•"/>
            </a:pPr>
            <a:r>
              <a:rPr lang="en-US" sz="1200" kern="1200" dirty="0">
                <a:solidFill>
                  <a:schemeClr val="tx1"/>
                </a:solidFill>
                <a:effectLst/>
                <a:latin typeface="Gill Sans" charset="0"/>
                <a:ea typeface="+mn-ea"/>
                <a:cs typeface="+mn-cs"/>
              </a:rPr>
              <a:t>Professional and/or broader societal need identified in the literature</a:t>
            </a:r>
          </a:p>
          <a:p>
            <a:pPr marL="228600" lvl="0" indent="-228600">
              <a:buFont typeface="Arial" panose="020B0604020202020204" pitchFamily="34" charset="0"/>
              <a:buChar char="•"/>
            </a:pPr>
            <a:r>
              <a:rPr lang="en-US" sz="1200" kern="1200" dirty="0">
                <a:solidFill>
                  <a:schemeClr val="tx1"/>
                </a:solidFill>
                <a:effectLst/>
                <a:latin typeface="Gill Sans" charset="0"/>
                <a:ea typeface="+mn-ea"/>
                <a:cs typeface="+mn-cs"/>
              </a:rPr>
              <a:t>Directions for future research based on limitations, recommendations, and/or conflicting findings</a:t>
            </a:r>
          </a:p>
          <a:p>
            <a:pPr marL="228600" lvl="0" indent="-228600">
              <a:buFont typeface="Arial" panose="020B0604020202020204" pitchFamily="34" charset="0"/>
              <a:buChar char="•"/>
            </a:pPr>
            <a:r>
              <a:rPr lang="en-US" sz="1200" kern="1200" dirty="0">
                <a:solidFill>
                  <a:schemeClr val="tx1"/>
                </a:solidFill>
                <a:effectLst/>
                <a:latin typeface="Gill Sans" charset="0"/>
                <a:ea typeface="+mn-ea"/>
                <a:cs typeface="+mn-cs"/>
              </a:rPr>
              <a:t>Synthesis of broader topics to study in combination</a:t>
            </a:r>
          </a:p>
          <a:p>
            <a:pPr marL="228600" indent="-228600">
              <a:buAutoNum type="arabicPeriod"/>
            </a:pPr>
            <a:endParaRPr lang="en-US" dirty="0"/>
          </a:p>
        </p:txBody>
      </p:sp>
      <p:sp>
        <p:nvSpPr>
          <p:cNvPr id="4" name="Footer Placeholder 3"/>
          <p:cNvSpPr>
            <a:spLocks noGrp="1"/>
          </p:cNvSpPr>
          <p:nvPr>
            <p:ph type="ftr" sz="quarter" idx="4"/>
          </p:nvPr>
        </p:nvSpPr>
        <p:spPr/>
        <p:txBody>
          <a:bodyPr/>
          <a:lstStyle/>
          <a:p>
            <a:endParaRPr lang="en-US" dirty="0"/>
          </a:p>
        </p:txBody>
      </p:sp>
      <p:sp>
        <p:nvSpPr>
          <p:cNvPr id="5" name="Slide Number Placeholder 4"/>
          <p:cNvSpPr>
            <a:spLocks noGrp="1"/>
          </p:cNvSpPr>
          <p:nvPr>
            <p:ph type="sldNum" sz="quarter" idx="5"/>
          </p:nvPr>
        </p:nvSpPr>
        <p:spPr/>
        <p:txBody>
          <a:bodyPr/>
          <a:lstStyle/>
          <a:p>
            <a:fld id="{A89C7E07-3C67-C64C-8DA0-0404F6303970}" type="slidenum">
              <a:rPr lang="en-US" smtClean="0"/>
              <a:t>5</a:t>
            </a:fld>
            <a:endParaRPr lang="en-US" dirty="0"/>
          </a:p>
        </p:txBody>
      </p:sp>
    </p:spTree>
    <p:extLst>
      <p:ext uri="{BB962C8B-B14F-4D97-AF65-F5344CB8AC3E}">
        <p14:creationId xmlns:p14="http://schemas.microsoft.com/office/powerpoint/2010/main" val="12232206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Objective: </a:t>
            </a:r>
          </a:p>
          <a:p>
            <a:pPr marL="0" indent="0">
              <a:buFont typeface="Arial" panose="020B0604020202020204" pitchFamily="34" charset="0"/>
              <a:buNone/>
            </a:pPr>
            <a:r>
              <a:rPr lang="en-US" dirty="0"/>
              <a:t>In the Prospectus this slide is used to provide an outline of the topics/themes that will be included in the Review of Literature section, which is 30+ pages in Chapter 2. </a:t>
            </a:r>
          </a:p>
          <a:p>
            <a:endParaRPr lang="en-US" dirty="0"/>
          </a:p>
          <a:p>
            <a:r>
              <a:rPr lang="en-US" b="1" u="sng" dirty="0"/>
              <a:t>Slide Requirements: </a:t>
            </a:r>
          </a:p>
          <a:p>
            <a:pPr marL="228600" indent="-228600">
              <a:buFont typeface="+mj-lt"/>
              <a:buAutoNum type="arabicPeriod"/>
            </a:pPr>
            <a:r>
              <a:rPr lang="en-US" dirty="0"/>
              <a:t>Identify 3-5 major topics/themes in the literature related to the proposed problem space</a:t>
            </a:r>
          </a:p>
          <a:p>
            <a:pPr marL="228600" lvl="0" indent="-228600">
              <a:buFont typeface="+mj-lt"/>
              <a:buAutoNum type="arabicPeriod"/>
            </a:pPr>
            <a:r>
              <a:rPr lang="en-US" dirty="0"/>
              <a:t>Each bullet should include:</a:t>
            </a:r>
          </a:p>
          <a:p>
            <a:pPr marL="685800" lvl="1" indent="-228600">
              <a:buFont typeface="+mj-lt"/>
              <a:buAutoNum type="alphaLcParenR"/>
            </a:pPr>
            <a:r>
              <a:rPr lang="en-US" dirty="0"/>
              <a:t>2-3 sentences defining/describing each topic</a:t>
            </a:r>
          </a:p>
          <a:p>
            <a:pPr marL="685800" lvl="1" indent="-228600">
              <a:buFont typeface="+mj-lt"/>
              <a:buAutoNum type="alphaLcParenR"/>
            </a:pPr>
            <a:r>
              <a:rPr lang="en-US" dirty="0"/>
              <a:t>At least 3 empirical sources supporting each topic</a:t>
            </a:r>
          </a:p>
          <a:p>
            <a:pPr marL="228600" indent="-228600">
              <a:buFont typeface="+mj-lt"/>
              <a:buAutoNum type="arabicPeriod"/>
            </a:pPr>
            <a:endParaRPr lang="en-US" dirty="0"/>
          </a:p>
          <a:p>
            <a:pPr marL="0" indent="0">
              <a:buFont typeface="+mj-lt"/>
              <a:buNone/>
            </a:pPr>
            <a:r>
              <a:rPr lang="en-US" b="1" u="sng" dirty="0"/>
              <a:t>Hints: </a:t>
            </a:r>
          </a:p>
          <a:p>
            <a:pPr marL="228600" indent="-228600">
              <a:buFont typeface="+mj-lt"/>
              <a:buAutoNum type="arabicPeriod"/>
            </a:pPr>
            <a:r>
              <a:rPr lang="en-US" dirty="0"/>
              <a:t>For quantitative studies, themes could include: </a:t>
            </a:r>
          </a:p>
          <a:p>
            <a:pPr marL="685800" lvl="1" indent="-228600">
              <a:buFont typeface="+mj-lt"/>
              <a:buAutoNum type="alphaLcParenR"/>
            </a:pPr>
            <a:r>
              <a:rPr lang="en-US" dirty="0"/>
              <a:t>Studies describing and/or relating the variables</a:t>
            </a:r>
          </a:p>
          <a:p>
            <a:pPr marL="685800" lvl="1" indent="-228600">
              <a:buFont typeface="+mj-lt"/>
              <a:buAutoNum type="alphaLcParenR"/>
            </a:pPr>
            <a:r>
              <a:rPr lang="en-US" dirty="0"/>
              <a:t>Studies on related research such as factors associated with the themes</a:t>
            </a:r>
          </a:p>
          <a:p>
            <a:pPr marL="685800" lvl="1" indent="-228600">
              <a:buFont typeface="+mj-lt"/>
              <a:buAutoNum type="alphaLcParenR"/>
            </a:pPr>
            <a:r>
              <a:rPr lang="en-US" dirty="0"/>
              <a:t>Studies on the instruments used to collect data</a:t>
            </a:r>
          </a:p>
          <a:p>
            <a:pPr marL="685800" lvl="1" indent="-228600">
              <a:buFont typeface="+mj-lt"/>
              <a:buAutoNum type="alphaLcParenR"/>
            </a:pPr>
            <a:r>
              <a:rPr lang="en-US" dirty="0"/>
              <a:t>Studies on the broad population for the study</a:t>
            </a:r>
          </a:p>
          <a:p>
            <a:pPr marL="685800" lvl="1" indent="-228600">
              <a:buFont typeface="+mj-lt"/>
              <a:buAutoNum type="alphaLcParenR"/>
            </a:pPr>
            <a:r>
              <a:rPr lang="en-US" dirty="0"/>
              <a:t>Studies defining the need from a community, professional, or organizational perspective</a:t>
            </a:r>
          </a:p>
          <a:p>
            <a:pPr marL="685800" lvl="1" indent="-228600">
              <a:buFont typeface="+mj-lt"/>
              <a:buAutoNum type="alphaLcParenR"/>
            </a:pPr>
            <a:r>
              <a:rPr lang="en-US" dirty="0"/>
              <a:t>Studies similar to the topic</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kern="1200" dirty="0">
                <a:solidFill>
                  <a:schemeClr val="tx1"/>
                </a:solidFill>
                <a:effectLst/>
                <a:latin typeface="Gill Sans" charset="0"/>
                <a:ea typeface="+mn-ea"/>
                <a:cs typeface="+mn-cs"/>
              </a:rPr>
              <a:t>If additional space is needed, duplicate this slide.</a:t>
            </a:r>
            <a:endParaRPr lang="en-US" dirty="0"/>
          </a:p>
          <a:p>
            <a:endParaRPr lang="en-US" dirty="0"/>
          </a:p>
        </p:txBody>
      </p:sp>
      <p:sp>
        <p:nvSpPr>
          <p:cNvPr id="4" name="Footer Placeholder 3"/>
          <p:cNvSpPr>
            <a:spLocks noGrp="1"/>
          </p:cNvSpPr>
          <p:nvPr>
            <p:ph type="ftr" sz="quarter" idx="4"/>
          </p:nvPr>
        </p:nvSpPr>
        <p:spPr/>
        <p:txBody>
          <a:bodyPr/>
          <a:lstStyle/>
          <a:p>
            <a:endParaRPr lang="en-US" dirty="0"/>
          </a:p>
        </p:txBody>
      </p:sp>
      <p:sp>
        <p:nvSpPr>
          <p:cNvPr id="5" name="Slide Number Placeholder 4"/>
          <p:cNvSpPr>
            <a:spLocks noGrp="1"/>
          </p:cNvSpPr>
          <p:nvPr>
            <p:ph type="sldNum" sz="quarter" idx="5"/>
          </p:nvPr>
        </p:nvSpPr>
        <p:spPr/>
        <p:txBody>
          <a:bodyPr/>
          <a:lstStyle/>
          <a:p>
            <a:fld id="{A89C7E07-3C67-C64C-8DA0-0404F6303970}" type="slidenum">
              <a:rPr lang="en-US" smtClean="0"/>
              <a:t>6</a:t>
            </a:fld>
            <a:endParaRPr lang="en-US" dirty="0"/>
          </a:p>
        </p:txBody>
      </p:sp>
    </p:spTree>
    <p:extLst>
      <p:ext uri="{BB962C8B-B14F-4D97-AF65-F5344CB8AC3E}">
        <p14:creationId xmlns:p14="http://schemas.microsoft.com/office/powerpoint/2010/main" val="5175552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u="sng" kern="1200" dirty="0">
                <a:solidFill>
                  <a:schemeClr val="tx1"/>
                </a:solidFill>
                <a:effectLst/>
                <a:latin typeface="Gill Sans" charset="0"/>
                <a:ea typeface="+mn-ea"/>
                <a:cs typeface="+mn-cs"/>
              </a:rPr>
              <a:t>Objective: </a:t>
            </a:r>
          </a:p>
          <a:p>
            <a:r>
              <a:rPr lang="en-US" dirty="0"/>
              <a:t>This slide is used to provide the problem statement, which will be expanded upon in the Chapter 2: Problem Statement section. </a:t>
            </a:r>
          </a:p>
          <a:p>
            <a:endParaRPr lang="en-US" sz="1200" b="0" u="none" kern="1200" dirty="0">
              <a:solidFill>
                <a:schemeClr val="tx1"/>
              </a:solidFill>
              <a:effectLst/>
              <a:latin typeface="Gill Sans" charset="0"/>
              <a:ea typeface="+mn-ea"/>
              <a:cs typeface="+mn-cs"/>
            </a:endParaRPr>
          </a:p>
          <a:p>
            <a:r>
              <a:rPr lang="en-US" sz="1200" b="1" u="sng" kern="1200" dirty="0">
                <a:solidFill>
                  <a:schemeClr val="tx1"/>
                </a:solidFill>
                <a:effectLst/>
                <a:latin typeface="Gill Sans" charset="0"/>
                <a:ea typeface="+mn-ea"/>
                <a:cs typeface="+mn-cs"/>
              </a:rPr>
              <a:t>Slide Requirements: </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defRPr/>
            </a:pPr>
            <a:r>
              <a:rPr lang="en-US" sz="1200" kern="1200" dirty="0">
                <a:solidFill>
                  <a:schemeClr val="tx1"/>
                </a:solidFill>
                <a:effectLst/>
                <a:latin typeface="Gill Sans" charset="0"/>
                <a:ea typeface="+mn-ea"/>
                <a:cs typeface="+mn-cs"/>
              </a:rPr>
              <a:t>State the specific problem for research with a single, clear, declarative sentence.</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defRPr/>
            </a:pPr>
            <a:r>
              <a:rPr lang="en-US" sz="1200" kern="1200" dirty="0">
                <a:solidFill>
                  <a:schemeClr val="tx1"/>
                </a:solidFill>
                <a:effectLst/>
                <a:latin typeface="Gill Sans" charset="0"/>
                <a:ea typeface="+mn-ea"/>
                <a:cs typeface="+mn-cs"/>
              </a:rPr>
              <a:t>Alignment: The problem statement must align with the established problem space as described on previous slides. </a:t>
            </a:r>
          </a:p>
          <a:p>
            <a:pPr marL="0" marR="0" lvl="0" indent="0" algn="l" defTabSz="914400" rtl="0" eaLnBrk="0" fontAlgn="base" latinLnBrk="0" hangingPunct="0">
              <a:lnSpc>
                <a:spcPct val="100000"/>
              </a:lnSpc>
              <a:spcBef>
                <a:spcPct val="0"/>
              </a:spcBef>
              <a:spcAft>
                <a:spcPct val="0"/>
              </a:spcAft>
              <a:buClrTx/>
              <a:buSzTx/>
              <a:buFontTx/>
              <a:buNone/>
              <a:tabLst/>
              <a:defRPr/>
            </a:pPr>
            <a:endParaRPr lang="en-US" sz="1200" kern="1200" dirty="0">
              <a:solidFill>
                <a:schemeClr val="tx1"/>
              </a:solidFill>
              <a:effectLst/>
              <a:latin typeface="Gill Sans"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lang="en-US" sz="1200" b="1" u="sng" kern="1200" dirty="0">
                <a:solidFill>
                  <a:schemeClr val="tx1"/>
                </a:solidFill>
                <a:effectLst/>
                <a:latin typeface="Gill Sans" charset="0"/>
                <a:ea typeface="+mn-ea"/>
                <a:cs typeface="+mn-cs"/>
              </a:rPr>
              <a:t>Hints: </a:t>
            </a:r>
          </a:p>
          <a:p>
            <a:pPr marL="171450" lvl="0" indent="-171450">
              <a:buFont typeface="Arial" panose="020B0604020202020204" pitchFamily="34" charset="0"/>
              <a:buChar char="•"/>
            </a:pPr>
            <a:r>
              <a:rPr lang="en-US" sz="1200" kern="1200" dirty="0">
                <a:solidFill>
                  <a:schemeClr val="tx1"/>
                </a:solidFill>
                <a:effectLst/>
                <a:latin typeface="Gill Sans" charset="0"/>
                <a:ea typeface="+mn-ea"/>
                <a:cs typeface="+mn-cs"/>
              </a:rPr>
              <a:t>The problem statement does not include citations. </a:t>
            </a:r>
          </a:p>
          <a:p>
            <a:pPr marL="171450" lvl="0" indent="-171450">
              <a:buFont typeface="Arial" panose="020B0604020202020204" pitchFamily="34" charset="0"/>
              <a:buChar char="•"/>
            </a:pPr>
            <a:r>
              <a:rPr lang="en-US" sz="1800" dirty="0">
                <a:effectLst/>
                <a:latin typeface="Segoe UI" panose="020B0502040204020203" pitchFamily="34" charset="0"/>
              </a:rPr>
              <a:t>Unless specifically stated by the problem space, the problem statement does not include a specific population or geographic location.</a:t>
            </a:r>
            <a:endParaRPr lang="en-US" sz="1200" kern="1200" dirty="0">
              <a:solidFill>
                <a:schemeClr val="tx1"/>
              </a:solidFill>
              <a:effectLst/>
              <a:latin typeface="Gill Sans" charset="0"/>
              <a:ea typeface="+mn-ea"/>
              <a:cs typeface="+mn-cs"/>
            </a:endParaRPr>
          </a:p>
          <a:p>
            <a:endParaRPr lang="en-US" dirty="0"/>
          </a:p>
        </p:txBody>
      </p:sp>
      <p:sp>
        <p:nvSpPr>
          <p:cNvPr id="4" name="Footer Placeholder 3"/>
          <p:cNvSpPr>
            <a:spLocks noGrp="1"/>
          </p:cNvSpPr>
          <p:nvPr>
            <p:ph type="ftr" sz="quarter" idx="4"/>
          </p:nvPr>
        </p:nvSpPr>
        <p:spPr/>
        <p:txBody>
          <a:bodyPr/>
          <a:lstStyle/>
          <a:p>
            <a:endParaRPr lang="en-US" dirty="0"/>
          </a:p>
        </p:txBody>
      </p:sp>
      <p:sp>
        <p:nvSpPr>
          <p:cNvPr id="5" name="Slide Number Placeholder 4"/>
          <p:cNvSpPr>
            <a:spLocks noGrp="1"/>
          </p:cNvSpPr>
          <p:nvPr>
            <p:ph type="sldNum" sz="quarter" idx="5"/>
          </p:nvPr>
        </p:nvSpPr>
        <p:spPr/>
        <p:txBody>
          <a:bodyPr/>
          <a:lstStyle/>
          <a:p>
            <a:fld id="{A89C7E07-3C67-C64C-8DA0-0404F6303970}" type="slidenum">
              <a:rPr lang="en-US" smtClean="0"/>
              <a:t>7</a:t>
            </a:fld>
            <a:endParaRPr lang="en-US" dirty="0"/>
          </a:p>
        </p:txBody>
      </p:sp>
    </p:spTree>
    <p:extLst>
      <p:ext uri="{BB962C8B-B14F-4D97-AF65-F5344CB8AC3E}">
        <p14:creationId xmlns:p14="http://schemas.microsoft.com/office/powerpoint/2010/main" val="13575070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Objective: </a:t>
            </a:r>
          </a:p>
          <a:p>
            <a:pPr marL="0" marR="0" lvl="0" indent="0" algn="l" defTabSz="914400" rtl="0" eaLnBrk="0" fontAlgn="base" latinLnBrk="0" hangingPunct="0">
              <a:lnSpc>
                <a:spcPct val="100000"/>
              </a:lnSpc>
              <a:spcBef>
                <a:spcPct val="0"/>
              </a:spcBef>
              <a:spcAft>
                <a:spcPct val="0"/>
              </a:spcAft>
              <a:buClrTx/>
              <a:buSzTx/>
              <a:buFontTx/>
              <a:buNone/>
              <a:tabLst/>
              <a:defRPr/>
            </a:pPr>
            <a:r>
              <a:rPr lang="en-US" b="0" u="none" dirty="0"/>
              <a:t>State and define each research question and hypothesis. This information is expanded upon in Chapter 3: Research Questions and Hypotheses in the dissertation template.</a:t>
            </a:r>
          </a:p>
          <a:p>
            <a:endParaRPr lang="en-US" b="0" u="none" dirty="0"/>
          </a:p>
          <a:p>
            <a:r>
              <a:rPr lang="en-US" b="1" u="sng" dirty="0"/>
              <a:t>Slide Requirements:</a:t>
            </a:r>
          </a:p>
          <a:p>
            <a:pPr marL="228600" indent="-228600">
              <a:buAutoNum type="arabicPeriod"/>
            </a:pPr>
            <a:r>
              <a:rPr lang="en-US" dirty="0"/>
              <a:t>State the research question(s) and hypotheses guiding the proposed study.</a:t>
            </a:r>
          </a:p>
          <a:p>
            <a:pPr marL="228600" indent="-228600">
              <a:buAutoNum type="arabicPeriod"/>
            </a:pPr>
            <a:r>
              <a:rPr lang="en-US" dirty="0"/>
              <a:t>State the hypotheses for each research question. </a:t>
            </a:r>
          </a:p>
          <a:p>
            <a:pPr marL="685800" marR="0" lvl="1" indent="-2286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lang="en-US" dirty="0"/>
              <a:t>If using only one research question, a minimum of two sets of hypotheses is required.</a:t>
            </a:r>
          </a:p>
          <a:p>
            <a:pPr marL="228600" indent="-228600">
              <a:buAutoNum type="arabicPeriod"/>
            </a:pPr>
            <a:r>
              <a:rPr lang="en-US" dirty="0"/>
              <a:t>Alignment: Research questions and hypotheses must align with the problem statement presented on the previous slide.</a:t>
            </a:r>
          </a:p>
          <a:p>
            <a:pPr marL="228600" indent="-228600">
              <a:buAutoNum type="arabicPeriod"/>
            </a:pPr>
            <a:endParaRPr lang="en-US" dirty="0"/>
          </a:p>
          <a:p>
            <a:pPr marL="228600" indent="-228600">
              <a:buAutoNum type="arabicPeriod"/>
            </a:pPr>
            <a:endParaRPr lang="en-US" dirty="0"/>
          </a:p>
          <a:p>
            <a:pPr marL="0" indent="0">
              <a:buNone/>
            </a:pPr>
            <a:r>
              <a:rPr lang="en-US" b="1" u="sng" dirty="0"/>
              <a:t>Hints: </a:t>
            </a:r>
          </a:p>
          <a:p>
            <a:pPr marL="228600" indent="-228600">
              <a:buAutoNum type="arabicPeriod"/>
            </a:pPr>
            <a:r>
              <a:rPr lang="en-US" dirty="0"/>
              <a:t>Do not introduce new variables/constructs in the research questions that were not introduced in the problem statement or theoretical foundation.</a:t>
            </a:r>
          </a:p>
          <a:p>
            <a:pPr marL="228600" indent="-228600">
              <a:buAutoNum type="arabicPeriod"/>
            </a:pPr>
            <a:r>
              <a:rPr lang="en-US" dirty="0"/>
              <a:t>One research question may have more than one set of hypotheses. </a:t>
            </a:r>
          </a:p>
          <a:p>
            <a:pPr marL="228600" indent="-228600">
              <a:buAutoNum type="arabicPeriod"/>
            </a:pPr>
            <a:r>
              <a:rPr lang="en-US" sz="1800" dirty="0">
                <a:effectLst/>
                <a:latin typeface="Segoe UI" panose="020B0502040204020203" pitchFamily="34" charset="0"/>
              </a:rPr>
              <a:t>Because the variables have been formally defined on the previous slide, it is unnecessary to include the instrument name as part of the RQ or hypothesis. The definition of the variable carries with it the inherent characteristics of the variable as defined on Slide 10.</a:t>
            </a:r>
            <a:endParaRPr lang="en-US" dirty="0"/>
          </a:p>
          <a:p>
            <a:endParaRPr lang="en-US" dirty="0"/>
          </a:p>
        </p:txBody>
      </p:sp>
      <p:sp>
        <p:nvSpPr>
          <p:cNvPr id="4" name="Footer Placeholder 3"/>
          <p:cNvSpPr>
            <a:spLocks noGrp="1"/>
          </p:cNvSpPr>
          <p:nvPr>
            <p:ph type="ftr" sz="quarter" idx="4"/>
          </p:nvPr>
        </p:nvSpPr>
        <p:spPr/>
        <p:txBody>
          <a:bodyPr/>
          <a:lstStyle/>
          <a:p>
            <a:endParaRPr lang="en-US" dirty="0"/>
          </a:p>
        </p:txBody>
      </p:sp>
      <p:sp>
        <p:nvSpPr>
          <p:cNvPr id="5" name="Slide Number Placeholder 4"/>
          <p:cNvSpPr>
            <a:spLocks noGrp="1"/>
          </p:cNvSpPr>
          <p:nvPr>
            <p:ph type="sldNum" sz="quarter" idx="5"/>
          </p:nvPr>
        </p:nvSpPr>
        <p:spPr/>
        <p:txBody>
          <a:bodyPr/>
          <a:lstStyle/>
          <a:p>
            <a:fld id="{A89C7E07-3C67-C64C-8DA0-0404F6303970}" type="slidenum">
              <a:rPr lang="en-US" smtClean="0"/>
              <a:t>8</a:t>
            </a:fld>
            <a:endParaRPr lang="en-US" dirty="0"/>
          </a:p>
        </p:txBody>
      </p:sp>
    </p:spTree>
    <p:extLst>
      <p:ext uri="{BB962C8B-B14F-4D97-AF65-F5344CB8AC3E}">
        <p14:creationId xmlns:p14="http://schemas.microsoft.com/office/powerpoint/2010/main" val="1567323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Objectives:</a:t>
            </a:r>
          </a:p>
          <a:p>
            <a:pPr marL="171450" indent="-171450">
              <a:buFont typeface="Arial" panose="020B0604020202020204" pitchFamily="34" charset="0"/>
              <a:buChar char="•"/>
            </a:pPr>
            <a:r>
              <a:rPr lang="en-US" dirty="0"/>
              <a:t>The approach on this slide is used to justify the methodology using methodology articles and resources</a:t>
            </a:r>
          </a:p>
          <a:p>
            <a:pPr marL="171450" indent="-171450">
              <a:buFont typeface="Arial" panose="020B0604020202020204" pitchFamily="34" charset="0"/>
              <a:buChar char="•"/>
            </a:pPr>
            <a:r>
              <a:rPr lang="en-US" dirty="0"/>
              <a:t>The information presented on this slide is used to develop one of the three paragraphs comprising the methodology section in Chapter 3. In addition, a second paragraph is added justifying why the opposite methodology is not as appropriate. A third paragraph is developed that uses similar and related empirical articles to justify the proposed methodology for the study</a:t>
            </a:r>
          </a:p>
          <a:p>
            <a:endParaRPr lang="en-US" dirty="0"/>
          </a:p>
          <a:p>
            <a:endParaRPr lang="en-US" dirty="0"/>
          </a:p>
          <a:p>
            <a:r>
              <a:rPr lang="en-US" b="1" u="sng" dirty="0"/>
              <a:t>Slide Requirements: </a:t>
            </a:r>
          </a:p>
          <a:p>
            <a:pPr marL="228600" indent="-228600">
              <a:buFont typeface="+mj-lt"/>
              <a:buAutoNum type="arabicPeriod"/>
            </a:pPr>
            <a:r>
              <a:rPr lang="en-US" dirty="0"/>
              <a:t>First Column (Quantitative):</a:t>
            </a:r>
          </a:p>
          <a:p>
            <a:pPr marL="685800" lvl="1" indent="-228600">
              <a:buFont typeface="+mj-lt"/>
              <a:buAutoNum type="alphaLcParenR"/>
            </a:pPr>
            <a:r>
              <a:rPr lang="en-US" dirty="0"/>
              <a:t>Describe the main attributes of quantitative methodology, citing 2-3 empirical and/or seminal sources.</a:t>
            </a:r>
          </a:p>
          <a:p>
            <a:pPr marL="685800" lvl="1" indent="-228600">
              <a:buFont typeface="+mj-lt"/>
              <a:buAutoNum type="alphaLcParenR"/>
            </a:pPr>
            <a:r>
              <a:rPr lang="en-US" dirty="0"/>
              <a:t>Justify why quantitative methodology </a:t>
            </a:r>
            <a:r>
              <a:rPr lang="en-US" b="1" i="1" dirty="0"/>
              <a:t>is</a:t>
            </a:r>
            <a:r>
              <a:rPr lang="en-US" dirty="0"/>
              <a:t> appropriate for the proposed topic based on those attributes.</a:t>
            </a:r>
          </a:p>
          <a:p>
            <a:pPr marL="228600" indent="-228600">
              <a:buFont typeface="+mj-lt"/>
              <a:buAutoNum type="arabicPeriod"/>
            </a:pPr>
            <a:r>
              <a:rPr lang="en-US" dirty="0"/>
              <a:t>Second Column (Qualitative)</a:t>
            </a:r>
          </a:p>
          <a:p>
            <a:pPr marL="685800" lvl="1" indent="-228600">
              <a:buFont typeface="+mj-lt"/>
              <a:buAutoNum type="alphaLcParenR"/>
            </a:pPr>
            <a:r>
              <a:rPr lang="en-US" dirty="0"/>
              <a:t>Describe the main attributes of qualitative methodology, citing 2-3 empirical and/or seminal sources.</a:t>
            </a:r>
          </a:p>
          <a:p>
            <a:pPr marL="685800" lvl="1" indent="-228600">
              <a:buFont typeface="+mj-lt"/>
              <a:buAutoNum type="alphaLcParenR"/>
            </a:pPr>
            <a:r>
              <a:rPr lang="en-US" dirty="0"/>
              <a:t>Justify why qualitative methodology is </a:t>
            </a:r>
            <a:r>
              <a:rPr lang="en-US" b="1" i="1" dirty="0"/>
              <a:t>not</a:t>
            </a:r>
            <a:r>
              <a:rPr lang="en-US" dirty="0"/>
              <a:t> appropriate for the proposed topic based on those attributes.</a:t>
            </a:r>
          </a:p>
          <a:p>
            <a:pPr marL="228600" indent="-228600">
              <a:buFont typeface="+mj-lt"/>
              <a:buAutoNum type="arabicPeriod"/>
            </a:pPr>
            <a:endParaRPr lang="en-US" dirty="0"/>
          </a:p>
          <a:p>
            <a:pPr marL="0" indent="0">
              <a:buFont typeface="+mj-lt"/>
              <a:buNone/>
            </a:pPr>
            <a:r>
              <a:rPr lang="en-US" b="1" u="sng" dirty="0"/>
              <a:t>Hint: </a:t>
            </a:r>
          </a:p>
          <a:p>
            <a:pPr marL="228600" indent="-228600">
              <a:buFont typeface="+mj-lt"/>
              <a:buAutoNum type="arabicPeriod"/>
            </a:pPr>
            <a:r>
              <a:rPr lang="en-US" dirty="0"/>
              <a:t>Do not summarize prior research in this slide</a:t>
            </a:r>
          </a:p>
          <a:p>
            <a:pPr marL="228600" indent="-228600">
              <a:buFont typeface="+mj-lt"/>
              <a:buAutoNum type="arabicPeriod"/>
            </a:pPr>
            <a:r>
              <a:rPr lang="en-US" sz="1800" dirty="0">
                <a:effectLst/>
                <a:latin typeface="Segoe UI" panose="020B0502040204020203" pitchFamily="34" charset="0"/>
              </a:rPr>
              <a:t>Hint: consider epistemological characteristics, such as the role of theory, instrumentation, objectivity, inductive vs. deductive paradigms, etc.</a:t>
            </a:r>
            <a:endParaRPr lang="en-US" dirty="0"/>
          </a:p>
          <a:p>
            <a:pPr marL="228600" indent="-228600">
              <a:buFont typeface="+mj-lt"/>
              <a:buAutoNum type="arabicPeriod"/>
            </a:pPr>
            <a:r>
              <a:rPr lang="en-US" dirty="0"/>
              <a:t>Having trouble finding articles to support this slide? </a:t>
            </a:r>
          </a:p>
          <a:p>
            <a:pPr marL="685800" lvl="1" indent="-228600">
              <a:buFont typeface="Arial" panose="020B0604020202020204" pitchFamily="34" charset="0"/>
              <a:buChar char="•"/>
            </a:pPr>
            <a:r>
              <a:rPr lang="en-US" dirty="0"/>
              <a:t>For the quantitative description and justification, use the Quantitative Knowledge Base resources and articles: https://dc.gcu.edu/research/quantitative/rationale_for_a_quantitative_methodology</a:t>
            </a:r>
          </a:p>
          <a:p>
            <a:pPr marL="685800" marR="0" lvl="1" indent="-2286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lang="en-US" dirty="0"/>
              <a:t>For the qualitative description and justification, use the Qualitative Knowledge Base resources and articles: https://dc.gcu.edu/research/qualitative/rationale_for_qualitative_methodology_and_design</a:t>
            </a:r>
          </a:p>
          <a:p>
            <a:pPr marL="228600" indent="-228600">
              <a:buFont typeface="+mj-lt"/>
              <a:buAutoNum type="arabicPeriod"/>
            </a:pPr>
            <a:endParaRPr lang="en-US" dirty="0"/>
          </a:p>
          <a:p>
            <a:endParaRPr lang="en-US" dirty="0"/>
          </a:p>
        </p:txBody>
      </p:sp>
      <p:sp>
        <p:nvSpPr>
          <p:cNvPr id="4" name="Footer Placeholder 3"/>
          <p:cNvSpPr>
            <a:spLocks noGrp="1"/>
          </p:cNvSpPr>
          <p:nvPr>
            <p:ph type="ftr" sz="quarter" idx="4"/>
          </p:nvPr>
        </p:nvSpPr>
        <p:spPr/>
        <p:txBody>
          <a:bodyPr/>
          <a:lstStyle/>
          <a:p>
            <a:endParaRPr lang="en-US" dirty="0"/>
          </a:p>
        </p:txBody>
      </p:sp>
      <p:sp>
        <p:nvSpPr>
          <p:cNvPr id="5" name="Slide Number Placeholder 4"/>
          <p:cNvSpPr>
            <a:spLocks noGrp="1"/>
          </p:cNvSpPr>
          <p:nvPr>
            <p:ph type="sldNum" sz="quarter" idx="5"/>
          </p:nvPr>
        </p:nvSpPr>
        <p:spPr/>
        <p:txBody>
          <a:bodyPr/>
          <a:lstStyle/>
          <a:p>
            <a:fld id="{A89C7E07-3C67-C64C-8DA0-0404F6303970}" type="slidenum">
              <a:rPr lang="en-US" smtClean="0"/>
              <a:t>9</a:t>
            </a:fld>
            <a:endParaRPr lang="en-US" dirty="0"/>
          </a:p>
        </p:txBody>
      </p:sp>
    </p:spTree>
    <p:extLst>
      <p:ext uri="{BB962C8B-B14F-4D97-AF65-F5344CB8AC3E}">
        <p14:creationId xmlns:p14="http://schemas.microsoft.com/office/powerpoint/2010/main" val="29871968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Objectives: </a:t>
            </a:r>
          </a:p>
          <a:p>
            <a:pPr marL="171450" indent="-171450">
              <a:buFont typeface="Arial" panose="020B0604020202020204" pitchFamily="34" charset="0"/>
              <a:buChar char="•"/>
            </a:pPr>
            <a:r>
              <a:rPr lang="en-US" dirty="0"/>
              <a:t>Identify and discuss the feasibility of your proposed study based on the Feasibility &amp; Benefits Checklist located in the Dissertation Template appendices. </a:t>
            </a:r>
          </a:p>
          <a:p>
            <a:pPr marL="171450" indent="-171450">
              <a:buFont typeface="Arial" panose="020B0604020202020204" pitchFamily="34" charset="0"/>
              <a:buChar char="•"/>
            </a:pPr>
            <a:r>
              <a:rPr lang="en-US" dirty="0"/>
              <a:t>The information on this slide will be used to inform the Ethical Considerations section in Ch. 3. </a:t>
            </a:r>
          </a:p>
          <a:p>
            <a:endParaRPr lang="en-US" dirty="0"/>
          </a:p>
          <a:p>
            <a:r>
              <a:rPr lang="en-US" b="1" u="sng" dirty="0"/>
              <a:t>Feasibility Slide 1 Requirements: </a:t>
            </a:r>
          </a:p>
          <a:p>
            <a:pPr marL="0" indent="0">
              <a:buFont typeface="+mj-lt"/>
              <a:buNone/>
            </a:pPr>
            <a:r>
              <a:rPr lang="en-US" dirty="0"/>
              <a:t>Complete the following bullets in order of presentation: </a:t>
            </a:r>
          </a:p>
          <a:p>
            <a:pPr marL="228600" indent="-228600">
              <a:buFont typeface="+mj-lt"/>
              <a:buAutoNum type="arabicPeriod"/>
            </a:pPr>
            <a:r>
              <a:rPr lang="en-US" dirty="0"/>
              <a:t>Resources for Study: </a:t>
            </a:r>
          </a:p>
          <a:p>
            <a:pPr marL="685800" lvl="1" indent="-228600">
              <a:buFont typeface="+mj-lt"/>
              <a:buAutoNum type="alphaLcParenR"/>
            </a:pPr>
            <a:r>
              <a:rPr lang="en-US" dirty="0"/>
              <a:t>What, if any, authorization(s) are required as well as how you will obtain authorization? If no authorization is needed, why not? </a:t>
            </a:r>
          </a:p>
          <a:p>
            <a:pPr marL="685800" lvl="1" indent="-228600">
              <a:buFont typeface="+mj-lt"/>
              <a:buAutoNum type="alphaLcParenR"/>
            </a:pPr>
            <a:r>
              <a:rPr lang="en-US" dirty="0"/>
              <a:t>What, if any, access to site resources will you need? (i.e., building access, computer programs, etc.)</a:t>
            </a:r>
          </a:p>
          <a:p>
            <a:pPr marL="685800" lvl="1" indent="-228600">
              <a:buFont typeface="+mj-lt"/>
              <a:buAutoNum type="alphaLcParenR"/>
            </a:pPr>
            <a:r>
              <a:rPr lang="en-US" dirty="0"/>
              <a:t>Additional trainings necessary (i.e., instrument certifications, etc.)</a:t>
            </a:r>
          </a:p>
          <a:p>
            <a:pPr marL="685800" lvl="1" indent="-228600">
              <a:buFont typeface="+mj-lt"/>
              <a:buAutoNum type="alphaLcParenR"/>
            </a:pPr>
            <a:r>
              <a:rPr lang="en-US" dirty="0"/>
              <a:t>Any other resources you will need to complete this study.</a:t>
            </a:r>
          </a:p>
          <a:p>
            <a:pPr marL="228600" indent="-228600">
              <a:buFont typeface="+mj-lt"/>
              <a:buAutoNum type="arabicPeriod"/>
            </a:pPr>
            <a:r>
              <a:rPr lang="en-US" dirty="0"/>
              <a:t>Ethical Concerns/Considerations: </a:t>
            </a:r>
          </a:p>
          <a:p>
            <a:pPr marL="685800" lvl="1" indent="-228600">
              <a:buFont typeface="+mj-lt"/>
              <a:buAutoNum type="alphaLcParenR"/>
            </a:pPr>
            <a:r>
              <a:rPr lang="en-US" dirty="0"/>
              <a:t>What risks, if any, are present? How will you mitigate these risks? </a:t>
            </a:r>
          </a:p>
          <a:p>
            <a:pPr marL="685800" lvl="1" indent="-228600">
              <a:buFont typeface="+mj-lt"/>
              <a:buAutoNum type="alphaLcParenR"/>
            </a:pPr>
            <a:r>
              <a:rPr lang="en-US" dirty="0"/>
              <a:t>What benefits are there to participants? </a:t>
            </a:r>
          </a:p>
          <a:p>
            <a:endParaRPr lang="en-US" dirty="0"/>
          </a:p>
          <a:p>
            <a:r>
              <a:rPr lang="en-US" b="1" u="sng" dirty="0"/>
              <a:t>Hint: </a:t>
            </a:r>
          </a:p>
          <a:p>
            <a:pPr marL="171450" indent="-171450">
              <a:buFont typeface="Arial" panose="020B0604020202020204" pitchFamily="34" charset="0"/>
              <a:buChar char="•"/>
            </a:pPr>
            <a:r>
              <a:rPr lang="en-US" b="0" u="none" dirty="0"/>
              <a:t>Visit https://dc.gcu.edu/irb for additional resources and information</a:t>
            </a:r>
          </a:p>
          <a:p>
            <a:pPr marL="171450" indent="-171450">
              <a:buFont typeface="Arial" panose="020B0604020202020204" pitchFamily="34" charset="0"/>
              <a:buChar char="•"/>
            </a:pPr>
            <a:r>
              <a:rPr lang="en-US" b="0" u="none" dirty="0"/>
              <a:t>Not sure what to consider? Use the dissertation template “Feasibility and Benefits Checklist” in the appendices.</a:t>
            </a:r>
          </a:p>
          <a:p>
            <a:endParaRPr lang="en-US" dirty="0"/>
          </a:p>
        </p:txBody>
      </p:sp>
      <p:sp>
        <p:nvSpPr>
          <p:cNvPr id="4" name="Footer Placeholder 3"/>
          <p:cNvSpPr>
            <a:spLocks noGrp="1"/>
          </p:cNvSpPr>
          <p:nvPr>
            <p:ph type="ftr" sz="quarter" idx="4"/>
          </p:nvPr>
        </p:nvSpPr>
        <p:spPr/>
        <p:txBody>
          <a:bodyPr/>
          <a:lstStyle/>
          <a:p>
            <a:endParaRPr lang="en-US" dirty="0"/>
          </a:p>
        </p:txBody>
      </p:sp>
      <p:sp>
        <p:nvSpPr>
          <p:cNvPr id="5" name="Slide Number Placeholder 4"/>
          <p:cNvSpPr>
            <a:spLocks noGrp="1"/>
          </p:cNvSpPr>
          <p:nvPr>
            <p:ph type="sldNum" sz="quarter" idx="5"/>
          </p:nvPr>
        </p:nvSpPr>
        <p:spPr/>
        <p:txBody>
          <a:bodyPr/>
          <a:lstStyle/>
          <a:p>
            <a:fld id="{A89C7E07-3C67-C64C-8DA0-0404F6303970}" type="slidenum">
              <a:rPr lang="en-US" smtClean="0"/>
              <a:t>10</a:t>
            </a:fld>
            <a:endParaRPr lang="en-US" dirty="0"/>
          </a:p>
        </p:txBody>
      </p:sp>
    </p:spTree>
    <p:extLst>
      <p:ext uri="{BB962C8B-B14F-4D97-AF65-F5344CB8AC3E}">
        <p14:creationId xmlns:p14="http://schemas.microsoft.com/office/powerpoint/2010/main" val="1536245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Objectives: </a:t>
            </a:r>
          </a:p>
          <a:p>
            <a:pPr marL="171450" indent="-171450">
              <a:buFont typeface="Arial" panose="020B0604020202020204" pitchFamily="34" charset="0"/>
              <a:buChar char="•"/>
            </a:pPr>
            <a:r>
              <a:rPr lang="en-US" dirty="0"/>
              <a:t>Identify and discuss the feasibility of your proposed study based on the Feasibility &amp; Benefits Checklist located in the Dissertation Template appendices. </a:t>
            </a:r>
          </a:p>
          <a:p>
            <a:pPr marL="171450" indent="-171450">
              <a:buFont typeface="Arial" panose="020B0604020202020204" pitchFamily="34" charset="0"/>
              <a:buChar char="•"/>
            </a:pPr>
            <a:r>
              <a:rPr lang="en-US" dirty="0"/>
              <a:t>The information on this slide will be used to inform the Ethical Considerations section in Ch. 3. </a:t>
            </a:r>
          </a:p>
          <a:p>
            <a:endParaRPr lang="en-US" b="1" u="sng" dirty="0"/>
          </a:p>
          <a:p>
            <a:r>
              <a:rPr lang="en-US" b="1" u="sng" dirty="0"/>
              <a:t>Feasibility Slide 2 Requirements: </a:t>
            </a:r>
          </a:p>
          <a:p>
            <a:pPr marL="0" indent="0">
              <a:buFont typeface="+mj-lt"/>
              <a:buNone/>
            </a:pPr>
            <a:r>
              <a:rPr lang="en-US" dirty="0"/>
              <a:t>Complete the following bullets in order of presentation: </a:t>
            </a:r>
          </a:p>
          <a:p>
            <a:pPr marL="228600" indent="-228600">
              <a:buFont typeface="+mj-lt"/>
              <a:buAutoNum type="arabicPeriod"/>
            </a:pPr>
            <a:r>
              <a:rPr lang="en-US" dirty="0"/>
              <a:t>Study Alignment with Program: </a:t>
            </a:r>
          </a:p>
          <a:p>
            <a:pPr marL="685800" lvl="1" indent="-228600">
              <a:buFont typeface="+mj-lt"/>
              <a:buAutoNum type="alphaLcParenR"/>
            </a:pPr>
            <a:r>
              <a:rPr lang="en-US" dirty="0"/>
              <a:t>Identify your degree program and emphasis</a:t>
            </a:r>
          </a:p>
          <a:p>
            <a:pPr marL="685800" lvl="1" indent="-228600">
              <a:buFont typeface="+mj-lt"/>
              <a:buAutoNum type="alphaLcParenR"/>
            </a:pPr>
            <a:r>
              <a:rPr lang="en-US" dirty="0"/>
              <a:t>Describe how your study aligns with your overall degree program (i.e. Business Administration, Organizational Leadership, General Psychology, etc.).</a:t>
            </a:r>
          </a:p>
          <a:p>
            <a:pPr marL="228600" indent="-228600">
              <a:buFont typeface="+mj-lt"/>
              <a:buAutoNum type="arabicPeriod"/>
            </a:pPr>
            <a:r>
              <a:rPr lang="en-US" dirty="0"/>
              <a:t>Feasibility Concerns: </a:t>
            </a:r>
          </a:p>
          <a:p>
            <a:pPr marL="685800" lvl="1" indent="-228600">
              <a:buFont typeface="+mj-lt"/>
              <a:buAutoNum type="alphaLcParenR"/>
            </a:pPr>
            <a:r>
              <a:rPr lang="en-US" dirty="0"/>
              <a:t>What obstacles might you face, and what are your backup plans? </a:t>
            </a:r>
          </a:p>
          <a:p>
            <a:pPr marL="685800" lvl="1" indent="-228600">
              <a:buFont typeface="+mj-lt"/>
              <a:buAutoNum type="alphaLcParenR"/>
            </a:pPr>
            <a:r>
              <a:rPr lang="en-US" dirty="0"/>
              <a:t>Based on the information you have learned, is your study feasible? Why or why not? How can you make your study more manageable? </a:t>
            </a:r>
          </a:p>
          <a:p>
            <a:endParaRPr lang="en-US" dirty="0"/>
          </a:p>
          <a:p>
            <a:r>
              <a:rPr lang="en-US" b="1" u="sng" dirty="0"/>
              <a:t>Hint: </a:t>
            </a:r>
          </a:p>
          <a:p>
            <a:pPr marL="171450" indent="-171450">
              <a:buFont typeface="Arial" panose="020B0604020202020204" pitchFamily="34" charset="0"/>
              <a:buChar char="•"/>
            </a:pPr>
            <a:r>
              <a:rPr lang="en-US" b="0" u="none" dirty="0"/>
              <a:t>Visit https://dc.gcu.edu/irb for additional resources and information.</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lang="en-US" b="0" u="none" dirty="0"/>
              <a:t>Not sure what to consider? Use the dissertation template “Feasibility and Benefits Checklist” in the appendices.</a:t>
            </a:r>
          </a:p>
          <a:p>
            <a:pPr marL="171450" indent="-171450">
              <a:buFont typeface="Arial" panose="020B0604020202020204" pitchFamily="34" charset="0"/>
              <a:buChar char="•"/>
            </a:pPr>
            <a:endParaRPr lang="en-US" b="0" u="none" dirty="0"/>
          </a:p>
        </p:txBody>
      </p:sp>
      <p:sp>
        <p:nvSpPr>
          <p:cNvPr id="4" name="Footer Placeholder 3"/>
          <p:cNvSpPr>
            <a:spLocks noGrp="1"/>
          </p:cNvSpPr>
          <p:nvPr>
            <p:ph type="ftr" sz="quarter" idx="4"/>
          </p:nvPr>
        </p:nvSpPr>
        <p:spPr/>
        <p:txBody>
          <a:bodyPr/>
          <a:lstStyle/>
          <a:p>
            <a:endParaRPr lang="en-US" dirty="0"/>
          </a:p>
        </p:txBody>
      </p:sp>
      <p:sp>
        <p:nvSpPr>
          <p:cNvPr id="5" name="Slide Number Placeholder 4"/>
          <p:cNvSpPr>
            <a:spLocks noGrp="1"/>
          </p:cNvSpPr>
          <p:nvPr>
            <p:ph type="sldNum" sz="quarter" idx="5"/>
          </p:nvPr>
        </p:nvSpPr>
        <p:spPr/>
        <p:txBody>
          <a:bodyPr/>
          <a:lstStyle/>
          <a:p>
            <a:fld id="{A89C7E07-3C67-C64C-8DA0-0404F6303970}" type="slidenum">
              <a:rPr lang="en-US" smtClean="0"/>
              <a:t>11</a:t>
            </a:fld>
            <a:endParaRPr lang="en-US" dirty="0"/>
          </a:p>
        </p:txBody>
      </p:sp>
    </p:spTree>
    <p:extLst>
      <p:ext uri="{BB962C8B-B14F-4D97-AF65-F5344CB8AC3E}">
        <p14:creationId xmlns:p14="http://schemas.microsoft.com/office/powerpoint/2010/main" val="1434626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u="sng" kern="1200" dirty="0">
                <a:solidFill>
                  <a:schemeClr val="tx1"/>
                </a:solidFill>
                <a:effectLst/>
                <a:latin typeface="Gill Sans" charset="0"/>
                <a:ea typeface="+mn-ea"/>
                <a:cs typeface="+mn-cs"/>
              </a:rPr>
              <a:t>Objective: </a:t>
            </a:r>
          </a:p>
          <a:p>
            <a:r>
              <a:rPr lang="en-US" dirty="0"/>
              <a:t>This slide is used to provide the purpose statement, which will be expanded upon in the Chapter 3: Purpose of the Study section. </a:t>
            </a:r>
          </a:p>
          <a:p>
            <a:endParaRPr lang="en-US" b="1" dirty="0"/>
          </a:p>
          <a:p>
            <a:r>
              <a:rPr lang="en-US" b="1" u="sng" dirty="0"/>
              <a:t>Slide Requirements: </a:t>
            </a:r>
          </a:p>
          <a:p>
            <a:pPr marL="228600" indent="-228600">
              <a:buFont typeface="+mj-lt"/>
              <a:buAutoNum type="arabicPeriod"/>
            </a:pPr>
            <a:r>
              <a:rPr lang="en-US" dirty="0"/>
              <a:t>State the purpose of the study in </a:t>
            </a:r>
            <a:r>
              <a:rPr lang="en-US" sz="1200" b="1" u="sng" kern="1200" dirty="0">
                <a:solidFill>
                  <a:schemeClr val="tx1"/>
                </a:solidFill>
                <a:effectLst/>
                <a:latin typeface="Gill Sans" charset="0"/>
                <a:ea typeface="+mn-ea"/>
                <a:cs typeface="+mn-cs"/>
              </a:rPr>
              <a:t>one</a:t>
            </a:r>
            <a:r>
              <a:rPr lang="en-US" sz="1200" kern="1200" dirty="0">
                <a:solidFill>
                  <a:schemeClr val="tx1"/>
                </a:solidFill>
                <a:effectLst/>
                <a:latin typeface="Gill Sans" charset="0"/>
                <a:ea typeface="+mn-ea"/>
                <a:cs typeface="+mn-cs"/>
              </a:rPr>
              <a:t> sentence that identifies the research methodology, design, problem statement, target population, and geographic location. </a:t>
            </a:r>
          </a:p>
          <a:p>
            <a:pPr marL="228600" indent="-228600">
              <a:buFont typeface="+mj-lt"/>
              <a:buAutoNum type="arabicPeriod"/>
            </a:pPr>
            <a:r>
              <a:rPr lang="en-US" sz="1200" kern="1200" dirty="0">
                <a:solidFill>
                  <a:schemeClr val="tx1"/>
                </a:solidFill>
                <a:effectLst/>
                <a:latin typeface="Gill Sans" charset="0"/>
                <a:ea typeface="+mn-ea"/>
                <a:cs typeface="+mn-cs"/>
              </a:rPr>
              <a:t>Alignment: The purpose statement must align with the problem statement, variables/research questions, methodology, and design.</a:t>
            </a:r>
          </a:p>
          <a:p>
            <a:pPr marL="228600" indent="-228600">
              <a:buFont typeface="+mj-lt"/>
              <a:buAutoNum type="arabicPeriod"/>
            </a:pPr>
            <a:endParaRPr lang="en-US" sz="1200" kern="1200" dirty="0">
              <a:solidFill>
                <a:schemeClr val="tx1"/>
              </a:solidFill>
              <a:effectLst/>
              <a:latin typeface="Gill Sans" charset="0"/>
              <a:ea typeface="+mn-ea"/>
              <a:cs typeface="+mn-cs"/>
            </a:endParaRPr>
          </a:p>
          <a:p>
            <a:pPr marL="0" indent="0">
              <a:buFont typeface="+mj-lt"/>
              <a:buNone/>
            </a:pPr>
            <a:r>
              <a:rPr lang="en-US" sz="1200" b="1" i="0" u="sng" kern="1200" dirty="0">
                <a:solidFill>
                  <a:schemeClr val="tx1"/>
                </a:solidFill>
                <a:effectLst/>
                <a:latin typeface="Gill Sans" charset="0"/>
                <a:ea typeface="+mn-ea"/>
                <a:cs typeface="+mn-cs"/>
              </a:rPr>
              <a:t>Hint: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lang="en-US" sz="1200" kern="1200" dirty="0">
                <a:solidFill>
                  <a:schemeClr val="tx1"/>
                </a:solidFill>
                <a:effectLst/>
                <a:latin typeface="Gill Sans" charset="0"/>
                <a:ea typeface="+mn-ea"/>
                <a:cs typeface="+mn-cs"/>
              </a:rPr>
              <a:t>This is presented as a declarative statement. Possible structure: "The purpose of this quantitative [</a:t>
            </a:r>
            <a:r>
              <a:rPr lang="en-US" sz="1200" i="1" kern="1200" dirty="0">
                <a:solidFill>
                  <a:schemeClr val="tx1"/>
                </a:solidFill>
                <a:effectLst/>
                <a:latin typeface="Gill Sans" charset="0"/>
                <a:ea typeface="+mn-ea"/>
                <a:cs typeface="+mn-cs"/>
              </a:rPr>
              <a:t>design</a:t>
            </a:r>
            <a:r>
              <a:rPr lang="en-US" sz="1200" kern="1200" dirty="0">
                <a:solidFill>
                  <a:schemeClr val="tx1"/>
                </a:solidFill>
                <a:effectLst/>
                <a:latin typeface="Gill Sans" charset="0"/>
                <a:ea typeface="+mn-ea"/>
                <a:cs typeface="+mn-cs"/>
              </a:rPr>
              <a:t>] study is to … [</a:t>
            </a:r>
            <a:r>
              <a:rPr lang="en-US" sz="1200" i="1" kern="1200" dirty="0">
                <a:solidFill>
                  <a:schemeClr val="tx1"/>
                </a:solidFill>
                <a:effectLst/>
                <a:latin typeface="Gill Sans" charset="0"/>
                <a:ea typeface="+mn-ea"/>
                <a:cs typeface="+mn-cs"/>
              </a:rPr>
              <a:t>include the unknown from the Problem Statement</a:t>
            </a:r>
            <a:r>
              <a:rPr lang="en-US" sz="1200" kern="1200" dirty="0">
                <a:solidFill>
                  <a:schemeClr val="tx1"/>
                </a:solidFill>
                <a:effectLst/>
                <a:latin typeface="Gill Sans" charset="0"/>
                <a:ea typeface="+mn-ea"/>
                <a:cs typeface="+mn-cs"/>
              </a:rPr>
              <a:t>] among [</a:t>
            </a:r>
            <a:r>
              <a:rPr lang="en-US" sz="1200" i="1" kern="1200" dirty="0">
                <a:solidFill>
                  <a:schemeClr val="tx1"/>
                </a:solidFill>
                <a:effectLst/>
                <a:latin typeface="Gill Sans" charset="0"/>
                <a:ea typeface="+mn-ea"/>
                <a:cs typeface="+mn-cs"/>
              </a:rPr>
              <a:t>target population</a:t>
            </a:r>
            <a:r>
              <a:rPr lang="en-US" sz="1200" kern="1200" dirty="0">
                <a:solidFill>
                  <a:schemeClr val="tx1"/>
                </a:solidFill>
                <a:effectLst/>
                <a:latin typeface="Gill Sans" charset="0"/>
                <a:ea typeface="+mn-ea"/>
                <a:cs typeface="+mn-cs"/>
              </a:rPr>
              <a:t>] at a [</a:t>
            </a:r>
            <a:r>
              <a:rPr lang="en-US" sz="1200" i="1" kern="1200" dirty="0">
                <a:solidFill>
                  <a:schemeClr val="tx1"/>
                </a:solidFill>
                <a:effectLst/>
                <a:latin typeface="Gill Sans" charset="0"/>
                <a:ea typeface="+mn-ea"/>
                <a:cs typeface="+mn-cs"/>
              </a:rPr>
              <a:t>setting/geographic location</a:t>
            </a:r>
            <a:r>
              <a:rPr lang="en-US" sz="1200" kern="1200" dirty="0">
                <a:solidFill>
                  <a:schemeClr val="tx1"/>
                </a:solidFill>
                <a:effectLst/>
                <a:latin typeface="Gill Sans" charset="0"/>
                <a:ea typeface="+mn-ea"/>
                <a:cs typeface="+mn-cs"/>
              </a:rPr>
              <a:t>]."</a:t>
            </a:r>
            <a:endParaRPr lang="en-US" dirty="0"/>
          </a:p>
          <a:p>
            <a:pPr marL="171450" indent="-171450">
              <a:buFont typeface="Arial" panose="020B0604020202020204" pitchFamily="34" charset="0"/>
              <a:buChar char="•"/>
            </a:pPr>
            <a:r>
              <a:rPr lang="en-US" sz="1200" kern="1200" dirty="0">
                <a:solidFill>
                  <a:schemeClr val="tx1"/>
                </a:solidFill>
                <a:effectLst/>
                <a:latin typeface="Gill Sans" charset="0"/>
                <a:ea typeface="+mn-ea"/>
                <a:cs typeface="+mn-cs"/>
              </a:rPr>
              <a:t>Check recent GCU dissertations for models of purpose statement structure: https://lopes.idm.oclc.org/login?url=https://search.proquest.com/pqdtlocal1008967?accountid=7374</a:t>
            </a:r>
          </a:p>
          <a:p>
            <a:pPr marL="171450" indent="-171450">
              <a:buFont typeface="Arial" panose="020B0604020202020204" pitchFamily="34" charset="0"/>
              <a:buChar char="•"/>
            </a:pPr>
            <a:r>
              <a:rPr lang="en-US" dirty="0"/>
              <a:t>Need some further guidance? Use the Quantitative Knowledge Base: </a:t>
            </a:r>
            <a:r>
              <a:rPr lang="en-US" sz="1200" kern="1200" dirty="0">
                <a:solidFill>
                  <a:schemeClr val="tx1"/>
                </a:solidFill>
                <a:effectLst/>
                <a:latin typeface="Gill Sans" charset="0"/>
                <a:ea typeface="+mn-ea"/>
                <a:cs typeface="+mn-cs"/>
              </a:rPr>
              <a:t>https://dc.gcu.edu/research/quantitative/purpose_of_the_study</a:t>
            </a:r>
          </a:p>
        </p:txBody>
      </p:sp>
      <p:sp>
        <p:nvSpPr>
          <p:cNvPr id="4" name="Footer Placeholder 3"/>
          <p:cNvSpPr>
            <a:spLocks noGrp="1"/>
          </p:cNvSpPr>
          <p:nvPr>
            <p:ph type="ftr" sz="quarter" idx="4"/>
          </p:nvPr>
        </p:nvSpPr>
        <p:spPr/>
        <p:txBody>
          <a:bodyPr/>
          <a:lstStyle/>
          <a:p>
            <a:endParaRPr lang="en-US" dirty="0"/>
          </a:p>
        </p:txBody>
      </p:sp>
      <p:sp>
        <p:nvSpPr>
          <p:cNvPr id="5" name="Slide Number Placeholder 4"/>
          <p:cNvSpPr>
            <a:spLocks noGrp="1"/>
          </p:cNvSpPr>
          <p:nvPr>
            <p:ph type="sldNum" sz="quarter" idx="5"/>
          </p:nvPr>
        </p:nvSpPr>
        <p:spPr/>
        <p:txBody>
          <a:bodyPr/>
          <a:lstStyle/>
          <a:p>
            <a:fld id="{A89C7E07-3C67-C64C-8DA0-0404F6303970}" type="slidenum">
              <a:rPr lang="en-US" smtClean="0"/>
              <a:t>12</a:t>
            </a:fld>
            <a:endParaRPr lang="en-US" dirty="0"/>
          </a:p>
        </p:txBody>
      </p:sp>
    </p:spTree>
    <p:extLst>
      <p:ext uri="{BB962C8B-B14F-4D97-AF65-F5344CB8AC3E}">
        <p14:creationId xmlns:p14="http://schemas.microsoft.com/office/powerpoint/2010/main" val="37832379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Objectives: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lang="en-US" dirty="0"/>
              <a:t>This outline is used to ensure there is an appropriate and reachable target population.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lang="en-US" dirty="0"/>
              <a:t>In the Proposal this outline becomes a section in Chapter 3.</a:t>
            </a:r>
          </a:p>
          <a:p>
            <a:endParaRPr lang="en-US" b="0" dirty="0"/>
          </a:p>
          <a:p>
            <a:r>
              <a:rPr lang="en-US" b="1" u="sng" dirty="0"/>
              <a:t>Slide Requirements: </a:t>
            </a:r>
          </a:p>
          <a:p>
            <a:pPr marL="228600" indent="-228600">
              <a:buAutoNum type="arabicPeriod"/>
            </a:pPr>
            <a:r>
              <a:rPr lang="en-US" dirty="0"/>
              <a:t>Top Row: Define the terms general population, target population, and sample using authoritative sources. </a:t>
            </a:r>
          </a:p>
          <a:p>
            <a:pPr marL="228600" indent="-228600">
              <a:buAutoNum type="arabicPeriod"/>
            </a:pPr>
            <a:r>
              <a:rPr lang="en-US" dirty="0"/>
              <a:t>Bottom Row: Describe the population, target population, and sample as related to the proposed study.</a:t>
            </a:r>
          </a:p>
          <a:p>
            <a:pPr marL="685800" marR="0" lvl="1" indent="-2286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lang="en-US" dirty="0"/>
              <a:t>General Population: Describe the population of interest for your overall study.</a:t>
            </a:r>
          </a:p>
          <a:p>
            <a:pPr marL="685800" marR="0" lvl="1" indent="-2286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lang="en-US" dirty="0"/>
              <a:t>Target Population: Estimate the size of the target population and identify the specific way to access the target population (see hints below).</a:t>
            </a:r>
          </a:p>
          <a:p>
            <a:pPr marL="685800" marR="0" lvl="1" indent="-2286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lang="en-US" dirty="0"/>
              <a:t>Sample: Estimate the projected sample size and who/what will be sampled.</a:t>
            </a:r>
          </a:p>
          <a:p>
            <a:pPr marL="685800" marR="0" lvl="1" indent="-228600" algn="l" defTabSz="914400" rtl="0" eaLnBrk="0" fontAlgn="base" latinLnBrk="0" hangingPunct="0">
              <a:lnSpc>
                <a:spcPct val="100000"/>
              </a:lnSpc>
              <a:spcBef>
                <a:spcPct val="0"/>
              </a:spcBef>
              <a:spcAft>
                <a:spcPct val="0"/>
              </a:spcAft>
              <a:buClrTx/>
              <a:buSzTx/>
              <a:buFontTx/>
              <a:buAutoNum type="arabicPeriod"/>
              <a:tabLst/>
              <a:defRPr/>
            </a:pPr>
            <a:endParaRPr lang="en-US" dirty="0"/>
          </a:p>
          <a:p>
            <a:r>
              <a:rPr lang="en-US" b="1" u="sng" dirty="0"/>
              <a:t>Hints: </a:t>
            </a:r>
          </a:p>
          <a:p>
            <a:pPr marL="228600" indent="-228600">
              <a:buFont typeface="+mj-lt"/>
              <a:buAutoNum type="arabicPeriod"/>
            </a:pPr>
            <a:r>
              <a:rPr lang="en-US" sz="1800" dirty="0">
                <a:effectLst/>
                <a:latin typeface="Segoe UI" panose="020B0502040204020203" pitchFamily="34" charset="0"/>
              </a:rPr>
              <a:t>Visit the Quantitative Knowledgebase for more information and resources about populations and samples. https://dc.gcu.edu/research/quantitative/population_and_sample_selection</a:t>
            </a:r>
          </a:p>
          <a:p>
            <a:pPr marL="228600" indent="-228600">
              <a:buFont typeface="+mj-lt"/>
              <a:buAutoNum type="arabicPeriod"/>
            </a:pPr>
            <a:r>
              <a:rPr lang="en-US" sz="1200" dirty="0"/>
              <a:t>W</a:t>
            </a:r>
            <a:r>
              <a:rPr lang="en-US" dirty="0"/>
              <a:t>ay to access the target population which might include: </a:t>
            </a:r>
          </a:p>
          <a:p>
            <a:pPr marL="685800" lvl="1" indent="-228600">
              <a:buFont typeface="Arial" panose="020B0604020202020204" pitchFamily="34" charset="0"/>
              <a:buChar char="•"/>
            </a:pPr>
            <a:r>
              <a:rPr lang="en-US" dirty="0"/>
              <a:t>Using your organization (with appropriate approvals); </a:t>
            </a:r>
          </a:p>
          <a:p>
            <a:pPr marL="685800" lvl="1" indent="-228600">
              <a:buFont typeface="Arial" panose="020B0604020202020204" pitchFamily="34" charset="0"/>
              <a:buChar char="•"/>
            </a:pPr>
            <a:r>
              <a:rPr lang="en-US" dirty="0"/>
              <a:t>Asking an association to support/communicate the study;</a:t>
            </a:r>
          </a:p>
          <a:p>
            <a:pPr marL="685800" lvl="1" indent="-228600">
              <a:buFont typeface="Arial" panose="020B0604020202020204" pitchFamily="34" charset="0"/>
              <a:buChar char="•"/>
            </a:pPr>
            <a:r>
              <a:rPr lang="en-US" dirty="0"/>
              <a:t>Using a social group such as a church to support/communicate your research; </a:t>
            </a:r>
          </a:p>
          <a:p>
            <a:pPr marL="685800" lvl="1" indent="-228600">
              <a:buFont typeface="Arial" panose="020B0604020202020204" pitchFamily="34" charset="0"/>
              <a:buChar char="•"/>
            </a:pPr>
            <a:r>
              <a:rPr lang="en-US" dirty="0"/>
              <a:t>Using social media to find the sample;</a:t>
            </a:r>
          </a:p>
          <a:p>
            <a:pPr marL="685800" lvl="1" indent="-228600">
              <a:buFont typeface="Arial" panose="020B0604020202020204" pitchFamily="34" charset="0"/>
              <a:buChar char="•"/>
            </a:pPr>
            <a:r>
              <a:rPr lang="en-US" dirty="0"/>
              <a:t>Using archival data from an organization or association; </a:t>
            </a:r>
          </a:p>
          <a:p>
            <a:pPr marL="685800" lvl="1" indent="-228600">
              <a:buFont typeface="Arial" panose="020B0604020202020204" pitchFamily="34" charset="0"/>
              <a:buChar char="•"/>
            </a:pPr>
            <a:r>
              <a:rPr lang="en-US" dirty="0"/>
              <a:t>Using publicly available archival data;</a:t>
            </a:r>
          </a:p>
          <a:p>
            <a:pPr marL="685800" marR="0" lvl="1" indent="-2286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lang="en-US" sz="1200" dirty="0"/>
              <a:t>Purchasing an audience through 3</a:t>
            </a:r>
            <a:r>
              <a:rPr lang="en-US" sz="1200" baseline="30000" dirty="0"/>
              <a:t>rd</a:t>
            </a:r>
            <a:r>
              <a:rPr lang="en-US" sz="1200" dirty="0"/>
              <a:t> party sites. </a:t>
            </a:r>
            <a:endParaRPr lang="en-US" dirty="0"/>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defRPr/>
            </a:pPr>
            <a:r>
              <a:rPr lang="en-US" dirty="0"/>
              <a:t>Assume 5-20 percent of the target population recruited would participate; therefore, ensure the target population is sufficiently large to obtain the final proposed sample size. </a:t>
            </a:r>
          </a:p>
          <a:p>
            <a:pPr marL="228600" indent="-228600">
              <a:buFont typeface="+mj-lt"/>
              <a:buAutoNum type="arabicPeriod"/>
            </a:pPr>
            <a:r>
              <a:rPr lang="en-US" sz="1200" dirty="0"/>
              <a:t>For quantitative studies, to determine the minimum sample size of clean data, learners may use G*power analysis by changing power (1-</a:t>
            </a:r>
            <a:r>
              <a:rPr lang="el-GR" sz="1200" i="1" dirty="0"/>
              <a:t>β</a:t>
            </a:r>
            <a:r>
              <a:rPr lang="en-US" sz="1200" i="1" dirty="0"/>
              <a:t>) </a:t>
            </a:r>
            <a:r>
              <a:rPr lang="en-US" sz="1200" dirty="0"/>
              <a:t>to .80 and changing alpha (</a:t>
            </a:r>
            <a:r>
              <a:rPr lang="el-GR" sz="1200" dirty="0"/>
              <a:t>α</a:t>
            </a:r>
            <a:r>
              <a:rPr lang="en-US" sz="1200" dirty="0"/>
              <a:t>) to align with the corresponding alpha of the hypothesis. </a:t>
            </a:r>
          </a:p>
          <a:p>
            <a:pPr marL="228600" indent="-228600">
              <a:buFont typeface="+mj-lt"/>
              <a:buAutoNum type="arabicPeriod"/>
            </a:pPr>
            <a:r>
              <a:rPr lang="en-US" sz="1200" dirty="0"/>
              <a:t>Students can download G*power by following this link and the instructions: https://www.psychologie.hhu.de/arbeitsgruppen/allgemeine-psychologie-und-arbeitspsychologie/gpower.html (or search G*power in Google)</a:t>
            </a:r>
          </a:p>
          <a:p>
            <a:pPr marL="0" indent="0">
              <a:buFont typeface="+mj-lt"/>
              <a:buNone/>
            </a:pPr>
            <a:endParaRPr lang="en-US" sz="1200" dirty="0"/>
          </a:p>
          <a:p>
            <a:endParaRPr lang="en-US" dirty="0"/>
          </a:p>
          <a:p>
            <a:endParaRPr lang="en-US" dirty="0"/>
          </a:p>
        </p:txBody>
      </p:sp>
      <p:sp>
        <p:nvSpPr>
          <p:cNvPr id="4" name="Footer Placeholder 3"/>
          <p:cNvSpPr>
            <a:spLocks noGrp="1"/>
          </p:cNvSpPr>
          <p:nvPr>
            <p:ph type="ftr" sz="quarter" idx="4"/>
          </p:nvPr>
        </p:nvSpPr>
        <p:spPr/>
        <p:txBody>
          <a:bodyPr/>
          <a:lstStyle/>
          <a:p>
            <a:endParaRPr lang="en-US" dirty="0"/>
          </a:p>
        </p:txBody>
      </p:sp>
      <p:sp>
        <p:nvSpPr>
          <p:cNvPr id="5" name="Slide Number Placeholder 4"/>
          <p:cNvSpPr>
            <a:spLocks noGrp="1"/>
          </p:cNvSpPr>
          <p:nvPr>
            <p:ph type="sldNum" sz="quarter" idx="5"/>
          </p:nvPr>
        </p:nvSpPr>
        <p:spPr/>
        <p:txBody>
          <a:bodyPr/>
          <a:lstStyle/>
          <a:p>
            <a:fld id="{A89C7E07-3C67-C64C-8DA0-0404F6303970}" type="slidenum">
              <a:rPr lang="en-US" smtClean="0"/>
              <a:t>13</a:t>
            </a:fld>
            <a:endParaRPr lang="en-US" dirty="0"/>
          </a:p>
        </p:txBody>
      </p:sp>
    </p:spTree>
    <p:extLst>
      <p:ext uri="{BB962C8B-B14F-4D97-AF65-F5344CB8AC3E}">
        <p14:creationId xmlns:p14="http://schemas.microsoft.com/office/powerpoint/2010/main" val="33670840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Objectives: </a:t>
            </a:r>
          </a:p>
          <a:p>
            <a:pPr marL="171450" indent="-171450">
              <a:buFont typeface="Arial" panose="020B0604020202020204" pitchFamily="34" charset="0"/>
              <a:buChar char="•"/>
            </a:pPr>
            <a:r>
              <a:rPr lang="en-US" dirty="0"/>
              <a:t>This outline is used to identify the types and structure of each data source.</a:t>
            </a:r>
          </a:p>
          <a:p>
            <a:pPr marL="171450" indent="-171450">
              <a:buFont typeface="Arial" panose="020B0604020202020204" pitchFamily="34" charset="0"/>
              <a:buChar char="•"/>
            </a:pPr>
            <a:r>
              <a:rPr lang="en-US" dirty="0"/>
              <a:t>This outline is then used to develop the section on Sources</a:t>
            </a:r>
            <a:r>
              <a:rPr lang="en-US" baseline="0" dirty="0"/>
              <a:t> of Data </a:t>
            </a:r>
            <a:r>
              <a:rPr lang="en-US" dirty="0"/>
              <a:t>in Chapter 3 in the Proposal. </a:t>
            </a:r>
          </a:p>
          <a:p>
            <a:pPr marL="0" indent="0">
              <a:buFont typeface="Arial" panose="020B0604020202020204" pitchFamily="34" charset="0"/>
              <a:buNone/>
            </a:pPr>
            <a:endParaRPr lang="en-US" dirty="0"/>
          </a:p>
          <a:p>
            <a:pPr marL="0" indent="0">
              <a:buFont typeface="Arial" panose="020B0604020202020204" pitchFamily="34" charset="0"/>
              <a:buNone/>
            </a:pPr>
            <a:r>
              <a:rPr lang="en-US" b="1" u="sng" dirty="0"/>
              <a:t>Slide Requirements: </a:t>
            </a:r>
          </a:p>
          <a:p>
            <a:pPr marL="228600" indent="-228600">
              <a:buFont typeface="+mj-lt"/>
              <a:buAutoNum type="arabicPeriod"/>
            </a:pPr>
            <a:r>
              <a:rPr lang="en-US" dirty="0"/>
              <a:t>Top Row: Identify each instrument</a:t>
            </a:r>
          </a:p>
          <a:p>
            <a:pPr marL="228600" indent="-228600">
              <a:buFont typeface="+mj-lt"/>
              <a:buAutoNum type="arabicPeriod"/>
            </a:pPr>
            <a:r>
              <a:rPr lang="en-US" dirty="0"/>
              <a:t>Bottom Row: For each instrument: describe the instrument in detail, including:</a:t>
            </a:r>
          </a:p>
          <a:p>
            <a:pPr marL="628650" lvl="1" indent="-171450">
              <a:buFont typeface="Arial" panose="020B0604020202020204" pitchFamily="34" charset="0"/>
              <a:buChar char="•"/>
            </a:pPr>
            <a:r>
              <a:rPr lang="en-US" dirty="0"/>
              <a:t>The variable(s) for which it will provide data. </a:t>
            </a:r>
          </a:p>
          <a:p>
            <a:pPr marL="628650" lvl="1" indent="-171450">
              <a:buFont typeface="Arial" panose="020B0604020202020204" pitchFamily="34" charset="0"/>
              <a:buChar char="•"/>
            </a:pPr>
            <a:r>
              <a:rPr lang="en-US" dirty="0"/>
              <a:t>Validity of the instrument to provide data for the variable(s).</a:t>
            </a:r>
          </a:p>
          <a:p>
            <a:pPr marL="628650" lvl="1" indent="-171450">
              <a:buFont typeface="Arial" panose="020B0604020202020204" pitchFamily="34" charset="0"/>
              <a:buChar char="•"/>
            </a:pPr>
            <a:r>
              <a:rPr lang="en-US" dirty="0"/>
              <a:t>Reliability of the instrument to provide data for the variable(s).</a:t>
            </a:r>
          </a:p>
          <a:p>
            <a:pPr marL="628650" lvl="1" indent="-171450">
              <a:buFont typeface="Arial" panose="020B0604020202020204" pitchFamily="34" charset="0"/>
              <a:buChar char="•"/>
            </a:pPr>
            <a:r>
              <a:rPr lang="en-US" dirty="0"/>
              <a:t>The level of measurement provided by the instrument.</a:t>
            </a:r>
          </a:p>
          <a:p>
            <a:pPr marL="228600" lvl="0" indent="-228600">
              <a:buFont typeface="+mj-lt"/>
              <a:buAutoNum type="arabicPeriod"/>
            </a:pPr>
            <a:r>
              <a:rPr lang="en-US" b="0" u="none" dirty="0"/>
              <a:t>If applicable: If a variable is commonly measured via a demographic question (i.e., gender, age, GPA), include the demographic questionnaire as an instrument.</a:t>
            </a:r>
          </a:p>
          <a:p>
            <a:pPr marL="628650" lvl="1" indent="-171450">
              <a:buFont typeface="Arial" panose="020B0604020202020204" pitchFamily="34" charset="0"/>
              <a:buChar char="•"/>
            </a:pPr>
            <a:r>
              <a:rPr lang="en-US" b="0" u="none" dirty="0"/>
              <a:t>Demographic questionnaires do not have validity and reliability statistics associated with them. </a:t>
            </a:r>
          </a:p>
          <a:p>
            <a:pPr marL="228600" lvl="0" indent="-228600">
              <a:buFont typeface="+mj-lt"/>
              <a:buAutoNum type="arabicPeriod"/>
            </a:pPr>
            <a:r>
              <a:rPr lang="en-US" dirty="0"/>
              <a:t>If needed, add columns for additional instruments (or delete extra columns)</a:t>
            </a:r>
          </a:p>
          <a:p>
            <a:pPr marL="228600" lvl="0" indent="-228600">
              <a:buFont typeface="+mj-lt"/>
              <a:buAutoNum type="arabicPeriod"/>
            </a:pPr>
            <a:endParaRPr lang="en-US" dirty="0"/>
          </a:p>
          <a:p>
            <a:pPr marL="0" lvl="0" indent="0">
              <a:buFont typeface="+mj-lt"/>
              <a:buNone/>
            </a:pPr>
            <a:r>
              <a:rPr lang="en-US" b="1" u="sng" dirty="0"/>
              <a:t>Hints/Additional Requirements: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lang="en-US" b="0" u="none" dirty="0"/>
              <a:t>Instruments must have established validity and reliability for measuring the variables.</a:t>
            </a:r>
          </a:p>
          <a:p>
            <a:pPr marL="628650" marR="0" lvl="1"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lang="en-US" dirty="0"/>
              <a:t>Use the instrument article to provide the reliability and validity statistics for the instrument. </a:t>
            </a:r>
          </a:p>
          <a:p>
            <a:pPr marL="628650" marR="0" lvl="1"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lang="en-US" sz="1200" b="0" u="none" kern="1200" dirty="0">
                <a:solidFill>
                  <a:schemeClr val="tx1"/>
                </a:solidFill>
                <a:effectLst/>
                <a:latin typeface="Gill Sans" charset="0"/>
                <a:ea typeface="+mn-ea"/>
                <a:cs typeface="+mn-cs"/>
              </a:rPr>
              <a:t>Reliability is typically established with Cronbach’s alpha. </a:t>
            </a:r>
          </a:p>
          <a:p>
            <a:pPr marL="628650" marR="0" lvl="1"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lang="en-US" sz="1200" b="0" u="none" kern="1200" dirty="0">
                <a:solidFill>
                  <a:schemeClr val="tx1"/>
                </a:solidFill>
                <a:effectLst/>
                <a:latin typeface="Gill Sans" charset="0"/>
                <a:ea typeface="+mn-ea"/>
                <a:cs typeface="+mn-cs"/>
              </a:rPr>
              <a:t>A factor analysis is typically used to help establish validity of an instrument.</a:t>
            </a:r>
            <a:endParaRPr lang="en-US" b="0" u="none" dirty="0"/>
          </a:p>
          <a:p>
            <a:pPr marL="628650" marR="0" lvl="1"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lang="en-US" dirty="0"/>
              <a:t>Exception: Demographic questionnaires do not have established validity and reliability</a:t>
            </a:r>
          </a:p>
          <a:p>
            <a:pPr marL="171450" lvl="0" indent="-171450">
              <a:buFont typeface="Arial" panose="020B0604020202020204" pitchFamily="34" charset="0"/>
              <a:buChar char="•"/>
            </a:pPr>
            <a:r>
              <a:rPr lang="en-US" b="0" u="none" dirty="0"/>
              <a:t>If you are using a previously published measurement instrument, discuss the characteristics of the instrument in detail. I.e., for a validated survey, describe: </a:t>
            </a:r>
          </a:p>
          <a:p>
            <a:pPr marL="628650" lvl="1" indent="-171450">
              <a:buFont typeface="Arial" panose="020B0604020202020204" pitchFamily="34" charset="0"/>
              <a:buChar char="•"/>
            </a:pPr>
            <a:r>
              <a:rPr lang="en-US" sz="1200" kern="1200" dirty="0">
                <a:solidFill>
                  <a:schemeClr val="tx1"/>
                </a:solidFill>
                <a:effectLst/>
                <a:latin typeface="Gill Sans" charset="0"/>
                <a:ea typeface="+mn-ea"/>
                <a:cs typeface="+mn-cs"/>
              </a:rPr>
              <a:t>The structure of the instrument, including subscales, etc..</a:t>
            </a:r>
          </a:p>
          <a:p>
            <a:pPr marL="628650" lvl="1" indent="-171450">
              <a:buFont typeface="Arial" panose="020B0604020202020204" pitchFamily="34" charset="0"/>
              <a:buChar char="•"/>
            </a:pPr>
            <a:r>
              <a:rPr lang="en-US" sz="1200" kern="1200" dirty="0">
                <a:solidFill>
                  <a:schemeClr val="tx1"/>
                </a:solidFill>
                <a:effectLst/>
                <a:latin typeface="Gill Sans" charset="0"/>
                <a:ea typeface="+mn-ea"/>
                <a:cs typeface="+mn-cs"/>
              </a:rPr>
              <a:t>The type and number of items or questions per scale and/or subscale.</a:t>
            </a:r>
          </a:p>
          <a:p>
            <a:pPr marL="628650" lvl="1" indent="-171450">
              <a:buFont typeface="Arial" panose="020B0604020202020204" pitchFamily="34" charset="0"/>
              <a:buChar char="•"/>
            </a:pPr>
            <a:r>
              <a:rPr lang="en-US" sz="1200" kern="1200" dirty="0">
                <a:solidFill>
                  <a:schemeClr val="tx1"/>
                </a:solidFill>
                <a:effectLst/>
                <a:latin typeface="Gill Sans" charset="0"/>
                <a:ea typeface="+mn-ea"/>
                <a:cs typeface="+mn-cs"/>
              </a:rPr>
              <a:t>The statistical scale of measurement (nominal, ordinal, interval, or ratio) of data obtained from the instrument.</a:t>
            </a:r>
          </a:p>
          <a:p>
            <a:pPr marL="171450" lvl="0" indent="-171450">
              <a:buFont typeface="Arial" panose="020B0604020202020204" pitchFamily="34" charset="0"/>
              <a:buChar char="•"/>
            </a:pPr>
            <a:r>
              <a:rPr lang="en-US" sz="1200" b="0" u="none" kern="1200" dirty="0">
                <a:solidFill>
                  <a:schemeClr val="tx1"/>
                </a:solidFill>
                <a:effectLst/>
                <a:latin typeface="Gill Sans" charset="0"/>
                <a:ea typeface="+mn-ea"/>
                <a:cs typeface="+mn-cs"/>
              </a:rPr>
              <a:t>There are differences between Likert items and Likert scales. While Likert items are ordinal, one can argue that a Likert scale is interval. It is recommended, if possible, learner use parametric statistics, which require interval or ratio data. </a:t>
            </a:r>
            <a:endParaRPr lang="en-US" b="0" u="none" dirty="0"/>
          </a:p>
          <a:p>
            <a:pPr marL="171450" lvl="0" indent="-171450">
              <a:buFont typeface="Arial" panose="020B0604020202020204" pitchFamily="34" charset="0"/>
              <a:buChar char="•"/>
            </a:pPr>
            <a:r>
              <a:rPr lang="en-US" sz="1200" kern="1200" dirty="0">
                <a:solidFill>
                  <a:schemeClr val="tx1"/>
                </a:solidFill>
                <a:effectLst/>
                <a:latin typeface="Gill Sans" charset="0"/>
                <a:ea typeface="+mn-ea"/>
                <a:cs typeface="+mn-cs"/>
              </a:rPr>
              <a:t>If your research data will come from an electronic database (</a:t>
            </a:r>
            <a:r>
              <a:rPr lang="en-US" sz="1200" i="1" kern="1200" dirty="0">
                <a:solidFill>
                  <a:schemeClr val="tx1"/>
                </a:solidFill>
                <a:effectLst/>
                <a:latin typeface="Gill Sans" charset="0"/>
                <a:ea typeface="+mn-ea"/>
                <a:cs typeface="+mn-cs"/>
              </a:rPr>
              <a:t>archival,</a:t>
            </a:r>
            <a:r>
              <a:rPr lang="en-US" sz="1200" kern="1200" dirty="0">
                <a:solidFill>
                  <a:schemeClr val="tx1"/>
                </a:solidFill>
                <a:effectLst/>
                <a:latin typeface="Gill Sans" charset="0"/>
                <a:ea typeface="+mn-ea"/>
                <a:cs typeface="+mn-cs"/>
              </a:rPr>
              <a:t> or </a:t>
            </a:r>
            <a:r>
              <a:rPr lang="en-US" sz="1200" i="1" kern="1200" dirty="0">
                <a:solidFill>
                  <a:schemeClr val="tx1"/>
                </a:solidFill>
                <a:effectLst/>
                <a:latin typeface="Gill Sans" charset="0"/>
                <a:ea typeface="+mn-ea"/>
                <a:cs typeface="+mn-cs"/>
              </a:rPr>
              <a:t>secondary</a:t>
            </a:r>
            <a:r>
              <a:rPr lang="en-US" sz="1200" kern="1200" dirty="0">
                <a:solidFill>
                  <a:schemeClr val="tx1"/>
                </a:solidFill>
                <a:effectLst/>
                <a:latin typeface="Gill Sans" charset="0"/>
                <a:ea typeface="+mn-ea"/>
                <a:cs typeface="+mn-cs"/>
              </a:rPr>
              <a:t> data), identify the database and indicate exactly how the data will be obtained or accessed.</a:t>
            </a:r>
          </a:p>
          <a:p>
            <a:endParaRPr lang="en-US" dirty="0"/>
          </a:p>
        </p:txBody>
      </p:sp>
      <p:sp>
        <p:nvSpPr>
          <p:cNvPr id="4" name="Footer Placeholder 3"/>
          <p:cNvSpPr>
            <a:spLocks noGrp="1"/>
          </p:cNvSpPr>
          <p:nvPr>
            <p:ph type="ftr" sz="quarter" idx="4"/>
          </p:nvPr>
        </p:nvSpPr>
        <p:spPr/>
        <p:txBody>
          <a:bodyPr/>
          <a:lstStyle/>
          <a:p>
            <a:endParaRPr lang="en-US" dirty="0"/>
          </a:p>
        </p:txBody>
      </p:sp>
      <p:sp>
        <p:nvSpPr>
          <p:cNvPr id="5" name="Slide Number Placeholder 4"/>
          <p:cNvSpPr>
            <a:spLocks noGrp="1"/>
          </p:cNvSpPr>
          <p:nvPr>
            <p:ph type="sldNum" sz="quarter" idx="5"/>
          </p:nvPr>
        </p:nvSpPr>
        <p:spPr/>
        <p:txBody>
          <a:bodyPr/>
          <a:lstStyle/>
          <a:p>
            <a:fld id="{A89C7E07-3C67-C64C-8DA0-0404F6303970}" type="slidenum">
              <a:rPr lang="en-US" smtClean="0"/>
              <a:t>14</a:t>
            </a:fld>
            <a:endParaRPr lang="en-US" dirty="0"/>
          </a:p>
        </p:txBody>
      </p:sp>
    </p:spTree>
    <p:extLst>
      <p:ext uri="{BB962C8B-B14F-4D97-AF65-F5344CB8AC3E}">
        <p14:creationId xmlns:p14="http://schemas.microsoft.com/office/powerpoint/2010/main" val="18075842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Objectives: </a:t>
            </a:r>
          </a:p>
          <a:p>
            <a:pPr marL="171450" indent="-171450">
              <a:buFont typeface="Arial" panose="020B0604020202020204" pitchFamily="34" charset="0"/>
              <a:buChar char="•"/>
            </a:pPr>
            <a:r>
              <a:rPr lang="en-US" dirty="0"/>
              <a:t>There are four separate slides that will comprise the data collection section in the Prospectus and the proposal. </a:t>
            </a:r>
          </a:p>
          <a:p>
            <a:pPr marL="171450" indent="-171450">
              <a:buFont typeface="Arial" panose="020B0604020202020204" pitchFamily="34" charset="0"/>
              <a:buChar char="•"/>
            </a:pPr>
            <a:r>
              <a:rPr lang="en-US" dirty="0"/>
              <a:t>These set of four slides are used in bullet format in the Prospectus. They then provide the outline for the Data Collection section in Chapter 3 in the Proposal. </a:t>
            </a:r>
          </a:p>
          <a:p>
            <a:pPr marL="171450" indent="-171450">
              <a:buFont typeface="Arial" panose="020B0604020202020204" pitchFamily="34" charset="0"/>
              <a:buChar char="•"/>
            </a:pPr>
            <a:r>
              <a:rPr lang="en-US" dirty="0"/>
              <a:t>This Slide: This first slide only discusses all of the permissions required. </a:t>
            </a:r>
          </a:p>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a:pPr>
            <a:r>
              <a:rPr lang="en-US" dirty="0"/>
              <a:t>**Note: Do not alter the names on the slides, and do not change the order of the four data collection slides or the bullets within them.  It is important to show the bullets in the order in which they would occur. **</a:t>
            </a:r>
          </a:p>
          <a:p>
            <a:endParaRPr lang="en-US" dirty="0"/>
          </a:p>
          <a:p>
            <a:r>
              <a:rPr lang="en-US" b="1" u="sng" dirty="0"/>
              <a:t>Slide Requirements: </a:t>
            </a:r>
          </a:p>
          <a:p>
            <a:pPr marL="228600" indent="-228600">
              <a:buFont typeface="+mj-lt"/>
              <a:buAutoNum type="arabicPeriod"/>
            </a:pPr>
            <a:r>
              <a:rPr lang="en-US" dirty="0"/>
              <a:t>Modify each bullet point to be specific to your study, and if you do not believe the bullet is relevant for your study put in a statement justifying why not.  </a:t>
            </a:r>
          </a:p>
          <a:p>
            <a:pPr marL="228600" indent="-228600">
              <a:buFont typeface="+mj-lt"/>
              <a:buAutoNum type="arabicPeriod"/>
            </a:pPr>
            <a:r>
              <a:rPr lang="en-US" dirty="0"/>
              <a:t>Required Bullets: </a:t>
            </a:r>
          </a:p>
          <a:p>
            <a:pPr marL="628650" lvl="1" indent="-171450">
              <a:buFont typeface="Arial" panose="020B0604020202020204" pitchFamily="34" charset="0"/>
              <a:buChar char="•"/>
            </a:pPr>
            <a:r>
              <a:rPr lang="en-US" sz="1200" dirty="0"/>
              <a:t>Site approval </a:t>
            </a:r>
          </a:p>
          <a:p>
            <a:pPr marL="628650" lvl="1" indent="-171450">
              <a:buFont typeface="Arial" panose="020B0604020202020204" pitchFamily="34" charset="0"/>
              <a:buChar char="•"/>
            </a:pPr>
            <a:r>
              <a:rPr lang="en-US" sz="1200" dirty="0"/>
              <a:t>Permission to use each instrument or data source</a:t>
            </a:r>
          </a:p>
          <a:p>
            <a:pPr marL="628650" lvl="1" indent="-171450">
              <a:buFont typeface="Arial" panose="020B0604020202020204" pitchFamily="34" charset="0"/>
              <a:buChar char="•"/>
            </a:pPr>
            <a:r>
              <a:rPr lang="en-US" sz="1200" dirty="0"/>
              <a:t>Obtaining administrative guide and validation information on each data sources from owner/literature</a:t>
            </a:r>
          </a:p>
          <a:p>
            <a:pPr marL="628650" lvl="1" indent="-171450">
              <a:buFont typeface="Arial" panose="020B0604020202020204" pitchFamily="34" charset="0"/>
              <a:buChar char="•"/>
            </a:pPr>
            <a:r>
              <a:rPr lang="en-US" sz="1200" dirty="0"/>
              <a:t>GCU Chair and Committee Approvals</a:t>
            </a:r>
          </a:p>
          <a:p>
            <a:pPr marL="628650" lvl="1" indent="-171450">
              <a:buFont typeface="Arial" panose="020B0604020202020204" pitchFamily="34" charset="0"/>
              <a:buChar char="•"/>
            </a:pPr>
            <a:r>
              <a:rPr lang="en-US" sz="1200" dirty="0"/>
              <a:t>AQR Approval </a:t>
            </a:r>
          </a:p>
          <a:p>
            <a:pPr marL="628650" lvl="1" indent="-171450">
              <a:buFont typeface="Arial" panose="020B0604020202020204" pitchFamily="34" charset="0"/>
              <a:buChar char="•"/>
            </a:pPr>
            <a:r>
              <a:rPr lang="en-US" sz="1400" dirty="0"/>
              <a:t>IRB Approval</a:t>
            </a:r>
          </a:p>
          <a:p>
            <a:pPr marL="628650" lvl="1" indent="-171450">
              <a:buFont typeface="Arial" panose="020B0604020202020204" pitchFamily="34" charset="0"/>
              <a:buChar char="•"/>
            </a:pPr>
            <a:r>
              <a:rPr lang="en-US" sz="1400" dirty="0"/>
              <a:t>Consent form from individual participants</a:t>
            </a:r>
          </a:p>
          <a:p>
            <a:pPr marL="0" lvl="0" indent="0">
              <a:buFont typeface="Arial" panose="020B0604020202020204" pitchFamily="34" charset="0"/>
              <a:buNone/>
            </a:pPr>
            <a:endParaRPr lang="en-US" sz="1400" dirty="0"/>
          </a:p>
          <a:p>
            <a:pPr marL="0" lvl="0" indent="0">
              <a:buFont typeface="Arial" panose="020B0604020202020204" pitchFamily="34" charset="0"/>
              <a:buNone/>
            </a:pPr>
            <a:r>
              <a:rPr lang="en-US" sz="1400" b="1" u="sng" dirty="0"/>
              <a:t>Hints:</a:t>
            </a:r>
          </a:p>
          <a:p>
            <a:pPr marL="285750" lvl="0" indent="-285750">
              <a:buFont typeface="Arial" panose="020B0604020202020204" pitchFamily="34" charset="0"/>
              <a:buChar char="•"/>
            </a:pPr>
            <a:r>
              <a:rPr lang="en-US" sz="1400" b="0" u="none" dirty="0"/>
              <a:t>If site authorization is not required, state the reason.</a:t>
            </a:r>
          </a:p>
          <a:p>
            <a:pPr marL="285750" lvl="0" indent="-285750">
              <a:buFont typeface="Arial" panose="020B0604020202020204" pitchFamily="34" charset="0"/>
              <a:buChar char="•"/>
            </a:pPr>
            <a:r>
              <a:rPr lang="en-US" sz="1400" b="0" u="none" dirty="0"/>
              <a:t>Unless otherwise specified, site authorization(s) are valid one year from the date of signature.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lang="en-US" sz="1400" b="0" u="none" dirty="0"/>
              <a:t>See the Quantitative Knowledge Base for additional resources: </a:t>
            </a:r>
            <a:r>
              <a:rPr lang="en-US" sz="1400" b="1" u="none" dirty="0"/>
              <a:t>https://dc.gcu.edu/research/quantitative/data_collection_and_management</a:t>
            </a:r>
            <a:endParaRPr lang="en-US" sz="1400" b="0" u="none" dirty="0"/>
          </a:p>
          <a:p>
            <a:pPr marL="457200" lvl="1" indent="0">
              <a:buFont typeface="Arial" panose="020B0604020202020204" pitchFamily="34" charset="0"/>
              <a:buNone/>
            </a:pPr>
            <a:endParaRPr lang="en-US" sz="1200" dirty="0"/>
          </a:p>
          <a:p>
            <a:endParaRPr lang="en-US" dirty="0"/>
          </a:p>
        </p:txBody>
      </p:sp>
      <p:sp>
        <p:nvSpPr>
          <p:cNvPr id="4" name="Footer Placeholder 3"/>
          <p:cNvSpPr>
            <a:spLocks noGrp="1"/>
          </p:cNvSpPr>
          <p:nvPr>
            <p:ph type="ftr" sz="quarter" idx="4"/>
          </p:nvPr>
        </p:nvSpPr>
        <p:spPr/>
        <p:txBody>
          <a:bodyPr/>
          <a:lstStyle/>
          <a:p>
            <a:endParaRPr lang="en-US" dirty="0"/>
          </a:p>
        </p:txBody>
      </p:sp>
      <p:sp>
        <p:nvSpPr>
          <p:cNvPr id="5" name="Slide Number Placeholder 4"/>
          <p:cNvSpPr>
            <a:spLocks noGrp="1"/>
          </p:cNvSpPr>
          <p:nvPr>
            <p:ph type="sldNum" sz="quarter" idx="5"/>
          </p:nvPr>
        </p:nvSpPr>
        <p:spPr/>
        <p:txBody>
          <a:bodyPr/>
          <a:lstStyle/>
          <a:p>
            <a:fld id="{A89C7E07-3C67-C64C-8DA0-0404F6303970}" type="slidenum">
              <a:rPr lang="en-US" smtClean="0"/>
              <a:t>15</a:t>
            </a:fld>
            <a:endParaRPr lang="en-US" dirty="0"/>
          </a:p>
        </p:txBody>
      </p:sp>
    </p:spTree>
    <p:extLst>
      <p:ext uri="{BB962C8B-B14F-4D97-AF65-F5344CB8AC3E}">
        <p14:creationId xmlns:p14="http://schemas.microsoft.com/office/powerpoint/2010/main" val="19434577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Objectives: </a:t>
            </a:r>
          </a:p>
          <a:p>
            <a:pPr marL="171450" indent="-171450">
              <a:buFont typeface="Arial" panose="020B0604020202020204" pitchFamily="34" charset="0"/>
              <a:buChar char="•"/>
            </a:pPr>
            <a:r>
              <a:rPr lang="en-US" dirty="0"/>
              <a:t>There are four separate slides that will comprise the data collection section in the Prospectus and the proposal. </a:t>
            </a:r>
          </a:p>
          <a:p>
            <a:pPr marL="171450" indent="-171450">
              <a:buFont typeface="Arial" panose="020B0604020202020204" pitchFamily="34" charset="0"/>
              <a:buChar char="•"/>
            </a:pPr>
            <a:r>
              <a:rPr lang="en-US" dirty="0"/>
              <a:t>These set of four slides are used in bullet format in the Prospectus. They then provide the outline for the Data Collection section in Chapter 3 in the Proposal.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lang="en-US" dirty="0"/>
              <a:t>This Slide: This second slide only discusses the sampling strategy and then the steps for the sampling process. </a:t>
            </a:r>
          </a:p>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a:pPr>
            <a:r>
              <a:rPr lang="en-US" dirty="0"/>
              <a:t>**Note: Do not alter the names on the slides, and do not change the order of the four data collection slides or the bullets within them.  It is important to show the bullets in the order in which they would occur. **</a:t>
            </a:r>
          </a:p>
          <a:p>
            <a:endParaRPr lang="en-US" dirty="0"/>
          </a:p>
          <a:p>
            <a:r>
              <a:rPr lang="en-US" b="1" u="sng" dirty="0"/>
              <a:t>Slide Requirements: </a:t>
            </a:r>
          </a:p>
          <a:p>
            <a:pPr marL="228600" indent="-228600">
              <a:buFont typeface="+mj-lt"/>
              <a:buAutoNum type="arabicPeriod"/>
            </a:pPr>
            <a:r>
              <a:rPr lang="en-US" dirty="0"/>
              <a:t>Steps to Access/Identify Each Group: State the steps you will take to identify and access the sample for each group of participants.</a:t>
            </a:r>
          </a:p>
          <a:p>
            <a:pPr marL="685800" lvl="1" indent="-228600">
              <a:buFont typeface="Arial" panose="020B0604020202020204" pitchFamily="34" charset="0"/>
              <a:buChar char="•"/>
            </a:pPr>
            <a:r>
              <a:rPr lang="en-US" dirty="0"/>
              <a:t>Dependent on your study, you may only have one group.</a:t>
            </a:r>
          </a:p>
          <a:p>
            <a:pPr marL="685800" lvl="1" indent="-228600">
              <a:buFont typeface="Arial" panose="020B0604020202020204" pitchFamily="34" charset="0"/>
              <a:buChar char="•"/>
            </a:pPr>
            <a:r>
              <a:rPr lang="en-US" dirty="0"/>
              <a:t>If you have more than one group and your analysis requires paired data, discuss how you will pair that data across groups (i.e., parenting stats and individual student stats)</a:t>
            </a:r>
          </a:p>
          <a:p>
            <a:pPr marL="228600" indent="-228600">
              <a:buFont typeface="+mj-lt"/>
              <a:buAutoNum type="arabicPeriod"/>
            </a:pPr>
            <a:r>
              <a:rPr lang="en-US" dirty="0"/>
              <a:t>Participation Criteria Row: Identify the criteria for selecting your sample for each group. </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defRPr/>
            </a:pPr>
            <a:r>
              <a:rPr lang="en-US" dirty="0"/>
              <a:t>Sampling Strategy &amp; Description Row: Identify and describe each sampling strategy, citing an authoritative source.</a:t>
            </a:r>
          </a:p>
          <a:p>
            <a:pPr marL="685800" marR="0" lvl="1" indent="-2286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lang="en-US" dirty="0"/>
              <a:t>I.e., Convenience sampling, random sampling, purposive sampling, snowball sampling.</a:t>
            </a:r>
          </a:p>
          <a:p>
            <a:pPr marL="685800" marR="0" lvl="1" indent="-2286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lang="en-US" dirty="0"/>
              <a:t>If the same sampling strategy will be used for all groups, specify this.</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defRPr/>
            </a:pPr>
            <a:r>
              <a:rPr lang="en-US" dirty="0"/>
              <a:t>Complete the 2</a:t>
            </a:r>
            <a:r>
              <a:rPr lang="en-US" baseline="30000" dirty="0"/>
              <a:t>nd</a:t>
            </a:r>
            <a:r>
              <a:rPr lang="en-US" dirty="0"/>
              <a:t> column indicating the backup plan should the primary plan not work as intended and/or yield enough participants</a:t>
            </a:r>
          </a:p>
          <a:p>
            <a:pPr marL="0" indent="0">
              <a:buFont typeface="+mj-lt"/>
              <a:buNone/>
            </a:pPr>
            <a:endParaRPr lang="en-US" dirty="0"/>
          </a:p>
          <a:p>
            <a:pPr marL="0" indent="0">
              <a:buFont typeface="+mj-lt"/>
              <a:buNone/>
            </a:pPr>
            <a:r>
              <a:rPr lang="en-US" b="1" u="sng" dirty="0"/>
              <a:t>Hints: </a:t>
            </a:r>
          </a:p>
          <a:p>
            <a:pPr marL="171450" indent="-171450">
              <a:buFont typeface="Arial" panose="020B0604020202020204" pitchFamily="34" charset="0"/>
              <a:buChar char="•"/>
            </a:pPr>
            <a:r>
              <a:rPr lang="en-US" dirty="0"/>
              <a:t>See the Quantitative Knowledge Base for resources on sampling: </a:t>
            </a:r>
            <a:r>
              <a:rPr lang="en-US" b="1" dirty="0"/>
              <a:t>https://dc.gcu.edu/research/quantitative/population_and_sample_selection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dirty="0">
                <a:effectLst/>
                <a:latin typeface="Segoe UI" panose="020B0502040204020203" pitchFamily="34" charset="0"/>
              </a:rPr>
              <a:t>Describe the operational characteristics of the sampling frame (the group you intend to directly ask to participate). For more information, see Casteel and Bridier (2021), and </a:t>
            </a:r>
            <a:r>
              <a:rPr lang="en-US" sz="1800" dirty="0" err="1">
                <a:effectLst/>
                <a:latin typeface="Segoe UI" panose="020B0502040204020203" pitchFamily="34" charset="0"/>
              </a:rPr>
              <a:t>Etikan</a:t>
            </a:r>
            <a:r>
              <a:rPr lang="en-US" sz="1800" dirty="0">
                <a:effectLst/>
                <a:latin typeface="Segoe UI" panose="020B0502040204020203" pitchFamily="34" charset="0"/>
              </a:rPr>
              <a:t> and </a:t>
            </a:r>
            <a:r>
              <a:rPr lang="en-US" sz="1800" dirty="0" err="1">
                <a:effectLst/>
                <a:latin typeface="Segoe UI" panose="020B0502040204020203" pitchFamily="34" charset="0"/>
              </a:rPr>
              <a:t>Bala</a:t>
            </a:r>
            <a:r>
              <a:rPr lang="en-US" sz="1800" dirty="0">
                <a:effectLst/>
                <a:latin typeface="Segoe UI" panose="020B0502040204020203" pitchFamily="34" charset="0"/>
              </a:rPr>
              <a:t> (2017).</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dirty="0">
                <a:effectLst/>
                <a:latin typeface="Segoe UI" panose="020B0502040204020203" pitchFamily="34" charset="0"/>
              </a:rPr>
              <a:t>Link to Casteel and Bridier (2021): https://www.informingscience.org/Publications/4766</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dirty="0">
                <a:effectLst/>
                <a:latin typeface="Segoe UI" panose="020B0502040204020203" pitchFamily="34" charset="0"/>
              </a:rPr>
              <a:t>Link to </a:t>
            </a:r>
            <a:r>
              <a:rPr lang="en-US" sz="1800" dirty="0" err="1">
                <a:effectLst/>
                <a:latin typeface="Segoe UI" panose="020B0502040204020203" pitchFamily="34" charset="0"/>
              </a:rPr>
              <a:t>Etikan</a:t>
            </a:r>
            <a:r>
              <a:rPr lang="en-US" sz="1800" dirty="0">
                <a:effectLst/>
                <a:latin typeface="Segoe UI" panose="020B0502040204020203" pitchFamily="34" charset="0"/>
              </a:rPr>
              <a:t> and </a:t>
            </a:r>
            <a:r>
              <a:rPr lang="en-US" sz="1800" dirty="0" err="1">
                <a:effectLst/>
                <a:latin typeface="Segoe UI" panose="020B0502040204020203" pitchFamily="34" charset="0"/>
              </a:rPr>
              <a:t>Bala</a:t>
            </a:r>
            <a:r>
              <a:rPr lang="en-US" sz="1800" dirty="0">
                <a:effectLst/>
                <a:latin typeface="Segoe UI" panose="020B0502040204020203" pitchFamily="34" charset="0"/>
              </a:rPr>
              <a:t> (2017): http://www.mkc.ac.in/pdf/study-material/sociology/4thSem/Sampling-nglish.pdf</a:t>
            </a:r>
            <a:endParaRPr lang="en-US" sz="1800" dirty="0">
              <a:effectLst/>
              <a:latin typeface="Arial" panose="020B0604020202020204" pitchFamily="34" charset="0"/>
            </a:endParaRPr>
          </a:p>
          <a:p>
            <a:pPr marL="171450" indent="-171450">
              <a:buFont typeface="Arial" panose="020B0604020202020204" pitchFamily="34" charset="0"/>
              <a:buChar char="•"/>
            </a:pPr>
            <a:r>
              <a:rPr lang="en-US" b="0" dirty="0"/>
              <a:t>See the Quantitative Knowledge Based for additional resources on data collection: </a:t>
            </a:r>
            <a:r>
              <a:rPr lang="en-US" b="1" dirty="0"/>
              <a:t>https://dc.gcu.edu/research/quantitative/data_collection_and_management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On the full dissertation template, learners must include their primary sampling plan as well as at least two backup plans (i.e., Plan B and Plan C). </a:t>
            </a:r>
          </a:p>
          <a:p>
            <a:pPr marL="171450" indent="-171450">
              <a:buFont typeface="Arial" panose="020B0604020202020204" pitchFamily="34" charset="0"/>
              <a:buChar char="•"/>
            </a:pPr>
            <a:endParaRPr lang="en-US" b="1" dirty="0"/>
          </a:p>
          <a:p>
            <a:pPr marL="171450" indent="-171450">
              <a:buFont typeface="Arial" panose="020B0604020202020204" pitchFamily="34" charset="0"/>
              <a:buChar char="•"/>
            </a:pPr>
            <a:endParaRPr lang="en-US" dirty="0"/>
          </a:p>
          <a:p>
            <a:endParaRPr lang="en-US" dirty="0"/>
          </a:p>
        </p:txBody>
      </p:sp>
      <p:sp>
        <p:nvSpPr>
          <p:cNvPr id="4" name="Footer Placeholder 3"/>
          <p:cNvSpPr>
            <a:spLocks noGrp="1"/>
          </p:cNvSpPr>
          <p:nvPr>
            <p:ph type="ftr" sz="quarter" idx="4"/>
          </p:nvPr>
        </p:nvSpPr>
        <p:spPr/>
        <p:txBody>
          <a:bodyPr/>
          <a:lstStyle/>
          <a:p>
            <a:endParaRPr lang="en-US" dirty="0"/>
          </a:p>
        </p:txBody>
      </p:sp>
      <p:sp>
        <p:nvSpPr>
          <p:cNvPr id="5" name="Slide Number Placeholder 4"/>
          <p:cNvSpPr>
            <a:spLocks noGrp="1"/>
          </p:cNvSpPr>
          <p:nvPr>
            <p:ph type="sldNum" sz="quarter" idx="5"/>
          </p:nvPr>
        </p:nvSpPr>
        <p:spPr/>
        <p:txBody>
          <a:bodyPr/>
          <a:lstStyle/>
          <a:p>
            <a:fld id="{A89C7E07-3C67-C64C-8DA0-0404F6303970}" type="slidenum">
              <a:rPr lang="en-US" smtClean="0"/>
              <a:t>16</a:t>
            </a:fld>
            <a:endParaRPr lang="en-US" dirty="0"/>
          </a:p>
        </p:txBody>
      </p:sp>
    </p:spTree>
    <p:extLst>
      <p:ext uri="{BB962C8B-B14F-4D97-AF65-F5344CB8AC3E}">
        <p14:creationId xmlns:p14="http://schemas.microsoft.com/office/powerpoint/2010/main" val="26038729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Objectives: </a:t>
            </a:r>
          </a:p>
          <a:p>
            <a:pPr marL="171450" indent="-171450">
              <a:buFont typeface="Arial" panose="020B0604020202020204" pitchFamily="34" charset="0"/>
              <a:buChar char="•"/>
            </a:pPr>
            <a:r>
              <a:rPr lang="en-US" dirty="0"/>
              <a:t>There are four separate slides that will comprise the data collection section in the Prospectus and the proposal. </a:t>
            </a:r>
          </a:p>
          <a:p>
            <a:pPr marL="171450" indent="-171450">
              <a:buFont typeface="Arial" panose="020B0604020202020204" pitchFamily="34" charset="0"/>
              <a:buChar char="•"/>
            </a:pPr>
            <a:r>
              <a:rPr lang="en-US" dirty="0"/>
              <a:t>These set of four slides are used in bullet format in the Prospectus. They then provide the outline for the Data Collection section in Chapter 3 in the Proposal.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lang="en-US" dirty="0"/>
              <a:t>This Slide: This third slide only discusses the specific detailed steps to collect the data. </a:t>
            </a:r>
          </a:p>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a:pPr>
            <a:r>
              <a:rPr lang="en-US" dirty="0"/>
              <a:t>**Note: Do not alter the names on the slides, and do not change the order of the four data collection slides or the bullets within them.  It is important to show the bullets in the order in which they would occur.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b="1" u="sng" dirty="0"/>
              <a:t>Slide Requirements: </a:t>
            </a:r>
          </a:p>
          <a:p>
            <a:pPr marL="228600" indent="-228600">
              <a:buFont typeface="+mj-lt"/>
              <a:buAutoNum type="arabicPeriod"/>
            </a:pPr>
            <a:r>
              <a:rPr lang="en-US" b="1" u="none" dirty="0"/>
              <a:t>Complete this slide based on the Primary Sampling Plan (Plan A) identified on the previous slide. </a:t>
            </a:r>
          </a:p>
          <a:p>
            <a:pPr marL="685800" lvl="1" indent="-228600">
              <a:buFont typeface="Arial" panose="020B0604020202020204" pitchFamily="34" charset="0"/>
              <a:buChar char="•"/>
            </a:pPr>
            <a:r>
              <a:rPr lang="en-US" b="0" u="none" dirty="0"/>
              <a:t>Optional: Duplicate this slide to outline the steps for Plan B – instructors/chairs may ask for or require this based on feasibility assessment of Plan A</a:t>
            </a:r>
          </a:p>
          <a:p>
            <a:pPr marL="228600" indent="-228600">
              <a:buFont typeface="+mj-lt"/>
              <a:buAutoNum type="arabicPeriod"/>
            </a:pPr>
            <a:r>
              <a:rPr lang="en-US" b="0" u="none" dirty="0"/>
              <a:t>Provide step-by-step detailed instructions regarding how you plan to collect your data. </a:t>
            </a:r>
          </a:p>
          <a:p>
            <a:pPr marL="228600" indent="-228600">
              <a:buFont typeface="+mj-lt"/>
              <a:buAutoNum type="arabicPeriod"/>
            </a:pPr>
            <a:r>
              <a:rPr lang="en-US" b="0" u="none" dirty="0"/>
              <a:t>Steps should detail how each instrument will be completed by the participants, including:</a:t>
            </a:r>
          </a:p>
          <a:p>
            <a:pPr marL="685800" lvl="1" indent="-228600">
              <a:buFont typeface="Arial" panose="020B0604020202020204" pitchFamily="34" charset="0"/>
              <a:buChar char="•"/>
            </a:pPr>
            <a:r>
              <a:rPr lang="en-US" b="0" u="none" dirty="0"/>
              <a:t>How you plan to obtain informed consent(s). </a:t>
            </a:r>
          </a:p>
          <a:p>
            <a:pPr marL="685800" lvl="1" indent="-228600">
              <a:buFont typeface="Arial" panose="020B0604020202020204" pitchFamily="34" charset="0"/>
              <a:buChar char="•"/>
            </a:pPr>
            <a:r>
              <a:rPr lang="en-US" b="0" u="none" dirty="0"/>
              <a:t>How each instrument will be completed (who, what, when, how, where)</a:t>
            </a:r>
          </a:p>
          <a:p>
            <a:pPr marL="685800" lvl="1" indent="-228600">
              <a:buFont typeface="Arial" panose="020B0604020202020204" pitchFamily="34" charset="0"/>
              <a:buChar char="•"/>
            </a:pPr>
            <a:r>
              <a:rPr lang="en-US" b="0" u="none" dirty="0"/>
              <a:t>Discuss any demographic information you plan to obtain and when.</a:t>
            </a:r>
          </a:p>
          <a:p>
            <a:pPr marL="228600" lvl="0" indent="-228600">
              <a:buFont typeface="+mj-lt"/>
              <a:buAutoNum type="arabicPeriod"/>
            </a:pPr>
            <a:r>
              <a:rPr lang="en-US" b="0" u="none" dirty="0"/>
              <a:t>Present the steps in chronological order for each instrument.</a:t>
            </a:r>
          </a:p>
          <a:p>
            <a:pPr marL="228600" indent="-228600">
              <a:buFont typeface="+mj-lt"/>
              <a:buAutoNum type="arabicPeriod"/>
            </a:pPr>
            <a:endParaRPr lang="en-US" b="0" u="none" dirty="0"/>
          </a:p>
          <a:p>
            <a:pPr marL="0" indent="0">
              <a:buFont typeface="+mj-lt"/>
              <a:buNone/>
            </a:pPr>
            <a:r>
              <a:rPr lang="en-US" b="1" u="sng" dirty="0"/>
              <a:t>Hint: </a:t>
            </a:r>
          </a:p>
          <a:p>
            <a:pPr marL="171450" indent="-171450">
              <a:buFont typeface="Arial" panose="020B0604020202020204" pitchFamily="34" charset="0"/>
              <a:buChar char="•"/>
            </a:pPr>
            <a:r>
              <a:rPr lang="en-US" b="0" u="none" dirty="0"/>
              <a:t>This slide should be sufficiently thorough such that another researcher could use the instructions to collect your data for you. </a:t>
            </a:r>
          </a:p>
          <a:p>
            <a:pPr marL="171450" indent="-171450">
              <a:buFont typeface="Arial" panose="020B0604020202020204" pitchFamily="34" charset="0"/>
              <a:buChar char="•"/>
            </a:pPr>
            <a:r>
              <a:rPr lang="en-US" b="0" u="none" dirty="0"/>
              <a:t>Note: Demographic data might not be a source of data but is required for all studies. Specify when/how demographic information will be collected within the data collection steps</a:t>
            </a:r>
          </a:p>
          <a:p>
            <a:pPr marL="628650" lvl="1" indent="-171450">
              <a:buFont typeface="Arial" panose="020B0604020202020204" pitchFamily="34" charset="0"/>
              <a:buChar char="•"/>
            </a:pPr>
            <a:r>
              <a:rPr lang="en-US" b="0" u="none" dirty="0"/>
              <a:t>i.e., as part of SurveyMonkey including informed consent, demographic questionnaire, and additional survey(s) if applicable</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lang="en-US" b="0" dirty="0"/>
              <a:t>See the Quantitative Knowledge Based for additional resources on data collection: </a:t>
            </a:r>
            <a:r>
              <a:rPr lang="en-US" b="1" dirty="0"/>
              <a:t>https://dc.gcu.edu/research/quantitative/data_collection_and_management</a:t>
            </a:r>
          </a:p>
          <a:p>
            <a:pPr marL="171450" indent="-171450">
              <a:buFont typeface="Arial" panose="020B0604020202020204" pitchFamily="34" charset="0"/>
              <a:buChar char="•"/>
            </a:pPr>
            <a:endParaRPr lang="en-US" b="0" u="none" dirty="0"/>
          </a:p>
          <a:p>
            <a:endParaRPr lang="en-US" dirty="0"/>
          </a:p>
        </p:txBody>
      </p:sp>
      <p:sp>
        <p:nvSpPr>
          <p:cNvPr id="4" name="Footer Placeholder 3"/>
          <p:cNvSpPr>
            <a:spLocks noGrp="1"/>
          </p:cNvSpPr>
          <p:nvPr>
            <p:ph type="ftr" sz="quarter" idx="4"/>
          </p:nvPr>
        </p:nvSpPr>
        <p:spPr/>
        <p:txBody>
          <a:bodyPr/>
          <a:lstStyle/>
          <a:p>
            <a:endParaRPr lang="en-US" dirty="0"/>
          </a:p>
        </p:txBody>
      </p:sp>
      <p:sp>
        <p:nvSpPr>
          <p:cNvPr id="5" name="Slide Number Placeholder 4"/>
          <p:cNvSpPr>
            <a:spLocks noGrp="1"/>
          </p:cNvSpPr>
          <p:nvPr>
            <p:ph type="sldNum" sz="quarter" idx="5"/>
          </p:nvPr>
        </p:nvSpPr>
        <p:spPr/>
        <p:txBody>
          <a:bodyPr/>
          <a:lstStyle/>
          <a:p>
            <a:fld id="{A89C7E07-3C67-C64C-8DA0-0404F6303970}" type="slidenum">
              <a:rPr lang="en-US" smtClean="0"/>
              <a:t>17</a:t>
            </a:fld>
            <a:endParaRPr lang="en-US" dirty="0"/>
          </a:p>
        </p:txBody>
      </p:sp>
    </p:spTree>
    <p:extLst>
      <p:ext uri="{BB962C8B-B14F-4D97-AF65-F5344CB8AC3E}">
        <p14:creationId xmlns:p14="http://schemas.microsoft.com/office/powerpoint/2010/main" val="12127884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Objectives: </a:t>
            </a:r>
          </a:p>
          <a:p>
            <a:pPr marL="171450" indent="-171450">
              <a:buFont typeface="Arial" panose="020B0604020202020204" pitchFamily="34" charset="0"/>
              <a:buChar char="•"/>
            </a:pPr>
            <a:r>
              <a:rPr lang="en-US" dirty="0"/>
              <a:t>There are four separate slides that will comprise the data collection section in the Prospectus and the proposal. </a:t>
            </a:r>
          </a:p>
          <a:p>
            <a:pPr marL="171450" indent="-171450">
              <a:buFont typeface="Arial" panose="020B0604020202020204" pitchFamily="34" charset="0"/>
              <a:buChar char="•"/>
            </a:pPr>
            <a:r>
              <a:rPr lang="en-US" dirty="0"/>
              <a:t>These set of four slides are used in bullet format in the Prospectus. They then provide the outline for the Data Collection section in Chapter 3 in the Proposal.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lang="en-US" dirty="0"/>
              <a:t>This Slide: This fourth slide only discusses the data management and storage process. </a:t>
            </a:r>
          </a:p>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a:pPr>
            <a:r>
              <a:rPr lang="en-US" dirty="0"/>
              <a:t>**Note: Do not alter the names on the slides, and do not change the order of the four data collection slides or the bullets within them.  It is important to show the bullets in the order in which they would occur. **</a:t>
            </a:r>
          </a:p>
          <a:p>
            <a:endParaRPr lang="en-US" dirty="0"/>
          </a:p>
          <a:p>
            <a:r>
              <a:rPr lang="en-US" b="1" u="sng" dirty="0"/>
              <a:t>Slide Requirements: </a:t>
            </a:r>
          </a:p>
          <a:p>
            <a:pPr marL="0" indent="0">
              <a:buNone/>
            </a:pPr>
            <a:r>
              <a:rPr lang="en-US" dirty="0"/>
              <a:t>Answer the four questions on the slide: </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defRPr/>
            </a:pPr>
            <a:r>
              <a:rPr lang="en-US" sz="1200" dirty="0">
                <a:solidFill>
                  <a:schemeClr val="bg2">
                    <a:lumMod val="75000"/>
                    <a:lumOff val="25000"/>
                  </a:schemeClr>
                </a:solidFill>
                <a:cs typeface="Calibri Light" panose="020F0302020204030204" pitchFamily="34" charset="0"/>
              </a:rPr>
              <a:t>Where will you store the data?</a:t>
            </a:r>
          </a:p>
          <a:p>
            <a:pPr marL="228600" indent="-228600">
              <a:buFont typeface="+mj-lt"/>
              <a:buAutoNum type="arabicPeriod"/>
            </a:pPr>
            <a:r>
              <a:rPr lang="en-US" sz="2100" dirty="0">
                <a:solidFill>
                  <a:schemeClr val="bg2">
                    <a:lumMod val="75000"/>
                    <a:lumOff val="25000"/>
                  </a:schemeClr>
                </a:solidFill>
                <a:cs typeface="Calibri Light" panose="020F0302020204030204" pitchFamily="34" charset="0"/>
              </a:rPr>
              <a:t>How long will you store the data? </a:t>
            </a:r>
          </a:p>
          <a:p>
            <a:pPr marL="228600" indent="-228600">
              <a:buFont typeface="+mj-lt"/>
              <a:buAutoNum type="arabicPeriod"/>
            </a:pPr>
            <a:r>
              <a:rPr lang="en-US" sz="2100" dirty="0">
                <a:solidFill>
                  <a:schemeClr val="bg2">
                    <a:lumMod val="75000"/>
                    <a:lumOff val="25000"/>
                  </a:schemeClr>
                </a:solidFill>
                <a:cs typeface="Calibri Light" panose="020F0302020204030204" pitchFamily="34" charset="0"/>
              </a:rPr>
              <a:t>How will you protect the data? </a:t>
            </a:r>
          </a:p>
          <a:p>
            <a:pPr marL="228600" indent="-228600">
              <a:buFont typeface="+mj-lt"/>
              <a:buAutoNum type="arabicPeriod"/>
            </a:pPr>
            <a:r>
              <a:rPr lang="en-US" sz="2100" dirty="0">
                <a:solidFill>
                  <a:schemeClr val="bg2">
                    <a:lumMod val="75000"/>
                    <a:lumOff val="25000"/>
                  </a:schemeClr>
                </a:solidFill>
                <a:cs typeface="Calibri Light" panose="020F0302020204030204" pitchFamily="34" charset="0"/>
              </a:rPr>
              <a:t>How will you destroy the data? </a:t>
            </a:r>
            <a:endParaRPr lang="en-US" sz="2100" dirty="0">
              <a:solidFill>
                <a:schemeClr val="bg2">
                  <a:lumMod val="75000"/>
                  <a:lumOff val="25000"/>
                </a:schemeClr>
              </a:solidFill>
            </a:endParaRPr>
          </a:p>
          <a:p>
            <a:pPr marL="0" lvl="0" indent="0">
              <a:buNone/>
            </a:pPr>
            <a:endParaRPr lang="en-US" dirty="0"/>
          </a:p>
          <a:p>
            <a:pPr marL="0" lvl="0" indent="0">
              <a:buNone/>
            </a:pPr>
            <a:r>
              <a:rPr lang="en-US" b="1" u="sng" dirty="0"/>
              <a:t>Hints: </a:t>
            </a:r>
          </a:p>
          <a:p>
            <a:pPr marL="171450" lvl="0" indent="-171450">
              <a:buFont typeface="Arial" panose="020B0604020202020204" pitchFamily="34" charset="0"/>
              <a:buChar char="•"/>
            </a:pPr>
            <a:r>
              <a:rPr lang="en-US" b="0" u="none" dirty="0"/>
              <a:t>Be sure to address all data if management will be different for different data.</a:t>
            </a:r>
          </a:p>
          <a:p>
            <a:pPr marL="171450" lvl="0" indent="-171450">
              <a:buFont typeface="Arial" panose="020B0604020202020204" pitchFamily="34" charset="0"/>
              <a:buChar char="•"/>
            </a:pPr>
            <a:r>
              <a:rPr lang="en-US" b="0" u="none" dirty="0"/>
              <a:t>Protecting data includes participant personal identifiable information.</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lang="en-US" b="0" u="none" dirty="0"/>
              <a:t>Visit https://dc.gcu.edu/irb for resources and additional information.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u="none" dirty="0"/>
              <a:t>Refer to the IRB Informed Consent Template for requirements on data management and storage.</a:t>
            </a:r>
          </a:p>
          <a:p>
            <a:pPr marL="171450" lvl="0" indent="-171450">
              <a:buFont typeface="Arial" panose="020B0604020202020204" pitchFamily="34" charset="0"/>
              <a:buChar char="•"/>
            </a:pPr>
            <a:endParaRPr lang="en-US" b="0" u="none" dirty="0"/>
          </a:p>
        </p:txBody>
      </p:sp>
      <p:sp>
        <p:nvSpPr>
          <p:cNvPr id="4" name="Footer Placeholder 3"/>
          <p:cNvSpPr>
            <a:spLocks noGrp="1"/>
          </p:cNvSpPr>
          <p:nvPr>
            <p:ph type="ftr" sz="quarter" idx="4"/>
          </p:nvPr>
        </p:nvSpPr>
        <p:spPr/>
        <p:txBody>
          <a:bodyPr/>
          <a:lstStyle/>
          <a:p>
            <a:endParaRPr lang="en-US" dirty="0"/>
          </a:p>
        </p:txBody>
      </p:sp>
      <p:sp>
        <p:nvSpPr>
          <p:cNvPr id="5" name="Slide Number Placeholder 4"/>
          <p:cNvSpPr>
            <a:spLocks noGrp="1"/>
          </p:cNvSpPr>
          <p:nvPr>
            <p:ph type="sldNum" sz="quarter" idx="5"/>
          </p:nvPr>
        </p:nvSpPr>
        <p:spPr/>
        <p:txBody>
          <a:bodyPr/>
          <a:lstStyle/>
          <a:p>
            <a:fld id="{A89C7E07-3C67-C64C-8DA0-0404F6303970}" type="slidenum">
              <a:rPr lang="en-US" smtClean="0"/>
              <a:t>18</a:t>
            </a:fld>
            <a:endParaRPr lang="en-US" dirty="0"/>
          </a:p>
        </p:txBody>
      </p:sp>
    </p:spTree>
    <p:extLst>
      <p:ext uri="{BB962C8B-B14F-4D97-AF65-F5344CB8AC3E}">
        <p14:creationId xmlns:p14="http://schemas.microsoft.com/office/powerpoint/2010/main" val="2254357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Objectives: </a:t>
            </a:r>
          </a:p>
          <a:p>
            <a:pPr marL="171450" indent="-171450">
              <a:buFont typeface="Arial" panose="020B0604020202020204" pitchFamily="34" charset="0"/>
              <a:buChar char="•"/>
            </a:pPr>
            <a:r>
              <a:rPr lang="en-US" dirty="0"/>
              <a:t>The following slides show the approach to cover for quantitative analysis.</a:t>
            </a:r>
          </a:p>
          <a:p>
            <a:pPr marL="171450" indent="-171450">
              <a:buFont typeface="Arial" panose="020B0604020202020204" pitchFamily="34" charset="0"/>
              <a:buChar char="•"/>
            </a:pPr>
            <a:r>
              <a:rPr lang="en-US" dirty="0"/>
              <a:t>The information on this slide will be used to inform the Data Analysis section of Ch. 3</a:t>
            </a:r>
          </a:p>
          <a:p>
            <a:pPr marL="171450" indent="-171450">
              <a:buFont typeface="Arial" panose="020B0604020202020204" pitchFamily="34" charset="0"/>
              <a:buChar char="•"/>
            </a:pPr>
            <a:r>
              <a:rPr lang="en-US" dirty="0"/>
              <a:t>This set of steps may require more than one slide. </a:t>
            </a:r>
          </a:p>
          <a:p>
            <a:endParaRPr lang="en-US" dirty="0"/>
          </a:p>
          <a:p>
            <a:r>
              <a:rPr lang="en-US" b="1" u="sng" dirty="0"/>
              <a:t>Slide Requirements: </a:t>
            </a:r>
          </a:p>
          <a:p>
            <a:pPr marL="228600" indent="-228600">
              <a:buAutoNum type="arabicPeriod"/>
            </a:pPr>
            <a:r>
              <a:rPr lang="en-US" dirty="0"/>
              <a:t>Replace the subtitle with the analytic test used (i.e., Pearson correlation, Multiple Linear Regression, independent samples </a:t>
            </a:r>
            <a:r>
              <a:rPr lang="en-US" i="1" dirty="0"/>
              <a:t>t-</a:t>
            </a:r>
            <a:r>
              <a:rPr lang="en-US" i="0" dirty="0"/>
              <a:t>test, ANOVA, etc.</a:t>
            </a:r>
            <a:r>
              <a:rPr lang="en-US" dirty="0"/>
              <a:t>).</a:t>
            </a:r>
          </a:p>
          <a:p>
            <a:pPr marL="228600" indent="-228600">
              <a:buAutoNum type="arabicPeriod"/>
            </a:pPr>
            <a:r>
              <a:rPr lang="en-US" dirty="0"/>
              <a:t>Identify each step you will take to analyze the data.</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1800" dirty="0">
                <a:effectLst/>
                <a:latin typeface="Segoe UI" panose="020B0502040204020203" pitchFamily="34" charset="0"/>
              </a:rPr>
              <a:t>Describe how the hypothesis will be tested. </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dirty="0">
                <a:effectLst/>
                <a:latin typeface="Segoe UI" panose="020B0502040204020203" pitchFamily="34" charset="0"/>
              </a:rPr>
              <a:t>Describe the type of results that would be reported for the selected analysis.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dirty="0">
                <a:effectLst/>
                <a:latin typeface="Segoe UI" panose="020B0502040204020203" pitchFamily="34" charset="0"/>
              </a:rPr>
              <a:t>Present how one would determine the disposition of the hypothesis testing.</a:t>
            </a:r>
            <a:r>
              <a:rPr lang="en-US" dirty="0"/>
              <a:t> </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Create a slide for each hypothesis or set of hypotheses if an analysis addresses multiple hypotheses. Two are included in this template. If a third or more are needed, duplicate this slide. </a:t>
            </a:r>
          </a:p>
          <a:p>
            <a:pPr marL="228600" indent="-228600">
              <a:buAutoNum type="arabicPeriod"/>
            </a:pPr>
            <a:endParaRPr lang="en-US" dirty="0"/>
          </a:p>
          <a:p>
            <a:pPr marL="0" indent="0">
              <a:buNone/>
            </a:pPr>
            <a:r>
              <a:rPr lang="en-US" b="1" u="sng" dirty="0"/>
              <a:t>Hints: </a:t>
            </a:r>
          </a:p>
          <a:p>
            <a:pPr marL="171450" indent="-171450">
              <a:buFont typeface="Arial" panose="020B0604020202020204" pitchFamily="34" charset="0"/>
              <a:buChar char="•"/>
            </a:pPr>
            <a:r>
              <a:rPr lang="en-US" dirty="0"/>
              <a:t>Many learners use Laerd.com for determining the proper statistical analysis and learning the chronological steps needed to complete that analysis. Visit https://dc.gcu.edu/documents/tools/researchtools/statistical-research-folder/laerd_statistics for a discount code.</a:t>
            </a:r>
          </a:p>
          <a:p>
            <a:pPr marL="171450" indent="-171450">
              <a:buFont typeface="Arial" panose="020B0604020202020204" pitchFamily="34" charset="0"/>
              <a:buChar char="•"/>
            </a:pPr>
            <a:r>
              <a:rPr lang="en-US" dirty="0"/>
              <a:t>If applicable, don’t forget to include cleaning the data, program(s) used if any, descriptive statistics for the variables and demographic data, etc.</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lang="en-US" dirty="0"/>
              <a:t>See the Quantitative Knowledge Base for resources on data analysis: </a:t>
            </a:r>
            <a:r>
              <a:rPr lang="en-US" b="1" dirty="0"/>
              <a:t>https://dc.gcu.edu/research/quantitative/data_analysis_procedures</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endParaRPr lang="en-US" dirty="0"/>
          </a:p>
        </p:txBody>
      </p:sp>
      <p:sp>
        <p:nvSpPr>
          <p:cNvPr id="4" name="Footer Placeholder 3"/>
          <p:cNvSpPr>
            <a:spLocks noGrp="1"/>
          </p:cNvSpPr>
          <p:nvPr>
            <p:ph type="ftr" sz="quarter" idx="4"/>
          </p:nvPr>
        </p:nvSpPr>
        <p:spPr/>
        <p:txBody>
          <a:bodyPr/>
          <a:lstStyle/>
          <a:p>
            <a:endParaRPr lang="en-US" dirty="0"/>
          </a:p>
        </p:txBody>
      </p:sp>
      <p:sp>
        <p:nvSpPr>
          <p:cNvPr id="5" name="Slide Number Placeholder 4"/>
          <p:cNvSpPr>
            <a:spLocks noGrp="1"/>
          </p:cNvSpPr>
          <p:nvPr>
            <p:ph type="sldNum" sz="quarter" idx="5"/>
          </p:nvPr>
        </p:nvSpPr>
        <p:spPr/>
        <p:txBody>
          <a:bodyPr/>
          <a:lstStyle/>
          <a:p>
            <a:fld id="{A89C7E07-3C67-C64C-8DA0-0404F6303970}" type="slidenum">
              <a:rPr lang="en-US" smtClean="0"/>
              <a:t>19</a:t>
            </a:fld>
            <a:endParaRPr lang="en-US" dirty="0"/>
          </a:p>
        </p:txBody>
      </p:sp>
    </p:spTree>
    <p:extLst>
      <p:ext uri="{BB962C8B-B14F-4D97-AF65-F5344CB8AC3E}">
        <p14:creationId xmlns:p14="http://schemas.microsoft.com/office/powerpoint/2010/main" val="13600738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Objectives: </a:t>
            </a:r>
          </a:p>
          <a:p>
            <a:pPr marL="171450" indent="-171450">
              <a:buFont typeface="Arial" panose="020B0604020202020204" pitchFamily="34" charset="0"/>
              <a:buChar char="•"/>
            </a:pPr>
            <a:r>
              <a:rPr lang="en-US" dirty="0"/>
              <a:t>Identify and discuss the feasibility of your proposed study based on the Feasibility &amp; Benefits Checklist located in the Dissertation Template appendices. </a:t>
            </a:r>
          </a:p>
          <a:p>
            <a:pPr marL="171450" indent="-171450">
              <a:buFont typeface="Arial" panose="020B0604020202020204" pitchFamily="34" charset="0"/>
              <a:buChar char="•"/>
            </a:pPr>
            <a:r>
              <a:rPr lang="en-US" dirty="0"/>
              <a:t>The information on this slide will be used to inform the Ethical Considerations section in Ch. 3. </a:t>
            </a:r>
          </a:p>
          <a:p>
            <a:pPr marL="171450" indent="-171450">
              <a:buFont typeface="Arial" panose="020B0604020202020204" pitchFamily="34" charset="0"/>
              <a:buChar char="•"/>
            </a:pPr>
            <a:r>
              <a:rPr lang="en-US" dirty="0"/>
              <a:t>As part of preparation for this slide, you will complete the Feasibility &amp; Benefits Checklist located in the dissertation template appendices, a required appendix in your dissertation.</a:t>
            </a:r>
          </a:p>
          <a:p>
            <a:endParaRPr lang="en-US" dirty="0"/>
          </a:p>
          <a:p>
            <a:r>
              <a:rPr lang="en-US" b="1" u="sng" dirty="0"/>
              <a:t>Slide Requirements for Slide 1:</a:t>
            </a:r>
          </a:p>
          <a:p>
            <a:pPr marL="0" indent="0">
              <a:buFont typeface="+mj-lt"/>
              <a:buNone/>
            </a:pPr>
            <a:r>
              <a:rPr lang="en-US" dirty="0"/>
              <a:t>Complete the following bullets in order of presentation: </a:t>
            </a:r>
          </a:p>
          <a:p>
            <a:pPr marL="228600" indent="-228600">
              <a:buFont typeface="+mj-lt"/>
              <a:buAutoNum type="arabicPeriod"/>
            </a:pPr>
            <a:r>
              <a:rPr lang="en-US" dirty="0"/>
              <a:t>Resources for Study: </a:t>
            </a:r>
          </a:p>
          <a:p>
            <a:pPr marL="685800" lvl="1" indent="-228600">
              <a:buFont typeface="+mj-lt"/>
              <a:buAutoNum type="alphaLcParenR"/>
            </a:pPr>
            <a:r>
              <a:rPr lang="en-US" dirty="0"/>
              <a:t>What, if any, authorization(s) are required as well as how you will obtain authorization? If no authorization is needed, why not? </a:t>
            </a:r>
          </a:p>
          <a:p>
            <a:pPr marL="685800" lvl="1" indent="-228600">
              <a:buFont typeface="+mj-lt"/>
              <a:buAutoNum type="alphaLcParenR"/>
            </a:pPr>
            <a:r>
              <a:rPr lang="en-US" dirty="0"/>
              <a:t>What, if any, access to site resources will you need? (i.e., building access, computer programs, etc.)</a:t>
            </a:r>
          </a:p>
          <a:p>
            <a:pPr marL="685800" lvl="1" indent="-228600">
              <a:buFont typeface="+mj-lt"/>
              <a:buAutoNum type="alphaLcParenR"/>
            </a:pPr>
            <a:r>
              <a:rPr lang="en-US" dirty="0"/>
              <a:t>Additional trainings necessary (i.e., instrument certifications, etc.)</a:t>
            </a:r>
          </a:p>
          <a:p>
            <a:pPr marL="685800" lvl="1" indent="-228600">
              <a:buFont typeface="+mj-lt"/>
              <a:buAutoNum type="alphaLcParenR"/>
            </a:pPr>
            <a:r>
              <a:rPr lang="en-US" dirty="0"/>
              <a:t>Any other resources you will need to complete this study.</a:t>
            </a:r>
          </a:p>
          <a:p>
            <a:pPr marL="228600" indent="-228600">
              <a:buFont typeface="+mj-lt"/>
              <a:buAutoNum type="arabicPeriod"/>
            </a:pPr>
            <a:r>
              <a:rPr lang="en-US" dirty="0"/>
              <a:t>Ethical Concerns/Considerations: </a:t>
            </a:r>
          </a:p>
          <a:p>
            <a:pPr marL="685800" lvl="1" indent="-228600">
              <a:buFont typeface="+mj-lt"/>
              <a:buAutoNum type="alphaLcParenR"/>
            </a:pPr>
            <a:r>
              <a:rPr lang="en-US" dirty="0"/>
              <a:t>What risks, if any, are present? How will you mitigate these risks? </a:t>
            </a:r>
          </a:p>
          <a:p>
            <a:pPr marL="685800" lvl="1" indent="-228600">
              <a:buFont typeface="+mj-lt"/>
              <a:buAutoNum type="alphaLcParenR"/>
            </a:pPr>
            <a:r>
              <a:rPr lang="en-US" dirty="0"/>
              <a:t>What benefits are there to participants? </a:t>
            </a:r>
          </a:p>
          <a:p>
            <a:pPr marL="228600" lvl="0" indent="-228600">
              <a:buFont typeface="+mj-lt"/>
              <a:buAutoNum type="arabicPeriod"/>
            </a:pPr>
            <a:r>
              <a:rPr lang="en-US" b="1" dirty="0"/>
              <a:t>Once this slide is completed, delete the original Feasibility Slide 1 completed in the RSD 1 section. </a:t>
            </a:r>
          </a:p>
          <a:p>
            <a:pPr marL="685800" lvl="1" indent="-228600">
              <a:buFont typeface="+mj-lt"/>
              <a:buAutoNum type="alphaLcParenR"/>
            </a:pPr>
            <a:endParaRPr lang="en-US" dirty="0"/>
          </a:p>
          <a:p>
            <a:endParaRPr lang="en-US" dirty="0"/>
          </a:p>
          <a:p>
            <a:r>
              <a:rPr lang="en-US" b="1" u="sng" dirty="0"/>
              <a:t>Hint: </a:t>
            </a:r>
          </a:p>
          <a:p>
            <a:pPr marL="171450" indent="-171450">
              <a:buFont typeface="Arial" panose="020B0604020202020204" pitchFamily="34" charset="0"/>
              <a:buChar char="•"/>
            </a:pPr>
            <a:r>
              <a:rPr lang="en-US" b="0" u="none" dirty="0"/>
              <a:t>Visit https://dc.gcu.edu/irb for additional resources and information</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lang="en-US" b="0" u="none" dirty="0"/>
              <a:t>Not sure what to consider? Use the dissertation template “Feasibility and Benefits Checklist” in the appendices.</a:t>
            </a:r>
          </a:p>
          <a:p>
            <a:pPr marL="171450" indent="-171450">
              <a:buFont typeface="Arial" panose="020B0604020202020204" pitchFamily="34" charset="0"/>
              <a:buChar char="•"/>
            </a:pPr>
            <a:endParaRPr lang="en-US" b="0" u="none" dirty="0"/>
          </a:p>
        </p:txBody>
      </p:sp>
      <p:sp>
        <p:nvSpPr>
          <p:cNvPr id="4" name="Footer Placeholder 3"/>
          <p:cNvSpPr>
            <a:spLocks noGrp="1"/>
          </p:cNvSpPr>
          <p:nvPr>
            <p:ph type="ftr" sz="quarter" idx="4"/>
          </p:nvPr>
        </p:nvSpPr>
        <p:spPr/>
        <p:txBody>
          <a:bodyPr/>
          <a:lstStyle/>
          <a:p>
            <a:endParaRPr lang="en-US" dirty="0"/>
          </a:p>
        </p:txBody>
      </p:sp>
      <p:sp>
        <p:nvSpPr>
          <p:cNvPr id="5" name="Slide Number Placeholder 4"/>
          <p:cNvSpPr>
            <a:spLocks noGrp="1"/>
          </p:cNvSpPr>
          <p:nvPr>
            <p:ph type="sldNum" sz="quarter" idx="5"/>
          </p:nvPr>
        </p:nvSpPr>
        <p:spPr/>
        <p:txBody>
          <a:bodyPr/>
          <a:lstStyle/>
          <a:p>
            <a:fld id="{A89C7E07-3C67-C64C-8DA0-0404F6303970}" type="slidenum">
              <a:rPr lang="en-US" smtClean="0"/>
              <a:t>20</a:t>
            </a:fld>
            <a:endParaRPr lang="en-US" dirty="0"/>
          </a:p>
        </p:txBody>
      </p:sp>
    </p:spTree>
    <p:extLst>
      <p:ext uri="{BB962C8B-B14F-4D97-AF65-F5344CB8AC3E}">
        <p14:creationId xmlns:p14="http://schemas.microsoft.com/office/powerpoint/2010/main" val="9572942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Objectives: </a:t>
            </a:r>
          </a:p>
          <a:p>
            <a:pPr marL="171450" indent="-171450">
              <a:buFont typeface="Arial" panose="020B0604020202020204" pitchFamily="34" charset="0"/>
              <a:buChar char="•"/>
            </a:pPr>
            <a:r>
              <a:rPr lang="en-US" dirty="0"/>
              <a:t>Identify and discuss the feasibility of your proposed study based on the Feasibility &amp; Benefits Checklist located in the Dissertation Template appendices. </a:t>
            </a:r>
          </a:p>
          <a:p>
            <a:pPr marL="171450" indent="-171450">
              <a:buFont typeface="Arial" panose="020B0604020202020204" pitchFamily="34" charset="0"/>
              <a:buChar char="•"/>
            </a:pPr>
            <a:r>
              <a:rPr lang="en-US" dirty="0"/>
              <a:t>The information on this slide will be used to inform the Ethical Considerations section in Ch. 3. </a:t>
            </a:r>
          </a:p>
          <a:p>
            <a:pPr marL="171450" indent="-171450">
              <a:buFont typeface="Arial" panose="020B0604020202020204" pitchFamily="34" charset="0"/>
              <a:buChar char="•"/>
            </a:pPr>
            <a:r>
              <a:rPr lang="en-US" dirty="0"/>
              <a:t>As part of preparation for this slide, you will complete the Feasibility &amp; Benefits Checklist located in the dissertation template appendices, a required appendix in your dissertation.</a:t>
            </a:r>
          </a:p>
          <a:p>
            <a:endParaRPr lang="en-US" dirty="0"/>
          </a:p>
          <a:p>
            <a:r>
              <a:rPr lang="en-US" b="1" u="sng" dirty="0"/>
              <a:t>Slide Requirements for Slide 2:</a:t>
            </a:r>
          </a:p>
          <a:p>
            <a:pPr marL="0" indent="0">
              <a:buFont typeface="+mj-lt"/>
              <a:buNone/>
            </a:pPr>
            <a:r>
              <a:rPr lang="en-US" dirty="0"/>
              <a:t>Complete the following bullets in order of presentation: </a:t>
            </a:r>
          </a:p>
          <a:p>
            <a:pPr marL="228600" indent="-228600">
              <a:buFont typeface="+mj-lt"/>
              <a:buAutoNum type="arabicPeriod"/>
            </a:pPr>
            <a:r>
              <a:rPr lang="en-US" dirty="0"/>
              <a:t>Study Alignment with Program: </a:t>
            </a:r>
          </a:p>
          <a:p>
            <a:pPr marL="685800" lvl="1" indent="-228600">
              <a:buFont typeface="+mj-lt"/>
              <a:buAutoNum type="alphaLcParenR"/>
            </a:pPr>
            <a:r>
              <a:rPr lang="en-US" dirty="0"/>
              <a:t>Identify your degree program and emphasis.</a:t>
            </a:r>
          </a:p>
          <a:p>
            <a:pPr marL="685800" lvl="1" indent="-228600">
              <a:buFont typeface="+mj-lt"/>
              <a:buAutoNum type="alphaLcParenR"/>
            </a:pPr>
            <a:r>
              <a:rPr lang="en-US" dirty="0"/>
              <a:t>Describe how your study aligns with your overall degree program (i.e. Business Administration, Organizational Leadership, General Psychology, etc.).</a:t>
            </a:r>
          </a:p>
          <a:p>
            <a:pPr marL="228600" indent="-228600">
              <a:buFont typeface="+mj-lt"/>
              <a:buAutoNum type="arabicPeriod"/>
            </a:pPr>
            <a:r>
              <a:rPr lang="en-US" dirty="0"/>
              <a:t>Feasibility Concerns: </a:t>
            </a:r>
          </a:p>
          <a:p>
            <a:pPr marL="685800" lvl="1" indent="-228600">
              <a:buFont typeface="+mj-lt"/>
              <a:buAutoNum type="alphaLcParenR"/>
            </a:pPr>
            <a:r>
              <a:rPr lang="en-US" dirty="0"/>
              <a:t>What obstacles might you face, and what are your backup plans? </a:t>
            </a:r>
          </a:p>
          <a:p>
            <a:pPr marL="685800" lvl="1" indent="-228600">
              <a:buFont typeface="+mj-lt"/>
              <a:buAutoNum type="alphaLcParenR"/>
            </a:pPr>
            <a:r>
              <a:rPr lang="en-US" dirty="0"/>
              <a:t>Based on the information you have learned, is your study feasible? Why or why not? How can you make your study more manageable? </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defRPr/>
            </a:pPr>
            <a:r>
              <a:rPr lang="en-US" b="1" dirty="0"/>
              <a:t>Once this slide is completed, delete the original Feasibility Slide 2 completed in the RSD 1 section. </a:t>
            </a:r>
          </a:p>
          <a:p>
            <a:endParaRPr lang="en-US" dirty="0"/>
          </a:p>
          <a:p>
            <a:r>
              <a:rPr lang="en-US" b="1" u="sng" dirty="0"/>
              <a:t>Hint: </a:t>
            </a:r>
          </a:p>
          <a:p>
            <a:pPr marL="171450" indent="-171450">
              <a:buFont typeface="Arial" panose="020B0604020202020204" pitchFamily="34" charset="0"/>
              <a:buChar char="•"/>
            </a:pPr>
            <a:r>
              <a:rPr lang="en-US" b="0" u="none" dirty="0"/>
              <a:t>Visit https://dc.gcu.edu/irb for additional resources and information</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lang="en-US" b="0" u="none" dirty="0"/>
              <a:t>Not sure what to consider? Use the dissertation template “Feasibility and Benefits Checklist” in the appendices.</a:t>
            </a:r>
          </a:p>
          <a:p>
            <a:pPr marL="171450" indent="-171450">
              <a:buFont typeface="Arial" panose="020B0604020202020204" pitchFamily="34" charset="0"/>
              <a:buChar char="•"/>
            </a:pPr>
            <a:endParaRPr lang="en-US" b="0" u="none" dirty="0"/>
          </a:p>
          <a:p>
            <a:endParaRPr lang="en-US" b="0" u="none" dirty="0"/>
          </a:p>
        </p:txBody>
      </p:sp>
      <p:sp>
        <p:nvSpPr>
          <p:cNvPr id="4" name="Footer Placeholder 3"/>
          <p:cNvSpPr>
            <a:spLocks noGrp="1"/>
          </p:cNvSpPr>
          <p:nvPr>
            <p:ph type="ftr" sz="quarter" idx="4"/>
          </p:nvPr>
        </p:nvSpPr>
        <p:spPr/>
        <p:txBody>
          <a:bodyPr/>
          <a:lstStyle/>
          <a:p>
            <a:endParaRPr lang="en-US" dirty="0"/>
          </a:p>
        </p:txBody>
      </p:sp>
      <p:sp>
        <p:nvSpPr>
          <p:cNvPr id="5" name="Slide Number Placeholder 4"/>
          <p:cNvSpPr>
            <a:spLocks noGrp="1"/>
          </p:cNvSpPr>
          <p:nvPr>
            <p:ph type="sldNum" sz="quarter" idx="5"/>
          </p:nvPr>
        </p:nvSpPr>
        <p:spPr/>
        <p:txBody>
          <a:bodyPr/>
          <a:lstStyle/>
          <a:p>
            <a:fld id="{A89C7E07-3C67-C64C-8DA0-0404F6303970}" type="slidenum">
              <a:rPr lang="en-US" smtClean="0"/>
              <a:t>21</a:t>
            </a:fld>
            <a:endParaRPr lang="en-US" dirty="0"/>
          </a:p>
        </p:txBody>
      </p:sp>
    </p:spTree>
    <p:extLst>
      <p:ext uri="{BB962C8B-B14F-4D97-AF65-F5344CB8AC3E}">
        <p14:creationId xmlns:p14="http://schemas.microsoft.com/office/powerpoint/2010/main" val="33095225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Objectives: </a:t>
            </a:r>
          </a:p>
          <a:p>
            <a:pPr marL="171450" indent="-171450">
              <a:buFont typeface="Arial" panose="020B0604020202020204" pitchFamily="34" charset="0"/>
              <a:buChar char="•"/>
            </a:pPr>
            <a:r>
              <a:rPr lang="en-US" dirty="0"/>
              <a:t>This slide is a placeholder for your defense of your topic to your residency instructor, peers, and/or dissertation committee. </a:t>
            </a:r>
          </a:p>
          <a:p>
            <a:pPr marL="171450" indent="-171450">
              <a:buFont typeface="Arial" panose="020B0604020202020204" pitchFamily="34" charset="0"/>
              <a:buChar char="•"/>
            </a:pPr>
            <a:r>
              <a:rPr lang="en-US" dirty="0"/>
              <a:t>Learners should be prepared to answer questions about their study, including the key points, alignment, and feasibility.</a:t>
            </a:r>
          </a:p>
          <a:p>
            <a:pPr marL="171450" indent="-171450">
              <a:buFont typeface="Arial" panose="020B0604020202020204" pitchFamily="34" charset="0"/>
              <a:buChar char="•"/>
            </a:pPr>
            <a:endParaRPr lang="en-US" dirty="0"/>
          </a:p>
          <a:p>
            <a:pPr marL="0" indent="0">
              <a:buFont typeface="Arial" panose="020B0604020202020204" pitchFamily="34" charset="0"/>
              <a:buNone/>
            </a:pPr>
            <a:r>
              <a:rPr lang="en-US" b="1" u="sng" dirty="0"/>
              <a:t>Slide Requirements: </a:t>
            </a:r>
          </a:p>
          <a:p>
            <a:pPr marL="171450" indent="-171450">
              <a:buFont typeface="Arial" panose="020B0604020202020204" pitchFamily="34" charset="0"/>
              <a:buChar char="•"/>
            </a:pPr>
            <a:r>
              <a:rPr lang="en-US" b="0" u="none" dirty="0"/>
              <a:t>This slide is for presentation purposes </a:t>
            </a:r>
            <a:r>
              <a:rPr lang="en-US" b="0" u="none"/>
              <a:t>in RSD-881/884 </a:t>
            </a:r>
            <a:r>
              <a:rPr lang="en-US" b="0" u="none" dirty="0"/>
              <a:t>only – no content is required.</a:t>
            </a:r>
          </a:p>
          <a:p>
            <a:pPr marL="171450" indent="-171450">
              <a:buFont typeface="Arial" panose="020B0604020202020204" pitchFamily="34" charset="0"/>
              <a:buChar char="•"/>
            </a:pPr>
            <a:endParaRPr lang="en-US" dirty="0"/>
          </a:p>
        </p:txBody>
      </p:sp>
      <p:sp>
        <p:nvSpPr>
          <p:cNvPr id="4" name="Footer Placeholder 3"/>
          <p:cNvSpPr>
            <a:spLocks noGrp="1"/>
          </p:cNvSpPr>
          <p:nvPr>
            <p:ph type="ftr" sz="quarter" idx="4"/>
          </p:nvPr>
        </p:nvSpPr>
        <p:spPr/>
        <p:txBody>
          <a:bodyPr/>
          <a:lstStyle/>
          <a:p>
            <a:endParaRPr lang="en-US" dirty="0"/>
          </a:p>
        </p:txBody>
      </p:sp>
      <p:sp>
        <p:nvSpPr>
          <p:cNvPr id="5" name="Slide Number Placeholder 4"/>
          <p:cNvSpPr>
            <a:spLocks noGrp="1"/>
          </p:cNvSpPr>
          <p:nvPr>
            <p:ph type="sldNum" sz="quarter" idx="5"/>
          </p:nvPr>
        </p:nvSpPr>
        <p:spPr/>
        <p:txBody>
          <a:bodyPr/>
          <a:lstStyle/>
          <a:p>
            <a:fld id="{A89C7E07-3C67-C64C-8DA0-0404F6303970}" type="slidenum">
              <a:rPr lang="en-US" smtClean="0"/>
              <a:t>22</a:t>
            </a:fld>
            <a:endParaRPr lang="en-US" dirty="0"/>
          </a:p>
        </p:txBody>
      </p:sp>
    </p:spTree>
    <p:extLst>
      <p:ext uri="{BB962C8B-B14F-4D97-AF65-F5344CB8AC3E}">
        <p14:creationId xmlns:p14="http://schemas.microsoft.com/office/powerpoint/2010/main" val="41619780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Slide Requirements: </a:t>
            </a:r>
          </a:p>
          <a:p>
            <a:r>
              <a:rPr lang="en-US" dirty="0"/>
              <a:t>Include a fully APA-formatted reference for each citation used in the slides. </a:t>
            </a:r>
          </a:p>
          <a:p>
            <a:r>
              <a:rPr lang="en-US" dirty="0"/>
              <a:t>Add additional slides as needed</a:t>
            </a:r>
          </a:p>
        </p:txBody>
      </p:sp>
      <p:sp>
        <p:nvSpPr>
          <p:cNvPr id="4" name="Footer Placeholder 3"/>
          <p:cNvSpPr>
            <a:spLocks noGrp="1"/>
          </p:cNvSpPr>
          <p:nvPr>
            <p:ph type="ftr" sz="quarter" idx="4"/>
          </p:nvPr>
        </p:nvSpPr>
        <p:spPr/>
        <p:txBody>
          <a:bodyPr/>
          <a:lstStyle/>
          <a:p>
            <a:endParaRPr lang="en-US" dirty="0"/>
          </a:p>
        </p:txBody>
      </p:sp>
      <p:sp>
        <p:nvSpPr>
          <p:cNvPr id="5" name="Slide Number Placeholder 4"/>
          <p:cNvSpPr>
            <a:spLocks noGrp="1"/>
          </p:cNvSpPr>
          <p:nvPr>
            <p:ph type="sldNum" sz="quarter" idx="5"/>
          </p:nvPr>
        </p:nvSpPr>
        <p:spPr/>
        <p:txBody>
          <a:bodyPr/>
          <a:lstStyle/>
          <a:p>
            <a:fld id="{A89C7E07-3C67-C64C-8DA0-0404F6303970}" type="slidenum">
              <a:rPr lang="en-US" smtClean="0"/>
              <a:t>23</a:t>
            </a:fld>
            <a:endParaRPr lang="en-US" dirty="0"/>
          </a:p>
        </p:txBody>
      </p:sp>
    </p:spTree>
    <p:extLst>
      <p:ext uri="{BB962C8B-B14F-4D97-AF65-F5344CB8AC3E}">
        <p14:creationId xmlns:p14="http://schemas.microsoft.com/office/powerpoint/2010/main" val="68138952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p:nvPr>
        </p:nvSpPr>
        <p:spPr>
          <a:xfrm>
            <a:off x="6367054" y="2116182"/>
            <a:ext cx="5491571" cy="1514019"/>
          </a:xfrm>
          <a:prstGeom prst="rect">
            <a:avLst/>
          </a:prstGeom>
        </p:spPr>
        <p:txBody>
          <a:bodyPr lIns="0" tIns="0" rIns="0" bIns="0" anchor="b">
            <a:noAutofit/>
          </a:bodyPr>
          <a:lstStyle>
            <a:lvl1pPr algn="l">
              <a:defRPr sz="6000" b="1" i="0" spc="100" baseline="0">
                <a:solidFill>
                  <a:schemeClr val="bg1"/>
                </a:solidFill>
                <a:latin typeface="+mj-lt"/>
              </a:defRPr>
            </a:lvl1pPr>
          </a:lstStyle>
          <a:p>
            <a:r>
              <a:rPr lang="en-US"/>
              <a:t>Click to edit Master title style</a:t>
            </a:r>
            <a:endParaRPr lang="en-US" dirty="0"/>
          </a:p>
        </p:txBody>
      </p:sp>
      <p:grpSp>
        <p:nvGrpSpPr>
          <p:cNvPr id="9" name="Group 8">
            <a:extLst>
              <a:ext uri="{FF2B5EF4-FFF2-40B4-BE49-F238E27FC236}">
                <a16:creationId xmlns:a16="http://schemas.microsoft.com/office/drawing/2014/main" id="{C26C18C3-ED25-DD4B-BA72-24932D54DE37}"/>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rgbClr val="7757A4"/>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rgbClr val="49236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tx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p:nvPr>
        </p:nvSpPr>
        <p:spPr>
          <a:xfrm>
            <a:off x="6367055" y="4549553"/>
            <a:ext cx="5491570" cy="953337"/>
          </a:xfrm>
        </p:spPr>
        <p:txBody>
          <a:bodyPr lIns="0" tIns="0" rIns="0" bIns="0">
            <a:noAutofit/>
          </a:bodyPr>
          <a:lstStyle>
            <a:lvl1pPr marL="0" indent="0">
              <a:buNone/>
              <a:defRPr sz="18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cxnSp>
        <p:nvCxnSpPr>
          <p:cNvPr id="13" name="Straight Connector 12">
            <a:extLst>
              <a:ext uri="{FF2B5EF4-FFF2-40B4-BE49-F238E27FC236}">
                <a16:creationId xmlns:a16="http://schemas.microsoft.com/office/drawing/2014/main" id="{A69706A2-3726-FE4E-B923-E75D48597816}"/>
              </a:ext>
            </a:extLst>
          </p:cNvPr>
          <p:cNvCxnSpPr>
            <a:cxnSpLocks/>
          </p:cNvCxnSpPr>
          <p:nvPr userDrawn="1"/>
        </p:nvCxnSpPr>
        <p:spPr>
          <a:xfrm>
            <a:off x="6367055" y="4252111"/>
            <a:ext cx="5491570" cy="0"/>
          </a:xfrm>
          <a:prstGeom prst="line">
            <a:avLst/>
          </a:prstGeom>
          <a:ln w="101600">
            <a:solidFill>
              <a:srgbClr val="7757A4"/>
            </a:solidFill>
          </a:ln>
        </p:spPr>
        <p:style>
          <a:lnRef idx="1">
            <a:schemeClr val="dk1"/>
          </a:lnRef>
          <a:fillRef idx="0">
            <a:schemeClr val="dk1"/>
          </a:fillRef>
          <a:effectRef idx="0">
            <a:schemeClr val="dk1"/>
          </a:effectRef>
          <a:fontRef idx="minor">
            <a:schemeClr val="tx1"/>
          </a:fontRef>
        </p:style>
      </p:cxnSp>
      <p:pic>
        <p:nvPicPr>
          <p:cNvPr id="17" name="Picture 16">
            <a:extLst>
              <a:ext uri="{FF2B5EF4-FFF2-40B4-BE49-F238E27FC236}">
                <a16:creationId xmlns:a16="http://schemas.microsoft.com/office/drawing/2014/main" id="{8FDF59D7-BB30-7089-FC13-7E0E6057DA2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85436" y="6299793"/>
            <a:ext cx="418391" cy="415945"/>
          </a:xfrm>
          <a:prstGeom prst="rect">
            <a:avLst/>
          </a:prstGeom>
        </p:spPr>
      </p:pic>
      <p:sp>
        <p:nvSpPr>
          <p:cNvPr id="19" name="Footer Placeholder 4">
            <a:extLst>
              <a:ext uri="{FF2B5EF4-FFF2-40B4-BE49-F238E27FC236}">
                <a16:creationId xmlns:a16="http://schemas.microsoft.com/office/drawing/2014/main" id="{B1EF8C6F-EBD9-7831-8714-3155CA265D08}"/>
              </a:ext>
            </a:extLst>
          </p:cNvPr>
          <p:cNvSpPr>
            <a:spLocks noGrp="1"/>
          </p:cNvSpPr>
          <p:nvPr>
            <p:ph type="ftr" sz="quarter" idx="3"/>
          </p:nvPr>
        </p:nvSpPr>
        <p:spPr>
          <a:xfrm>
            <a:off x="10693667" y="6362299"/>
            <a:ext cx="1317821" cy="334189"/>
          </a:xfrm>
          <a:prstGeom prst="rect">
            <a:avLst/>
          </a:prstGeom>
        </p:spPr>
        <p:txBody>
          <a:bodyPr vert="horz" lIns="0" tIns="0" rIns="0" bIns="0" rtlCol="0" anchor="t" anchorCtr="0"/>
          <a:lstStyle>
            <a:lvl1pPr algn="l">
              <a:defRPr sz="1200" b="0" i="0">
                <a:solidFill>
                  <a:schemeClr val="bg1"/>
                </a:solidFill>
                <a:latin typeface="+mj-lt"/>
              </a:defRPr>
            </a:lvl1pPr>
          </a:lstStyle>
          <a:p>
            <a:r>
              <a:rPr lang="en-US" sz="1400"/>
              <a:t>DOCTORATES WITH PURPOSE</a:t>
            </a:r>
            <a:endParaRPr lang="en-US" sz="1400" dirty="0"/>
          </a:p>
        </p:txBody>
      </p:sp>
    </p:spTree>
    <p:extLst>
      <p:ext uri="{BB962C8B-B14F-4D97-AF65-F5344CB8AC3E}">
        <p14:creationId xmlns:p14="http://schemas.microsoft.com/office/powerpoint/2010/main" val="20271085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tx1"/>
        </a:solidFill>
        <a:effectLst/>
      </p:bgPr>
    </p:bg>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F4CB38BE-0FF2-694C-AA3C-D73DBF7C332C}"/>
              </a:ext>
            </a:extLst>
          </p:cNvPr>
          <p:cNvGrpSpPr>
            <a:grpSpLocks/>
          </p:cNvGrpSpPr>
          <p:nvPr userDrawn="1"/>
        </p:nvGrpSpPr>
        <p:grpSpPr bwMode="auto">
          <a:xfrm rot="10800000">
            <a:off x="9509760" y="-3"/>
            <a:ext cx="2682238" cy="2682238"/>
            <a:chOff x="0" y="12289"/>
            <a:chExt cx="3550" cy="3551"/>
          </a:xfrm>
          <a:solidFill>
            <a:schemeClr val="tx1"/>
          </a:solidFill>
        </p:grpSpPr>
        <p:sp>
          <p:nvSpPr>
            <p:cNvPr id="23" name="Freeform 22">
              <a:extLst>
                <a:ext uri="{FF2B5EF4-FFF2-40B4-BE49-F238E27FC236}">
                  <a16:creationId xmlns:a16="http://schemas.microsoft.com/office/drawing/2014/main" id="{F0257420-2EA0-6348-8B9E-1414F529726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4" name="Freeform 23">
              <a:extLst>
                <a:ext uri="{FF2B5EF4-FFF2-40B4-BE49-F238E27FC236}">
                  <a16:creationId xmlns:a16="http://schemas.microsoft.com/office/drawing/2014/main" id="{7FE65C23-C0EF-BB41-884A-01C2A7356159}"/>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5" name="Freeform 24">
              <a:extLst>
                <a:ext uri="{FF2B5EF4-FFF2-40B4-BE49-F238E27FC236}">
                  <a16:creationId xmlns:a16="http://schemas.microsoft.com/office/drawing/2014/main" id="{F73F5EB6-53C7-D44C-9003-FB5A81F9890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pic>
        <p:nvPicPr>
          <p:cNvPr id="3" name="Picture 2">
            <a:extLst>
              <a:ext uri="{FF2B5EF4-FFF2-40B4-BE49-F238E27FC236}">
                <a16:creationId xmlns:a16="http://schemas.microsoft.com/office/drawing/2014/main" id="{BD331693-1E78-4D67-B89E-85C447A6DDA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85436" y="6299793"/>
            <a:ext cx="418391" cy="415945"/>
          </a:xfrm>
          <a:prstGeom prst="rect">
            <a:avLst/>
          </a:prstGeom>
        </p:spPr>
      </p:pic>
      <p:sp>
        <p:nvSpPr>
          <p:cNvPr id="4" name="Footer Placeholder 4">
            <a:extLst>
              <a:ext uri="{FF2B5EF4-FFF2-40B4-BE49-F238E27FC236}">
                <a16:creationId xmlns:a16="http://schemas.microsoft.com/office/drawing/2014/main" id="{A4CF70E2-96F2-F55A-ADA3-A002D841C0B6}"/>
              </a:ext>
            </a:extLst>
          </p:cNvPr>
          <p:cNvSpPr>
            <a:spLocks noGrp="1"/>
          </p:cNvSpPr>
          <p:nvPr>
            <p:ph type="ftr" sz="quarter" idx="3"/>
          </p:nvPr>
        </p:nvSpPr>
        <p:spPr>
          <a:xfrm>
            <a:off x="10693667" y="6362299"/>
            <a:ext cx="1317821" cy="334189"/>
          </a:xfrm>
          <a:prstGeom prst="rect">
            <a:avLst/>
          </a:prstGeom>
        </p:spPr>
        <p:txBody>
          <a:bodyPr vert="horz" lIns="0" tIns="0" rIns="0" bIns="0" rtlCol="0" anchor="t" anchorCtr="0"/>
          <a:lstStyle>
            <a:lvl1pPr algn="l">
              <a:defRPr sz="1200" b="0" i="0">
                <a:solidFill>
                  <a:schemeClr val="bg1"/>
                </a:solidFill>
                <a:latin typeface="+mj-lt"/>
              </a:defRPr>
            </a:lvl1pPr>
          </a:lstStyle>
          <a:p>
            <a:r>
              <a:rPr lang="en-US" sz="1400"/>
              <a:t>DOCTORATES WITH PURPOSE</a:t>
            </a:r>
            <a:endParaRPr lang="en-US" sz="1400" dirty="0"/>
          </a:p>
        </p:txBody>
      </p:sp>
    </p:spTree>
    <p:extLst>
      <p:ext uri="{BB962C8B-B14F-4D97-AF65-F5344CB8AC3E}">
        <p14:creationId xmlns:p14="http://schemas.microsoft.com/office/powerpoint/2010/main" val="2512852299"/>
      </p:ext>
    </p:extLst>
  </p:cSld>
  <p:clrMapOvr>
    <a:masterClrMapping/>
  </p:clrMapOvr>
  <p:extLst>
    <p:ext uri="{DCECCB84-F9BA-43D5-87BE-67443E8EF086}">
      <p15:sldGuideLst xmlns:p15="http://schemas.microsoft.com/office/powerpoint/2012/main">
        <p15:guide id="2" pos="7104">
          <p15:clr>
            <a:srgbClr val="FBAE40"/>
          </p15:clr>
        </p15:guide>
        <p15:guide id="3" pos="4344">
          <p15:clr>
            <a:srgbClr val="FBAE40"/>
          </p15:clr>
        </p15:guide>
        <p15:guide id="4" pos="4560">
          <p15:clr>
            <a:srgbClr val="FBAE40"/>
          </p15:clr>
        </p15:guide>
        <p15:guide id="8" orient="horz" pos="184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option 1">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39F93F26-ED5C-E74E-BFBD-E3054DC1B9C1}"/>
              </a:ext>
            </a:extLst>
          </p:cNvPr>
          <p:cNvSpPr>
            <a:spLocks noGrp="1"/>
          </p:cNvSpPr>
          <p:nvPr>
            <p:ph type="title"/>
          </p:nvPr>
        </p:nvSpPr>
        <p:spPr>
          <a:xfrm>
            <a:off x="964023" y="879063"/>
            <a:ext cx="6436902" cy="610863"/>
          </a:xfrm>
          <a:prstGeom prst="rect">
            <a:avLst/>
          </a:prstGeom>
        </p:spPr>
        <p:txBody>
          <a:bodyPr lIns="0" tIns="0" rIns="0" bIns="0" anchor="b" anchorCtr="0">
            <a:normAutofit/>
          </a:bodyPr>
          <a:lstStyle>
            <a:lvl1pPr>
              <a:defRPr sz="4400" b="1" i="0" spc="50" baseline="0">
                <a:latin typeface="+mj-lt"/>
              </a:defRPr>
            </a:lvl1pPr>
          </a:lstStyle>
          <a:p>
            <a:r>
              <a:rPr lang="en-US"/>
              <a:t>Click to edit Master title style</a:t>
            </a:r>
            <a:endParaRPr lang="en-US" dirty="0"/>
          </a:p>
        </p:txBody>
      </p:sp>
      <p:cxnSp>
        <p:nvCxnSpPr>
          <p:cNvPr id="13" name="Straight Connector 12">
            <a:extLst>
              <a:ext uri="{FF2B5EF4-FFF2-40B4-BE49-F238E27FC236}">
                <a16:creationId xmlns:a16="http://schemas.microsoft.com/office/drawing/2014/main" id="{CF0FD074-81E2-0D4E-8446-C5B415B238A0}"/>
              </a:ext>
            </a:extLst>
          </p:cNvPr>
          <p:cNvCxnSpPr>
            <a:cxnSpLocks/>
          </p:cNvCxnSpPr>
          <p:nvPr userDrawn="1"/>
        </p:nvCxnSpPr>
        <p:spPr>
          <a:xfrm>
            <a:off x="952500" y="1943100"/>
            <a:ext cx="2737756" cy="0"/>
          </a:xfrm>
          <a:prstGeom prst="line">
            <a:avLst/>
          </a:prstGeom>
          <a:ln w="101600">
            <a:solidFill>
              <a:srgbClr val="7757A4"/>
            </a:solidFill>
          </a:ln>
        </p:spPr>
        <p:style>
          <a:lnRef idx="1">
            <a:schemeClr val="dk1"/>
          </a:lnRef>
          <a:fillRef idx="0">
            <a:schemeClr val="dk1"/>
          </a:fillRef>
          <a:effectRef idx="0">
            <a:schemeClr val="dk1"/>
          </a:effectRef>
          <a:fontRef idx="minor">
            <a:schemeClr val="tx1"/>
          </a:fontRef>
        </p:style>
      </p:cxnSp>
      <p:sp>
        <p:nvSpPr>
          <p:cNvPr id="14" name="Text Placeholder 29">
            <a:extLst>
              <a:ext uri="{FF2B5EF4-FFF2-40B4-BE49-F238E27FC236}">
                <a16:creationId xmlns:a16="http://schemas.microsoft.com/office/drawing/2014/main" id="{58AAB058-5FFC-9E4E-AD2E-FB1B4EE51025}"/>
              </a:ext>
            </a:extLst>
          </p:cNvPr>
          <p:cNvSpPr>
            <a:spLocks noGrp="1"/>
          </p:cNvSpPr>
          <p:nvPr>
            <p:ph type="body" sz="quarter" idx="13"/>
          </p:nvPr>
        </p:nvSpPr>
        <p:spPr>
          <a:xfrm>
            <a:off x="966026" y="2748419"/>
            <a:ext cx="2133600" cy="369332"/>
          </a:xfrm>
        </p:spPr>
        <p:txBody>
          <a:bodyPr lIns="0" tIns="0" rIns="0" bIns="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15" name="Text Placeholder 29">
            <a:extLst>
              <a:ext uri="{FF2B5EF4-FFF2-40B4-BE49-F238E27FC236}">
                <a16:creationId xmlns:a16="http://schemas.microsoft.com/office/drawing/2014/main" id="{18ABDA74-C3EC-274D-BE87-AC5B825A2A4C}"/>
              </a:ext>
            </a:extLst>
          </p:cNvPr>
          <p:cNvSpPr>
            <a:spLocks noGrp="1"/>
          </p:cNvSpPr>
          <p:nvPr>
            <p:ph type="body" sz="quarter" idx="14"/>
          </p:nvPr>
        </p:nvSpPr>
        <p:spPr>
          <a:xfrm>
            <a:off x="966026" y="2139923"/>
            <a:ext cx="2133600" cy="205837"/>
          </a:xfrm>
        </p:spPr>
        <p:txBody>
          <a:bodyPr lIns="0" tIns="0" rIns="0" bIns="0">
            <a:noAutofit/>
          </a:bodyPr>
          <a:lstStyle>
            <a:lvl1pPr marL="0" indent="0">
              <a:lnSpc>
                <a:spcPct val="100000"/>
              </a:lnSpc>
              <a:spcBef>
                <a:spcPts val="400"/>
              </a:spcBef>
              <a:buNone/>
              <a:defRPr sz="1800" b="0" i="0">
                <a:solidFill>
                  <a:schemeClr val="bg1"/>
                </a:solidFill>
                <a:latin typeface="+mj-lt"/>
              </a:defRPr>
            </a:lvl1pPr>
            <a:lvl2pPr>
              <a:defRPr sz="4000"/>
            </a:lvl2pPr>
            <a:lvl3pPr>
              <a:defRPr sz="4000"/>
            </a:lvl3pPr>
            <a:lvl4pPr>
              <a:defRPr sz="4000"/>
            </a:lvl4pPr>
            <a:lvl5pPr>
              <a:defRPr sz="4000"/>
            </a:lvl5pPr>
          </a:lstStyle>
          <a:p>
            <a:pPr lvl="0"/>
            <a:r>
              <a:rPr lang="en-US"/>
              <a:t>Click to edit Master text styles</a:t>
            </a:r>
          </a:p>
        </p:txBody>
      </p:sp>
      <p:cxnSp>
        <p:nvCxnSpPr>
          <p:cNvPr id="16" name="Straight Connector 15">
            <a:extLst>
              <a:ext uri="{FF2B5EF4-FFF2-40B4-BE49-F238E27FC236}">
                <a16:creationId xmlns:a16="http://schemas.microsoft.com/office/drawing/2014/main" id="{A3DDE02E-BC75-2645-8725-CA2CFD327A3C}"/>
              </a:ext>
            </a:extLst>
          </p:cNvPr>
          <p:cNvCxnSpPr>
            <a:cxnSpLocks/>
          </p:cNvCxnSpPr>
          <p:nvPr userDrawn="1"/>
        </p:nvCxnSpPr>
        <p:spPr>
          <a:xfrm>
            <a:off x="4419600" y="1943100"/>
            <a:ext cx="2743200" cy="0"/>
          </a:xfrm>
          <a:prstGeom prst="line">
            <a:avLst/>
          </a:prstGeom>
          <a:ln w="101600">
            <a:solidFill>
              <a:srgbClr val="7757A4"/>
            </a:solidFill>
          </a:ln>
        </p:spPr>
        <p:style>
          <a:lnRef idx="1">
            <a:schemeClr val="dk1"/>
          </a:lnRef>
          <a:fillRef idx="0">
            <a:schemeClr val="dk1"/>
          </a:fillRef>
          <a:effectRef idx="0">
            <a:schemeClr val="dk1"/>
          </a:effectRef>
          <a:fontRef idx="minor">
            <a:schemeClr val="tx1"/>
          </a:fontRef>
        </p:style>
      </p:cxnSp>
      <p:sp>
        <p:nvSpPr>
          <p:cNvPr id="17" name="Text Placeholder 29">
            <a:extLst>
              <a:ext uri="{FF2B5EF4-FFF2-40B4-BE49-F238E27FC236}">
                <a16:creationId xmlns:a16="http://schemas.microsoft.com/office/drawing/2014/main" id="{3ABA9FD1-9B74-F14F-81EF-7B3407196B03}"/>
              </a:ext>
            </a:extLst>
          </p:cNvPr>
          <p:cNvSpPr>
            <a:spLocks noGrp="1"/>
          </p:cNvSpPr>
          <p:nvPr>
            <p:ph type="body" sz="quarter" idx="15"/>
          </p:nvPr>
        </p:nvSpPr>
        <p:spPr>
          <a:xfrm>
            <a:off x="4419600" y="2737856"/>
            <a:ext cx="2128157" cy="369332"/>
          </a:xfrm>
        </p:spPr>
        <p:txBody>
          <a:bodyPr lIns="0" tIns="0" rIns="0" bIns="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18" name="Text Placeholder 29">
            <a:extLst>
              <a:ext uri="{FF2B5EF4-FFF2-40B4-BE49-F238E27FC236}">
                <a16:creationId xmlns:a16="http://schemas.microsoft.com/office/drawing/2014/main" id="{0E9E9D03-0186-5B4C-A73F-95ADCD08A44A}"/>
              </a:ext>
            </a:extLst>
          </p:cNvPr>
          <p:cNvSpPr>
            <a:spLocks noGrp="1"/>
          </p:cNvSpPr>
          <p:nvPr>
            <p:ph type="body" sz="quarter" idx="16"/>
          </p:nvPr>
        </p:nvSpPr>
        <p:spPr>
          <a:xfrm>
            <a:off x="4419600" y="2129360"/>
            <a:ext cx="2128157" cy="205837"/>
          </a:xfrm>
        </p:spPr>
        <p:txBody>
          <a:bodyPr lIns="0" tIns="0" rIns="0" bIns="0">
            <a:noAutofit/>
          </a:bodyPr>
          <a:lstStyle>
            <a:lvl1pPr marL="0" indent="0">
              <a:lnSpc>
                <a:spcPct val="100000"/>
              </a:lnSpc>
              <a:spcBef>
                <a:spcPts val="400"/>
              </a:spcBef>
              <a:buNone/>
              <a:defRPr sz="1800" b="0" i="0">
                <a:solidFill>
                  <a:schemeClr val="bg1"/>
                </a:solidFill>
                <a:latin typeface="+mj-lt"/>
              </a:defRPr>
            </a:lvl1pPr>
            <a:lvl2pPr>
              <a:defRPr sz="4000"/>
            </a:lvl2pPr>
            <a:lvl3pPr>
              <a:defRPr sz="4000"/>
            </a:lvl3pPr>
            <a:lvl4pPr>
              <a:defRPr sz="4000"/>
            </a:lvl4pPr>
            <a:lvl5pPr>
              <a:defRPr sz="4000"/>
            </a:lvl5pPr>
          </a:lstStyle>
          <a:p>
            <a:pPr lvl="0"/>
            <a:r>
              <a:rPr lang="en-US"/>
              <a:t>Click to edit Master text styles</a:t>
            </a:r>
          </a:p>
        </p:txBody>
      </p:sp>
      <p:cxnSp>
        <p:nvCxnSpPr>
          <p:cNvPr id="33" name="Straight Connector 32">
            <a:extLst>
              <a:ext uri="{FF2B5EF4-FFF2-40B4-BE49-F238E27FC236}">
                <a16:creationId xmlns:a16="http://schemas.microsoft.com/office/drawing/2014/main" id="{15F2E4CA-545A-7C72-49EE-74E1ACB568C9}"/>
              </a:ext>
            </a:extLst>
          </p:cNvPr>
          <p:cNvCxnSpPr>
            <a:cxnSpLocks/>
          </p:cNvCxnSpPr>
          <p:nvPr userDrawn="1"/>
        </p:nvCxnSpPr>
        <p:spPr>
          <a:xfrm>
            <a:off x="952500" y="4429125"/>
            <a:ext cx="2737756" cy="0"/>
          </a:xfrm>
          <a:prstGeom prst="line">
            <a:avLst/>
          </a:prstGeom>
          <a:ln w="101600">
            <a:solidFill>
              <a:srgbClr val="7757A4"/>
            </a:solidFill>
          </a:ln>
        </p:spPr>
        <p:style>
          <a:lnRef idx="1">
            <a:schemeClr val="dk1"/>
          </a:lnRef>
          <a:fillRef idx="0">
            <a:schemeClr val="dk1"/>
          </a:fillRef>
          <a:effectRef idx="0">
            <a:schemeClr val="dk1"/>
          </a:effectRef>
          <a:fontRef idx="minor">
            <a:schemeClr val="tx1"/>
          </a:fontRef>
        </p:style>
      </p:cxnSp>
      <p:sp>
        <p:nvSpPr>
          <p:cNvPr id="34" name="Text Placeholder 29">
            <a:extLst>
              <a:ext uri="{FF2B5EF4-FFF2-40B4-BE49-F238E27FC236}">
                <a16:creationId xmlns:a16="http://schemas.microsoft.com/office/drawing/2014/main" id="{589E30AF-0B70-7E60-E0DC-9D7B5FF27BA4}"/>
              </a:ext>
            </a:extLst>
          </p:cNvPr>
          <p:cNvSpPr>
            <a:spLocks noGrp="1"/>
          </p:cNvSpPr>
          <p:nvPr>
            <p:ph type="body" sz="quarter" idx="17"/>
          </p:nvPr>
        </p:nvSpPr>
        <p:spPr>
          <a:xfrm>
            <a:off x="966026" y="5234444"/>
            <a:ext cx="2133600" cy="369332"/>
          </a:xfrm>
        </p:spPr>
        <p:txBody>
          <a:bodyPr lIns="0" tIns="0" rIns="0" bIns="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35" name="Text Placeholder 29">
            <a:extLst>
              <a:ext uri="{FF2B5EF4-FFF2-40B4-BE49-F238E27FC236}">
                <a16:creationId xmlns:a16="http://schemas.microsoft.com/office/drawing/2014/main" id="{0C2634AE-84E3-AE03-9B54-8DE138A558E2}"/>
              </a:ext>
            </a:extLst>
          </p:cNvPr>
          <p:cNvSpPr>
            <a:spLocks noGrp="1"/>
          </p:cNvSpPr>
          <p:nvPr>
            <p:ph type="body" sz="quarter" idx="18"/>
          </p:nvPr>
        </p:nvSpPr>
        <p:spPr>
          <a:xfrm>
            <a:off x="966026" y="4625948"/>
            <a:ext cx="2133600" cy="205837"/>
          </a:xfrm>
        </p:spPr>
        <p:txBody>
          <a:bodyPr lIns="0" tIns="0" rIns="0" bIns="0">
            <a:noAutofit/>
          </a:bodyPr>
          <a:lstStyle>
            <a:lvl1pPr marL="0" indent="0">
              <a:lnSpc>
                <a:spcPct val="100000"/>
              </a:lnSpc>
              <a:spcBef>
                <a:spcPts val="400"/>
              </a:spcBef>
              <a:buNone/>
              <a:defRPr sz="1800" b="0" i="0">
                <a:solidFill>
                  <a:schemeClr val="bg1"/>
                </a:solidFill>
                <a:latin typeface="+mj-lt"/>
              </a:defRPr>
            </a:lvl1pPr>
            <a:lvl2pPr>
              <a:defRPr sz="4000"/>
            </a:lvl2pPr>
            <a:lvl3pPr>
              <a:defRPr sz="4000"/>
            </a:lvl3pPr>
            <a:lvl4pPr>
              <a:defRPr sz="4000"/>
            </a:lvl4pPr>
            <a:lvl5pPr>
              <a:defRPr sz="4000"/>
            </a:lvl5pPr>
          </a:lstStyle>
          <a:p>
            <a:pPr lvl="0"/>
            <a:r>
              <a:rPr lang="en-US"/>
              <a:t>Click to edit Master text styles</a:t>
            </a:r>
          </a:p>
        </p:txBody>
      </p:sp>
      <p:cxnSp>
        <p:nvCxnSpPr>
          <p:cNvPr id="36" name="Straight Connector 35">
            <a:extLst>
              <a:ext uri="{FF2B5EF4-FFF2-40B4-BE49-F238E27FC236}">
                <a16:creationId xmlns:a16="http://schemas.microsoft.com/office/drawing/2014/main" id="{0C981234-5264-3E65-A251-0D5E105383DD}"/>
              </a:ext>
            </a:extLst>
          </p:cNvPr>
          <p:cNvCxnSpPr>
            <a:cxnSpLocks/>
          </p:cNvCxnSpPr>
          <p:nvPr userDrawn="1"/>
        </p:nvCxnSpPr>
        <p:spPr>
          <a:xfrm>
            <a:off x="4419600" y="4429125"/>
            <a:ext cx="2743200" cy="0"/>
          </a:xfrm>
          <a:prstGeom prst="line">
            <a:avLst/>
          </a:prstGeom>
          <a:ln w="101600">
            <a:solidFill>
              <a:srgbClr val="7757A4"/>
            </a:solidFill>
          </a:ln>
        </p:spPr>
        <p:style>
          <a:lnRef idx="1">
            <a:schemeClr val="dk1"/>
          </a:lnRef>
          <a:fillRef idx="0">
            <a:schemeClr val="dk1"/>
          </a:fillRef>
          <a:effectRef idx="0">
            <a:schemeClr val="dk1"/>
          </a:effectRef>
          <a:fontRef idx="minor">
            <a:schemeClr val="tx1"/>
          </a:fontRef>
        </p:style>
      </p:cxnSp>
      <p:sp>
        <p:nvSpPr>
          <p:cNvPr id="37" name="Text Placeholder 29">
            <a:extLst>
              <a:ext uri="{FF2B5EF4-FFF2-40B4-BE49-F238E27FC236}">
                <a16:creationId xmlns:a16="http://schemas.microsoft.com/office/drawing/2014/main" id="{7A738B21-2443-1294-D2A9-B4F5798D1514}"/>
              </a:ext>
            </a:extLst>
          </p:cNvPr>
          <p:cNvSpPr>
            <a:spLocks noGrp="1"/>
          </p:cNvSpPr>
          <p:nvPr>
            <p:ph type="body" sz="quarter" idx="19"/>
          </p:nvPr>
        </p:nvSpPr>
        <p:spPr>
          <a:xfrm>
            <a:off x="4419600" y="5223881"/>
            <a:ext cx="2128157" cy="369332"/>
          </a:xfrm>
        </p:spPr>
        <p:txBody>
          <a:bodyPr lIns="0" tIns="0" rIns="0" bIns="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38" name="Text Placeholder 29">
            <a:extLst>
              <a:ext uri="{FF2B5EF4-FFF2-40B4-BE49-F238E27FC236}">
                <a16:creationId xmlns:a16="http://schemas.microsoft.com/office/drawing/2014/main" id="{53F325B9-FB56-D11B-48A7-92BDA9D80E03}"/>
              </a:ext>
            </a:extLst>
          </p:cNvPr>
          <p:cNvSpPr>
            <a:spLocks noGrp="1"/>
          </p:cNvSpPr>
          <p:nvPr>
            <p:ph type="body" sz="quarter" idx="20"/>
          </p:nvPr>
        </p:nvSpPr>
        <p:spPr>
          <a:xfrm>
            <a:off x="4419600" y="4615385"/>
            <a:ext cx="2128157" cy="205837"/>
          </a:xfrm>
        </p:spPr>
        <p:txBody>
          <a:bodyPr lIns="0" tIns="0" rIns="0" bIns="0">
            <a:noAutofit/>
          </a:bodyPr>
          <a:lstStyle>
            <a:lvl1pPr marL="0" indent="0">
              <a:lnSpc>
                <a:spcPct val="100000"/>
              </a:lnSpc>
              <a:spcBef>
                <a:spcPts val="400"/>
              </a:spcBef>
              <a:buNone/>
              <a:defRPr sz="1800" b="0" i="0">
                <a:solidFill>
                  <a:schemeClr val="bg1"/>
                </a:solidFill>
                <a:latin typeface="+mj-lt"/>
              </a:defRPr>
            </a:lvl1pPr>
            <a:lvl2pPr>
              <a:defRPr sz="4000"/>
            </a:lvl2pPr>
            <a:lvl3pPr>
              <a:defRPr sz="4000"/>
            </a:lvl3pPr>
            <a:lvl4pPr>
              <a:defRPr sz="4000"/>
            </a:lvl4pPr>
            <a:lvl5pPr>
              <a:defRPr sz="4000"/>
            </a:lvl5pPr>
          </a:lstStyle>
          <a:p>
            <a:pPr lvl="0"/>
            <a:r>
              <a:rPr lang="en-US"/>
              <a:t>Click to edit Master text styles</a:t>
            </a:r>
          </a:p>
        </p:txBody>
      </p:sp>
      <p:cxnSp>
        <p:nvCxnSpPr>
          <p:cNvPr id="39" name="Straight Connector 38">
            <a:extLst>
              <a:ext uri="{FF2B5EF4-FFF2-40B4-BE49-F238E27FC236}">
                <a16:creationId xmlns:a16="http://schemas.microsoft.com/office/drawing/2014/main" id="{1FF42B78-8E6C-6921-EBBF-0EAADDCB1F49}"/>
              </a:ext>
            </a:extLst>
          </p:cNvPr>
          <p:cNvCxnSpPr>
            <a:cxnSpLocks/>
          </p:cNvCxnSpPr>
          <p:nvPr userDrawn="1"/>
        </p:nvCxnSpPr>
        <p:spPr>
          <a:xfrm>
            <a:off x="7943850" y="4417436"/>
            <a:ext cx="2743200" cy="0"/>
          </a:xfrm>
          <a:prstGeom prst="line">
            <a:avLst/>
          </a:prstGeom>
          <a:ln w="101600">
            <a:solidFill>
              <a:srgbClr val="7757A4"/>
            </a:solidFill>
          </a:ln>
        </p:spPr>
        <p:style>
          <a:lnRef idx="1">
            <a:schemeClr val="dk1"/>
          </a:lnRef>
          <a:fillRef idx="0">
            <a:schemeClr val="dk1"/>
          </a:fillRef>
          <a:effectRef idx="0">
            <a:schemeClr val="dk1"/>
          </a:effectRef>
          <a:fontRef idx="minor">
            <a:schemeClr val="tx1"/>
          </a:fontRef>
        </p:style>
      </p:cxnSp>
      <p:sp>
        <p:nvSpPr>
          <p:cNvPr id="40" name="Text Placeholder 29">
            <a:extLst>
              <a:ext uri="{FF2B5EF4-FFF2-40B4-BE49-F238E27FC236}">
                <a16:creationId xmlns:a16="http://schemas.microsoft.com/office/drawing/2014/main" id="{BC4FC791-5DD4-2B5D-22DB-654B91E32C25}"/>
              </a:ext>
            </a:extLst>
          </p:cNvPr>
          <p:cNvSpPr>
            <a:spLocks noGrp="1"/>
          </p:cNvSpPr>
          <p:nvPr>
            <p:ph type="body" sz="quarter" idx="21"/>
          </p:nvPr>
        </p:nvSpPr>
        <p:spPr>
          <a:xfrm>
            <a:off x="7943850" y="5212192"/>
            <a:ext cx="2128157" cy="369332"/>
          </a:xfrm>
        </p:spPr>
        <p:txBody>
          <a:bodyPr lIns="0" tIns="0" rIns="0" bIns="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41" name="Text Placeholder 29">
            <a:extLst>
              <a:ext uri="{FF2B5EF4-FFF2-40B4-BE49-F238E27FC236}">
                <a16:creationId xmlns:a16="http://schemas.microsoft.com/office/drawing/2014/main" id="{366A5E5A-410B-5F52-B11E-E3272D7A22FD}"/>
              </a:ext>
            </a:extLst>
          </p:cNvPr>
          <p:cNvSpPr>
            <a:spLocks noGrp="1"/>
          </p:cNvSpPr>
          <p:nvPr>
            <p:ph type="body" sz="quarter" idx="22"/>
          </p:nvPr>
        </p:nvSpPr>
        <p:spPr>
          <a:xfrm>
            <a:off x="7943850" y="4603696"/>
            <a:ext cx="2128157" cy="205837"/>
          </a:xfrm>
        </p:spPr>
        <p:txBody>
          <a:bodyPr lIns="0" tIns="0" rIns="0" bIns="0">
            <a:noAutofit/>
          </a:bodyPr>
          <a:lstStyle>
            <a:lvl1pPr marL="0" indent="0">
              <a:lnSpc>
                <a:spcPct val="100000"/>
              </a:lnSpc>
              <a:spcBef>
                <a:spcPts val="400"/>
              </a:spcBef>
              <a:buNone/>
              <a:defRPr sz="1800" b="0" i="0">
                <a:solidFill>
                  <a:schemeClr val="bg1"/>
                </a:solidFill>
                <a:latin typeface="+mj-lt"/>
              </a:defRPr>
            </a:lvl1pPr>
            <a:lvl2pPr>
              <a:defRPr sz="4000"/>
            </a:lvl2pPr>
            <a:lvl3pPr>
              <a:defRPr sz="4000"/>
            </a:lvl3pPr>
            <a:lvl4pPr>
              <a:defRPr sz="4000"/>
            </a:lvl4pPr>
            <a:lvl5pPr>
              <a:defRPr sz="4000"/>
            </a:lvl5pPr>
          </a:lstStyle>
          <a:p>
            <a:pPr lvl="0"/>
            <a:r>
              <a:rPr lang="en-US"/>
              <a:t>Click to edit Master text styles</a:t>
            </a:r>
          </a:p>
        </p:txBody>
      </p:sp>
      <p:pic>
        <p:nvPicPr>
          <p:cNvPr id="45" name="Picture 44">
            <a:extLst>
              <a:ext uri="{FF2B5EF4-FFF2-40B4-BE49-F238E27FC236}">
                <a16:creationId xmlns:a16="http://schemas.microsoft.com/office/drawing/2014/main" id="{21E582B0-F9EA-72B8-F85B-88768E2440E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21323" r="11145"/>
          <a:stretch/>
        </p:blipFill>
        <p:spPr>
          <a:xfrm>
            <a:off x="8228291" y="0"/>
            <a:ext cx="3963709" cy="3502111"/>
          </a:xfrm>
          <a:prstGeom prst="rect">
            <a:avLst/>
          </a:prstGeom>
        </p:spPr>
      </p:pic>
    </p:spTree>
    <p:extLst>
      <p:ext uri="{BB962C8B-B14F-4D97-AF65-F5344CB8AC3E}">
        <p14:creationId xmlns:p14="http://schemas.microsoft.com/office/powerpoint/2010/main" val="40930664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a_editable">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39F93F26-ED5C-E74E-BFBD-E3054DC1B9C1}"/>
              </a:ext>
            </a:extLst>
          </p:cNvPr>
          <p:cNvSpPr>
            <a:spLocks noGrp="1"/>
          </p:cNvSpPr>
          <p:nvPr>
            <p:ph type="title"/>
          </p:nvPr>
        </p:nvSpPr>
        <p:spPr>
          <a:xfrm>
            <a:off x="964023" y="879063"/>
            <a:ext cx="7925977" cy="610863"/>
          </a:xfrm>
          <a:prstGeom prst="rect">
            <a:avLst/>
          </a:prstGeom>
        </p:spPr>
        <p:txBody>
          <a:bodyPr lIns="0" tIns="0" rIns="0" bIns="0" anchor="b" anchorCtr="0">
            <a:normAutofit/>
          </a:bodyPr>
          <a:lstStyle>
            <a:lvl1pPr>
              <a:defRPr sz="4400" b="1" i="0" spc="50" baseline="0">
                <a:latin typeface="+mj-lt"/>
              </a:defRPr>
            </a:lvl1pPr>
          </a:lstStyle>
          <a:p>
            <a:r>
              <a:rPr lang="en-US"/>
              <a:t>Click to edit Master title style</a:t>
            </a:r>
            <a:endParaRPr lang="en-US" dirty="0"/>
          </a:p>
        </p:txBody>
      </p:sp>
      <p:pic>
        <p:nvPicPr>
          <p:cNvPr id="3" name="Picture 2">
            <a:extLst>
              <a:ext uri="{FF2B5EF4-FFF2-40B4-BE49-F238E27FC236}">
                <a16:creationId xmlns:a16="http://schemas.microsoft.com/office/drawing/2014/main" id="{46694CFE-C82D-C513-C274-86057D2B8AE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85436" y="6299793"/>
            <a:ext cx="418391" cy="415945"/>
          </a:xfrm>
          <a:prstGeom prst="rect">
            <a:avLst/>
          </a:prstGeom>
        </p:spPr>
      </p:pic>
      <p:sp>
        <p:nvSpPr>
          <p:cNvPr id="4" name="Footer Placeholder 4">
            <a:extLst>
              <a:ext uri="{FF2B5EF4-FFF2-40B4-BE49-F238E27FC236}">
                <a16:creationId xmlns:a16="http://schemas.microsoft.com/office/drawing/2014/main" id="{D3B647F0-48E7-368F-F310-2652528D7DD2}"/>
              </a:ext>
            </a:extLst>
          </p:cNvPr>
          <p:cNvSpPr>
            <a:spLocks noGrp="1"/>
          </p:cNvSpPr>
          <p:nvPr>
            <p:ph type="ftr" sz="quarter" idx="3"/>
          </p:nvPr>
        </p:nvSpPr>
        <p:spPr>
          <a:xfrm>
            <a:off x="10693667" y="6362299"/>
            <a:ext cx="1317821" cy="334189"/>
          </a:xfrm>
          <a:prstGeom prst="rect">
            <a:avLst/>
          </a:prstGeom>
        </p:spPr>
        <p:txBody>
          <a:bodyPr vert="horz" lIns="0" tIns="0" rIns="0" bIns="0" rtlCol="0" anchor="t" anchorCtr="0"/>
          <a:lstStyle>
            <a:lvl1pPr algn="l">
              <a:defRPr sz="1200" b="0" i="0">
                <a:solidFill>
                  <a:schemeClr val="bg1"/>
                </a:solidFill>
                <a:latin typeface="+mj-lt"/>
              </a:defRPr>
            </a:lvl1pPr>
          </a:lstStyle>
          <a:p>
            <a:r>
              <a:rPr lang="en-US" sz="1400"/>
              <a:t>DOCTORATES WITH PURPOSE</a:t>
            </a:r>
            <a:endParaRPr lang="en-US" sz="1400" dirty="0"/>
          </a:p>
        </p:txBody>
      </p:sp>
      <p:sp>
        <p:nvSpPr>
          <p:cNvPr id="2" name="Text Placeholder 3">
            <a:extLst>
              <a:ext uri="{FF2B5EF4-FFF2-40B4-BE49-F238E27FC236}">
                <a16:creationId xmlns:a16="http://schemas.microsoft.com/office/drawing/2014/main" id="{4B70EA53-6334-DA75-2EC8-AEC5A43ADBA6}"/>
              </a:ext>
            </a:extLst>
          </p:cNvPr>
          <p:cNvSpPr>
            <a:spLocks noGrp="1"/>
          </p:cNvSpPr>
          <p:nvPr>
            <p:ph type="body" sz="quarter" idx="10"/>
          </p:nvPr>
        </p:nvSpPr>
        <p:spPr>
          <a:xfrm>
            <a:off x="963613" y="1757363"/>
            <a:ext cx="10693400" cy="44624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520388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 with custom photo">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F0C4E8C2-3240-594A-9D5E-1BCD1AF44C5E}"/>
              </a:ext>
            </a:extLst>
          </p:cNvPr>
          <p:cNvSpPr>
            <a:spLocks noGrp="1"/>
          </p:cNvSpPr>
          <p:nvPr>
            <p:ph type="pic" sz="quarter" idx="13"/>
          </p:nvPr>
        </p:nvSpPr>
        <p:spPr>
          <a:xfrm>
            <a:off x="6096000" y="1645920"/>
            <a:ext cx="5425440" cy="4003040"/>
          </a:xfrm>
        </p:spPr>
        <p:txBody>
          <a:bodyPr/>
          <a:lstStyle/>
          <a:p>
            <a:r>
              <a:rPr lang="en-US"/>
              <a:t>Click icon to add picture</a:t>
            </a:r>
            <a:endParaRPr lang="en-US" dirty="0"/>
          </a:p>
        </p:txBody>
      </p:sp>
      <p:sp>
        <p:nvSpPr>
          <p:cNvPr id="9" name="Title 1">
            <a:extLst>
              <a:ext uri="{FF2B5EF4-FFF2-40B4-BE49-F238E27FC236}">
                <a16:creationId xmlns:a16="http://schemas.microsoft.com/office/drawing/2014/main" id="{A5C37098-CEB2-1E45-989B-3DD92F3B1A30}"/>
              </a:ext>
            </a:extLst>
          </p:cNvPr>
          <p:cNvSpPr>
            <a:spLocks noGrp="1"/>
          </p:cNvSpPr>
          <p:nvPr>
            <p:ph type="title"/>
          </p:nvPr>
        </p:nvSpPr>
        <p:spPr>
          <a:xfrm>
            <a:off x="964023" y="879063"/>
            <a:ext cx="4941477" cy="610863"/>
          </a:xfrm>
          <a:prstGeom prst="rect">
            <a:avLst/>
          </a:prstGeom>
        </p:spPr>
        <p:txBody>
          <a:bodyPr lIns="0" tIns="0" rIns="0" bIns="0" anchor="b" anchorCtr="0">
            <a:normAutofit/>
          </a:bodyPr>
          <a:lstStyle>
            <a:lvl1pPr>
              <a:defRPr sz="4400" b="1" i="0">
                <a:latin typeface="+mj-lt"/>
              </a:defRPr>
            </a:lvl1pPr>
          </a:lstStyle>
          <a:p>
            <a:r>
              <a:rPr lang="en-US"/>
              <a:t>Click to edit Master title style</a:t>
            </a:r>
            <a:endParaRPr lang="en-US" dirty="0"/>
          </a:p>
        </p:txBody>
      </p:sp>
      <p:cxnSp>
        <p:nvCxnSpPr>
          <p:cNvPr id="17" name="Straight Connector 16">
            <a:extLst>
              <a:ext uri="{FF2B5EF4-FFF2-40B4-BE49-F238E27FC236}">
                <a16:creationId xmlns:a16="http://schemas.microsoft.com/office/drawing/2014/main" id="{1D23F761-57FC-3649-AE84-0C3EF95EF561}"/>
              </a:ext>
            </a:extLst>
          </p:cNvPr>
          <p:cNvCxnSpPr>
            <a:cxnSpLocks/>
          </p:cNvCxnSpPr>
          <p:nvPr userDrawn="1"/>
        </p:nvCxnSpPr>
        <p:spPr>
          <a:xfrm>
            <a:off x="952500" y="1939108"/>
            <a:ext cx="4572000" cy="0"/>
          </a:xfrm>
          <a:prstGeom prst="line">
            <a:avLst/>
          </a:prstGeom>
          <a:ln w="101600">
            <a:solidFill>
              <a:srgbClr val="7757A4"/>
            </a:solidFill>
          </a:ln>
        </p:spPr>
        <p:style>
          <a:lnRef idx="1">
            <a:schemeClr val="dk1"/>
          </a:lnRef>
          <a:fillRef idx="0">
            <a:schemeClr val="dk1"/>
          </a:fillRef>
          <a:effectRef idx="0">
            <a:schemeClr val="dk1"/>
          </a:effectRef>
          <a:fontRef idx="minor">
            <a:schemeClr val="tx1"/>
          </a:fontRef>
        </p:style>
      </p:cxnSp>
      <p:sp>
        <p:nvSpPr>
          <p:cNvPr id="18" name="Text Placeholder 29">
            <a:extLst>
              <a:ext uri="{FF2B5EF4-FFF2-40B4-BE49-F238E27FC236}">
                <a16:creationId xmlns:a16="http://schemas.microsoft.com/office/drawing/2014/main" id="{E66F2BC9-2F8A-1543-9AFD-9BAB0E75B31C}"/>
              </a:ext>
            </a:extLst>
          </p:cNvPr>
          <p:cNvSpPr>
            <a:spLocks noGrp="1"/>
          </p:cNvSpPr>
          <p:nvPr>
            <p:ph type="body" sz="quarter" idx="11"/>
          </p:nvPr>
        </p:nvSpPr>
        <p:spPr>
          <a:xfrm>
            <a:off x="952499" y="2289363"/>
            <a:ext cx="4572001" cy="2795232"/>
          </a:xfrm>
        </p:spPr>
        <p:txBody>
          <a:bodyPr lIns="0" tIns="0" rIns="0" bIns="0">
            <a:noAutofit/>
          </a:bodyPr>
          <a:lstStyle>
            <a:lvl1pPr marL="0" indent="0">
              <a:lnSpc>
                <a:spcPct val="100000"/>
              </a:lnSpc>
              <a:buNone/>
              <a:defRPr sz="16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grpSp>
        <p:nvGrpSpPr>
          <p:cNvPr id="2" name="Group 1">
            <a:extLst>
              <a:ext uri="{FF2B5EF4-FFF2-40B4-BE49-F238E27FC236}">
                <a16:creationId xmlns:a16="http://schemas.microsoft.com/office/drawing/2014/main" id="{FD175B08-41BD-79AA-D60E-F2161ED9CF11}"/>
              </a:ext>
            </a:extLst>
          </p:cNvPr>
          <p:cNvGrpSpPr>
            <a:grpSpLocks/>
          </p:cNvGrpSpPr>
          <p:nvPr userDrawn="1"/>
        </p:nvGrpSpPr>
        <p:grpSpPr bwMode="auto">
          <a:xfrm rot="5400000" flipV="1">
            <a:off x="9232774" y="3534"/>
            <a:ext cx="2959226" cy="2959226"/>
            <a:chOff x="0" y="12289"/>
            <a:chExt cx="3550" cy="3551"/>
          </a:xfrm>
        </p:grpSpPr>
        <p:sp>
          <p:nvSpPr>
            <p:cNvPr id="3" name="Freeform 14">
              <a:extLst>
                <a:ext uri="{FF2B5EF4-FFF2-40B4-BE49-F238E27FC236}">
                  <a16:creationId xmlns:a16="http://schemas.microsoft.com/office/drawing/2014/main" id="{7D5A473E-7028-6D96-70F9-36AD5EC9CECF}"/>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rgbClr val="49236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4" name="Freeform 15">
              <a:extLst>
                <a:ext uri="{FF2B5EF4-FFF2-40B4-BE49-F238E27FC236}">
                  <a16:creationId xmlns:a16="http://schemas.microsoft.com/office/drawing/2014/main" id="{B939EC59-69B2-4CFC-C8F4-3763684C8748}"/>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5" name="Freeform 18">
              <a:extLst>
                <a:ext uri="{FF2B5EF4-FFF2-40B4-BE49-F238E27FC236}">
                  <a16:creationId xmlns:a16="http://schemas.microsoft.com/office/drawing/2014/main" id="{1E29E342-C1C4-BF2E-9AE1-C85CD284FE1B}"/>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rgbClr val="7757A4"/>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pic>
        <p:nvPicPr>
          <p:cNvPr id="10" name="Picture 9">
            <a:extLst>
              <a:ext uri="{FF2B5EF4-FFF2-40B4-BE49-F238E27FC236}">
                <a16:creationId xmlns:a16="http://schemas.microsoft.com/office/drawing/2014/main" id="{C40EDFBD-418C-B1DA-4E6C-45252D35881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85436" y="6299793"/>
            <a:ext cx="418391" cy="415945"/>
          </a:xfrm>
          <a:prstGeom prst="rect">
            <a:avLst/>
          </a:prstGeom>
        </p:spPr>
      </p:pic>
      <p:sp>
        <p:nvSpPr>
          <p:cNvPr id="11" name="Footer Placeholder 4">
            <a:extLst>
              <a:ext uri="{FF2B5EF4-FFF2-40B4-BE49-F238E27FC236}">
                <a16:creationId xmlns:a16="http://schemas.microsoft.com/office/drawing/2014/main" id="{7E137E73-E830-7EE4-6AF8-DCA5C18F346C}"/>
              </a:ext>
            </a:extLst>
          </p:cNvPr>
          <p:cNvSpPr>
            <a:spLocks noGrp="1"/>
          </p:cNvSpPr>
          <p:nvPr>
            <p:ph type="ftr" sz="quarter" idx="3"/>
          </p:nvPr>
        </p:nvSpPr>
        <p:spPr>
          <a:xfrm>
            <a:off x="10693667" y="6362299"/>
            <a:ext cx="1317821" cy="334189"/>
          </a:xfrm>
          <a:prstGeom prst="rect">
            <a:avLst/>
          </a:prstGeom>
        </p:spPr>
        <p:txBody>
          <a:bodyPr vert="horz" lIns="0" tIns="0" rIns="0" bIns="0" rtlCol="0" anchor="t" anchorCtr="0"/>
          <a:lstStyle>
            <a:lvl1pPr algn="l">
              <a:defRPr sz="1200" b="0" i="0">
                <a:solidFill>
                  <a:schemeClr val="bg1"/>
                </a:solidFill>
                <a:latin typeface="+mj-lt"/>
              </a:defRPr>
            </a:lvl1pPr>
          </a:lstStyle>
          <a:p>
            <a:r>
              <a:rPr lang="en-US" sz="1400"/>
              <a:t>DOCTORATES WITH PURPOSE</a:t>
            </a:r>
            <a:endParaRPr lang="en-US" sz="1400" dirty="0"/>
          </a:p>
        </p:txBody>
      </p:sp>
    </p:spTree>
    <p:extLst>
      <p:ext uri="{BB962C8B-B14F-4D97-AF65-F5344CB8AC3E}">
        <p14:creationId xmlns:p14="http://schemas.microsoft.com/office/powerpoint/2010/main" val="3073769527"/>
      </p:ext>
    </p:extLst>
  </p:cSld>
  <p:clrMapOvr>
    <a:masterClrMapping/>
  </p:clrMapOvr>
  <p:extLst>
    <p:ext uri="{DCECCB84-F9BA-43D5-87BE-67443E8EF086}">
      <p15:sldGuideLst xmlns:p15="http://schemas.microsoft.com/office/powerpoint/2012/main">
        <p15:guide id="1" pos="600">
          <p15:clr>
            <a:srgbClr val="FBAE40"/>
          </p15:clr>
        </p15:guide>
        <p15:guide id="6" pos="3480" userDrawn="1">
          <p15:clr>
            <a:srgbClr val="FBAE40"/>
          </p15:clr>
        </p15:guide>
        <p15:guide id="7" orient="horz" pos="1440" userDrawn="1">
          <p15:clr>
            <a:srgbClr val="FBAE40"/>
          </p15:clr>
        </p15:guide>
        <p15:guide id="9" orient="horz" pos="1224" userDrawn="1">
          <p15:clr>
            <a:srgbClr val="FBAE40"/>
          </p15:clr>
        </p15:guide>
        <p15:guide id="10" orient="horz" pos="552"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reak">
    <p:bg>
      <p:bgPr>
        <a:solidFill>
          <a:schemeClr val="tx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94078F8-70A0-410B-A51C-F27F566C57DE}"/>
              </a:ext>
            </a:extLst>
          </p:cNvPr>
          <p:cNvSpPr/>
          <p:nvPr userDrawn="1"/>
        </p:nvSpPr>
        <p:spPr>
          <a:xfrm>
            <a:off x="0" y="0"/>
            <a:ext cx="12192000" cy="6858000"/>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itle 1">
            <a:extLst>
              <a:ext uri="{FF2B5EF4-FFF2-40B4-BE49-F238E27FC236}">
                <a16:creationId xmlns:a16="http://schemas.microsoft.com/office/drawing/2014/main" id="{8D492973-78E3-D34E-835E-CF2D4517016D}"/>
              </a:ext>
            </a:extLst>
          </p:cNvPr>
          <p:cNvSpPr>
            <a:spLocks noGrp="1"/>
          </p:cNvSpPr>
          <p:nvPr>
            <p:ph type="title"/>
          </p:nvPr>
        </p:nvSpPr>
        <p:spPr>
          <a:xfrm>
            <a:off x="7193943" y="3045437"/>
            <a:ext cx="4941477" cy="610863"/>
          </a:xfrm>
          <a:prstGeom prst="rect">
            <a:avLst/>
          </a:prstGeom>
        </p:spPr>
        <p:txBody>
          <a:bodyPr lIns="0" tIns="0" rIns="0" bIns="0" anchor="b" anchorCtr="0">
            <a:normAutofit/>
          </a:bodyPr>
          <a:lstStyle>
            <a:lvl1pPr>
              <a:defRPr sz="4100" b="1" i="0" baseline="0">
                <a:solidFill>
                  <a:schemeClr val="tx1"/>
                </a:solidFill>
                <a:latin typeface="+mj-lt"/>
              </a:defRPr>
            </a:lvl1pPr>
          </a:lstStyle>
          <a:p>
            <a:r>
              <a:rPr lang="en-US"/>
              <a:t>Click to edit Master title style</a:t>
            </a:r>
            <a:endParaRPr lang="en-US" dirty="0"/>
          </a:p>
        </p:txBody>
      </p:sp>
      <p:cxnSp>
        <p:nvCxnSpPr>
          <p:cNvPr id="20" name="Straight Connector 19">
            <a:extLst>
              <a:ext uri="{FF2B5EF4-FFF2-40B4-BE49-F238E27FC236}">
                <a16:creationId xmlns:a16="http://schemas.microsoft.com/office/drawing/2014/main" id="{4BE3A3D6-A0AD-C84D-8B2A-743F5F95432E}"/>
              </a:ext>
            </a:extLst>
          </p:cNvPr>
          <p:cNvCxnSpPr>
            <a:cxnSpLocks/>
          </p:cNvCxnSpPr>
          <p:nvPr userDrawn="1"/>
        </p:nvCxnSpPr>
        <p:spPr>
          <a:xfrm>
            <a:off x="7154721" y="4003877"/>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grpSp>
        <p:nvGrpSpPr>
          <p:cNvPr id="22" name="Group 21">
            <a:extLst>
              <a:ext uri="{FF2B5EF4-FFF2-40B4-BE49-F238E27FC236}">
                <a16:creationId xmlns:a16="http://schemas.microsoft.com/office/drawing/2014/main" id="{F4CB38BE-0FF2-694C-AA3C-D73DBF7C332C}"/>
              </a:ext>
            </a:extLst>
          </p:cNvPr>
          <p:cNvGrpSpPr>
            <a:grpSpLocks/>
          </p:cNvGrpSpPr>
          <p:nvPr userDrawn="1"/>
        </p:nvGrpSpPr>
        <p:grpSpPr bwMode="auto">
          <a:xfrm rot="10800000">
            <a:off x="9509760" y="-3"/>
            <a:ext cx="2682238" cy="2682238"/>
            <a:chOff x="0" y="12289"/>
            <a:chExt cx="3550" cy="3551"/>
          </a:xfrm>
          <a:solidFill>
            <a:schemeClr val="tx1"/>
          </a:solidFill>
        </p:grpSpPr>
        <p:sp>
          <p:nvSpPr>
            <p:cNvPr id="23" name="Freeform 22">
              <a:extLst>
                <a:ext uri="{FF2B5EF4-FFF2-40B4-BE49-F238E27FC236}">
                  <a16:creationId xmlns:a16="http://schemas.microsoft.com/office/drawing/2014/main" id="{F0257420-2EA0-6348-8B9E-1414F529726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4" name="Freeform 23">
              <a:extLst>
                <a:ext uri="{FF2B5EF4-FFF2-40B4-BE49-F238E27FC236}">
                  <a16:creationId xmlns:a16="http://schemas.microsoft.com/office/drawing/2014/main" id="{7FE65C23-C0EF-BB41-884A-01C2A7356159}"/>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5" name="Freeform 24">
              <a:extLst>
                <a:ext uri="{FF2B5EF4-FFF2-40B4-BE49-F238E27FC236}">
                  <a16:creationId xmlns:a16="http://schemas.microsoft.com/office/drawing/2014/main" id="{F73F5EB6-53C7-D44C-9003-FB5A81F9890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Tree>
    <p:extLst>
      <p:ext uri="{BB962C8B-B14F-4D97-AF65-F5344CB8AC3E}">
        <p14:creationId xmlns:p14="http://schemas.microsoft.com/office/powerpoint/2010/main" val="2357889184"/>
      </p:ext>
    </p:extLst>
  </p:cSld>
  <p:clrMapOvr>
    <a:masterClrMapping/>
  </p:clrMapOvr>
  <p:extLst>
    <p:ext uri="{DCECCB84-F9BA-43D5-87BE-67443E8EF086}">
      <p15:sldGuideLst xmlns:p15="http://schemas.microsoft.com/office/powerpoint/2012/main">
        <p15:guide id="2" pos="7104">
          <p15:clr>
            <a:srgbClr val="FBAE40"/>
          </p15:clr>
        </p15:guide>
        <p15:guide id="3" pos="4344" userDrawn="1">
          <p15:clr>
            <a:srgbClr val="FBAE40"/>
          </p15:clr>
        </p15:guide>
        <p15:guide id="4" pos="4560" userDrawn="1">
          <p15:clr>
            <a:srgbClr val="FBAE40"/>
          </p15:clr>
        </p15:guide>
        <p15:guide id="8" orient="horz" pos="1848"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ext only">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p:nvPr>
        </p:nvSpPr>
        <p:spPr>
          <a:xfrm>
            <a:off x="964023" y="879063"/>
            <a:ext cx="4941477" cy="610863"/>
          </a:xfrm>
          <a:prstGeom prst="rect">
            <a:avLst/>
          </a:prstGeom>
        </p:spPr>
        <p:txBody>
          <a:bodyPr lIns="0" tIns="0" rIns="0" bIns="0" anchor="b" anchorCtr="0">
            <a:normAutofit/>
          </a:bodyPr>
          <a:lstStyle>
            <a:lvl1pPr>
              <a:defRPr sz="4400" b="1" i="0">
                <a:solidFill>
                  <a:schemeClr val="bg1"/>
                </a:solidFill>
                <a:latin typeface="+mj-lt"/>
              </a:defRPr>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BAB35815-6C12-41AE-BF67-58D9B26774DD}"/>
              </a:ext>
            </a:extLst>
          </p:cNvPr>
          <p:cNvSpPr>
            <a:spLocks noGrp="1"/>
          </p:cNvSpPr>
          <p:nvPr>
            <p:ph type="body" sz="quarter" idx="10"/>
          </p:nvPr>
        </p:nvSpPr>
        <p:spPr>
          <a:xfrm>
            <a:off x="963613" y="1757363"/>
            <a:ext cx="10693400" cy="44624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2" name="Group 1">
            <a:extLst>
              <a:ext uri="{FF2B5EF4-FFF2-40B4-BE49-F238E27FC236}">
                <a16:creationId xmlns:a16="http://schemas.microsoft.com/office/drawing/2014/main" id="{64381D73-8195-590A-894F-FA168900D344}"/>
              </a:ext>
            </a:extLst>
          </p:cNvPr>
          <p:cNvGrpSpPr>
            <a:grpSpLocks/>
          </p:cNvGrpSpPr>
          <p:nvPr userDrawn="1"/>
        </p:nvGrpSpPr>
        <p:grpSpPr bwMode="auto">
          <a:xfrm rot="5400000" flipV="1">
            <a:off x="9232774" y="3534"/>
            <a:ext cx="2959226" cy="2959226"/>
            <a:chOff x="0" y="12289"/>
            <a:chExt cx="3550" cy="3551"/>
          </a:xfrm>
        </p:grpSpPr>
        <p:sp>
          <p:nvSpPr>
            <p:cNvPr id="3" name="Freeform 14">
              <a:extLst>
                <a:ext uri="{FF2B5EF4-FFF2-40B4-BE49-F238E27FC236}">
                  <a16:creationId xmlns:a16="http://schemas.microsoft.com/office/drawing/2014/main" id="{8DA7550B-3339-304C-3D2F-FAACD80B78EC}"/>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rgbClr val="49236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5" name="Freeform 15">
              <a:extLst>
                <a:ext uri="{FF2B5EF4-FFF2-40B4-BE49-F238E27FC236}">
                  <a16:creationId xmlns:a16="http://schemas.microsoft.com/office/drawing/2014/main" id="{8A8FE5D2-89F4-0B89-4D2F-337B4927EDD9}"/>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6" name="Freeform 18">
              <a:extLst>
                <a:ext uri="{FF2B5EF4-FFF2-40B4-BE49-F238E27FC236}">
                  <a16:creationId xmlns:a16="http://schemas.microsoft.com/office/drawing/2014/main" id="{83A63293-3FBB-6CCE-52E2-6FF62BC237FB}"/>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rgbClr val="7757A4"/>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pic>
        <p:nvPicPr>
          <p:cNvPr id="8" name="Picture 7">
            <a:extLst>
              <a:ext uri="{FF2B5EF4-FFF2-40B4-BE49-F238E27FC236}">
                <a16:creationId xmlns:a16="http://schemas.microsoft.com/office/drawing/2014/main" id="{4DC6EDFA-40F8-5807-A926-941E243E344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85436" y="6299793"/>
            <a:ext cx="418391" cy="415945"/>
          </a:xfrm>
          <a:prstGeom prst="rect">
            <a:avLst/>
          </a:prstGeom>
        </p:spPr>
      </p:pic>
      <p:sp>
        <p:nvSpPr>
          <p:cNvPr id="11" name="Footer Placeholder 4">
            <a:extLst>
              <a:ext uri="{FF2B5EF4-FFF2-40B4-BE49-F238E27FC236}">
                <a16:creationId xmlns:a16="http://schemas.microsoft.com/office/drawing/2014/main" id="{D90E9078-BF83-8D4A-D096-63BA3BE067FD}"/>
              </a:ext>
            </a:extLst>
          </p:cNvPr>
          <p:cNvSpPr>
            <a:spLocks noGrp="1"/>
          </p:cNvSpPr>
          <p:nvPr>
            <p:ph type="ftr" sz="quarter" idx="3"/>
          </p:nvPr>
        </p:nvSpPr>
        <p:spPr>
          <a:xfrm>
            <a:off x="10693667" y="6362299"/>
            <a:ext cx="1317821" cy="334189"/>
          </a:xfrm>
          <a:prstGeom prst="rect">
            <a:avLst/>
          </a:prstGeom>
        </p:spPr>
        <p:txBody>
          <a:bodyPr vert="horz" lIns="0" tIns="0" rIns="0" bIns="0" rtlCol="0" anchor="t" anchorCtr="0"/>
          <a:lstStyle>
            <a:lvl1pPr algn="l">
              <a:defRPr sz="1200" b="0" i="0">
                <a:solidFill>
                  <a:schemeClr val="bg1"/>
                </a:solidFill>
                <a:latin typeface="+mj-lt"/>
              </a:defRPr>
            </a:lvl1pPr>
          </a:lstStyle>
          <a:p>
            <a:r>
              <a:rPr lang="en-US" sz="1400"/>
              <a:t>DOCTORATES WITH PURPOSE</a:t>
            </a:r>
            <a:endParaRPr lang="en-US" sz="1400" dirty="0"/>
          </a:p>
        </p:txBody>
      </p:sp>
    </p:spTree>
    <p:extLst>
      <p:ext uri="{BB962C8B-B14F-4D97-AF65-F5344CB8AC3E}">
        <p14:creationId xmlns:p14="http://schemas.microsoft.com/office/powerpoint/2010/main" val="940488447"/>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
    <p:bg>
      <p:bgPr>
        <a:solidFill>
          <a:schemeClr val="tx1"/>
        </a:solidFill>
        <a:effectLst/>
      </p:bgPr>
    </p:bg>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75992517-0394-6B43-B15D-2A86A34512F3}"/>
              </a:ext>
            </a:extLst>
          </p:cNvPr>
          <p:cNvSpPr>
            <a:spLocks noGrp="1"/>
          </p:cNvSpPr>
          <p:nvPr>
            <p:ph type="chart" sz="quarter" idx="10"/>
          </p:nvPr>
        </p:nvSpPr>
        <p:spPr>
          <a:xfrm>
            <a:off x="952500" y="1939108"/>
            <a:ext cx="10352810" cy="4110702"/>
          </a:xfrm>
        </p:spPr>
        <p:txBody>
          <a:bodyPr/>
          <a:lstStyle>
            <a:lvl1pPr>
              <a:defRPr>
                <a:solidFill>
                  <a:schemeClr val="tx1"/>
                </a:solidFill>
              </a:defRPr>
            </a:lvl1pPr>
          </a:lstStyle>
          <a:p>
            <a:r>
              <a:rPr lang="en-US"/>
              <a:t>Click icon to add chart</a:t>
            </a:r>
            <a:endParaRPr lang="en-US" dirty="0"/>
          </a:p>
        </p:txBody>
      </p:sp>
      <p:sp>
        <p:nvSpPr>
          <p:cNvPr id="16" name="Title 1">
            <a:extLst>
              <a:ext uri="{FF2B5EF4-FFF2-40B4-BE49-F238E27FC236}">
                <a16:creationId xmlns:a16="http://schemas.microsoft.com/office/drawing/2014/main" id="{109B023A-F28F-184D-BA48-3F1C0502AE0A}"/>
              </a:ext>
            </a:extLst>
          </p:cNvPr>
          <p:cNvSpPr>
            <a:spLocks noGrp="1"/>
          </p:cNvSpPr>
          <p:nvPr>
            <p:ph type="title"/>
          </p:nvPr>
        </p:nvSpPr>
        <p:spPr>
          <a:xfrm>
            <a:off x="964023" y="879063"/>
            <a:ext cx="4941477" cy="610863"/>
          </a:xfrm>
          <a:prstGeom prst="rect">
            <a:avLst/>
          </a:prstGeom>
        </p:spPr>
        <p:txBody>
          <a:bodyPr lIns="0" tIns="0" rIns="0" bIns="0" anchor="b" anchorCtr="0">
            <a:normAutofit/>
          </a:bodyPr>
          <a:lstStyle>
            <a:lvl1pPr>
              <a:defRPr sz="4400" b="1" i="0">
                <a:solidFill>
                  <a:schemeClr val="bg1"/>
                </a:solidFill>
                <a:latin typeface="+mj-lt"/>
              </a:defRPr>
            </a:lvl1pPr>
          </a:lstStyle>
          <a:p>
            <a:r>
              <a:rPr lang="en-US"/>
              <a:t>Click to edit Master title style</a:t>
            </a:r>
            <a:endParaRPr lang="en-US" dirty="0"/>
          </a:p>
        </p:txBody>
      </p:sp>
      <p:grpSp>
        <p:nvGrpSpPr>
          <p:cNvPr id="2" name="Group 1">
            <a:extLst>
              <a:ext uri="{FF2B5EF4-FFF2-40B4-BE49-F238E27FC236}">
                <a16:creationId xmlns:a16="http://schemas.microsoft.com/office/drawing/2014/main" id="{ABEE0D9B-842E-2891-34F6-1D27CB98C6B3}"/>
              </a:ext>
            </a:extLst>
          </p:cNvPr>
          <p:cNvGrpSpPr>
            <a:grpSpLocks/>
          </p:cNvGrpSpPr>
          <p:nvPr userDrawn="1"/>
        </p:nvGrpSpPr>
        <p:grpSpPr bwMode="auto">
          <a:xfrm rot="5400000" flipV="1">
            <a:off x="9232774" y="3534"/>
            <a:ext cx="2959226" cy="2959226"/>
            <a:chOff x="0" y="12289"/>
            <a:chExt cx="3550" cy="3551"/>
          </a:xfrm>
        </p:grpSpPr>
        <p:sp>
          <p:nvSpPr>
            <p:cNvPr id="3" name="Freeform 14">
              <a:extLst>
                <a:ext uri="{FF2B5EF4-FFF2-40B4-BE49-F238E27FC236}">
                  <a16:creationId xmlns:a16="http://schemas.microsoft.com/office/drawing/2014/main" id="{A7006F45-1DA8-938A-3FD7-8BF861D5044B}"/>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rgbClr val="49236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4" name="Freeform 15">
              <a:extLst>
                <a:ext uri="{FF2B5EF4-FFF2-40B4-BE49-F238E27FC236}">
                  <a16:creationId xmlns:a16="http://schemas.microsoft.com/office/drawing/2014/main" id="{FCDDF626-3539-9DDF-470F-412B54CCA4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5" name="Freeform 18">
              <a:extLst>
                <a:ext uri="{FF2B5EF4-FFF2-40B4-BE49-F238E27FC236}">
                  <a16:creationId xmlns:a16="http://schemas.microsoft.com/office/drawing/2014/main" id="{FE749106-2251-D2A9-1EAF-81D75951E186}"/>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rgbClr val="7757A4"/>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pic>
        <p:nvPicPr>
          <p:cNvPr id="8" name="Picture 7">
            <a:extLst>
              <a:ext uri="{FF2B5EF4-FFF2-40B4-BE49-F238E27FC236}">
                <a16:creationId xmlns:a16="http://schemas.microsoft.com/office/drawing/2014/main" id="{209BEECA-8D7A-C434-7295-FB91C83879E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85436" y="6299793"/>
            <a:ext cx="418391" cy="415945"/>
          </a:xfrm>
          <a:prstGeom prst="rect">
            <a:avLst/>
          </a:prstGeom>
        </p:spPr>
      </p:pic>
      <p:sp>
        <p:nvSpPr>
          <p:cNvPr id="11" name="Footer Placeholder 4">
            <a:extLst>
              <a:ext uri="{FF2B5EF4-FFF2-40B4-BE49-F238E27FC236}">
                <a16:creationId xmlns:a16="http://schemas.microsoft.com/office/drawing/2014/main" id="{BCC8031D-4B05-F5A2-5B3F-12B5EBD61771}"/>
              </a:ext>
            </a:extLst>
          </p:cNvPr>
          <p:cNvSpPr>
            <a:spLocks noGrp="1"/>
          </p:cNvSpPr>
          <p:nvPr>
            <p:ph type="ftr" sz="quarter" idx="3"/>
          </p:nvPr>
        </p:nvSpPr>
        <p:spPr>
          <a:xfrm>
            <a:off x="10693667" y="6362299"/>
            <a:ext cx="1317821" cy="334189"/>
          </a:xfrm>
          <a:prstGeom prst="rect">
            <a:avLst/>
          </a:prstGeom>
        </p:spPr>
        <p:txBody>
          <a:bodyPr vert="horz" lIns="0" tIns="0" rIns="0" bIns="0" rtlCol="0" anchor="t" anchorCtr="0"/>
          <a:lstStyle>
            <a:lvl1pPr algn="l">
              <a:defRPr sz="1200" b="0" i="0">
                <a:solidFill>
                  <a:schemeClr val="bg1"/>
                </a:solidFill>
                <a:latin typeface="+mj-lt"/>
              </a:defRPr>
            </a:lvl1pPr>
          </a:lstStyle>
          <a:p>
            <a:r>
              <a:rPr lang="en-US" sz="1400"/>
              <a:t>DOCTORATES WITH PURPOSE</a:t>
            </a:r>
            <a:endParaRPr lang="en-US" sz="1400" dirty="0"/>
          </a:p>
        </p:txBody>
      </p:sp>
    </p:spTree>
    <p:extLst>
      <p:ext uri="{BB962C8B-B14F-4D97-AF65-F5344CB8AC3E}">
        <p14:creationId xmlns:p14="http://schemas.microsoft.com/office/powerpoint/2010/main" val="2065862895"/>
      </p:ext>
    </p:extLst>
  </p:cSld>
  <p:clrMapOvr>
    <a:masterClrMapping/>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880" userDrawn="1">
          <p15:clr>
            <a:srgbClr val="FBAE40"/>
          </p15:clr>
        </p15:guide>
        <p15:guide id="4" pos="5160" userDrawn="1">
          <p15:clr>
            <a:srgbClr val="FBAE40"/>
          </p15:clr>
        </p15:guide>
        <p15:guide id="5" pos="2520" userDrawn="1">
          <p15:clr>
            <a:srgbClr val="FBAE40"/>
          </p15:clr>
        </p15:guide>
        <p15:guide id="6" pos="4800" userDrawn="1">
          <p15:clr>
            <a:srgbClr val="FBAE40"/>
          </p15:clr>
        </p15:guide>
        <p15:guide id="7" orient="horz" pos="1224" userDrawn="1">
          <p15:clr>
            <a:srgbClr val="FBAE40"/>
          </p15:clr>
        </p15:guide>
        <p15:guide id="8" orient="horz" pos="1392" userDrawn="1">
          <p15:clr>
            <a:srgbClr val="FBAE40"/>
          </p15:clr>
        </p15:guide>
        <p15:guide id="10" orient="horz" pos="552"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p:nvPr>
        </p:nvSpPr>
        <p:spPr>
          <a:xfrm>
            <a:off x="964023" y="879063"/>
            <a:ext cx="4941477" cy="610863"/>
          </a:xfrm>
          <a:prstGeom prst="rect">
            <a:avLst/>
          </a:prstGeom>
        </p:spPr>
        <p:txBody>
          <a:bodyPr lIns="0" tIns="0" rIns="0" bIns="0" anchor="b" anchorCtr="0">
            <a:normAutofit/>
          </a:bodyPr>
          <a:lstStyle>
            <a:lvl1pPr>
              <a:defRPr sz="4400" b="1" i="0">
                <a:solidFill>
                  <a:schemeClr val="bg1"/>
                </a:solidFill>
                <a:latin typeface="+mj-lt"/>
              </a:defRPr>
            </a:lvl1pPr>
          </a:lstStyle>
          <a:p>
            <a:r>
              <a:rPr lang="en-US"/>
              <a:t>Click to edit Master title style</a:t>
            </a:r>
            <a:endParaRPr lang="en-US" dirty="0"/>
          </a:p>
        </p:txBody>
      </p:sp>
      <p:sp>
        <p:nvSpPr>
          <p:cNvPr id="9" name="Table Placeholder 2">
            <a:extLst>
              <a:ext uri="{FF2B5EF4-FFF2-40B4-BE49-F238E27FC236}">
                <a16:creationId xmlns:a16="http://schemas.microsoft.com/office/drawing/2014/main" id="{1506B022-475A-6647-98FF-D5C319A0C7C4}"/>
              </a:ext>
            </a:extLst>
          </p:cNvPr>
          <p:cNvSpPr>
            <a:spLocks noGrp="1"/>
          </p:cNvSpPr>
          <p:nvPr>
            <p:ph type="tbl" sz="quarter" idx="10"/>
          </p:nvPr>
        </p:nvSpPr>
        <p:spPr>
          <a:xfrm>
            <a:off x="952500" y="2219325"/>
            <a:ext cx="10287000" cy="2593109"/>
          </a:xfrm>
        </p:spPr>
        <p:txBody>
          <a:bodyPr/>
          <a:lstStyle/>
          <a:p>
            <a:r>
              <a:rPr lang="en-US"/>
              <a:t>Click icon to add table</a:t>
            </a:r>
            <a:endParaRPr lang="en-US" dirty="0"/>
          </a:p>
        </p:txBody>
      </p:sp>
      <p:grpSp>
        <p:nvGrpSpPr>
          <p:cNvPr id="2" name="Group 1">
            <a:extLst>
              <a:ext uri="{FF2B5EF4-FFF2-40B4-BE49-F238E27FC236}">
                <a16:creationId xmlns:a16="http://schemas.microsoft.com/office/drawing/2014/main" id="{B29EDB25-6697-CB66-D7AC-B9BC29EBE7ED}"/>
              </a:ext>
            </a:extLst>
          </p:cNvPr>
          <p:cNvGrpSpPr>
            <a:grpSpLocks/>
          </p:cNvGrpSpPr>
          <p:nvPr userDrawn="1"/>
        </p:nvGrpSpPr>
        <p:grpSpPr bwMode="auto">
          <a:xfrm rot="5400000" flipV="1">
            <a:off x="9232774" y="3534"/>
            <a:ext cx="2959226" cy="2959226"/>
            <a:chOff x="0" y="12289"/>
            <a:chExt cx="3550" cy="3551"/>
          </a:xfrm>
        </p:grpSpPr>
        <p:sp>
          <p:nvSpPr>
            <p:cNvPr id="3" name="Freeform 14">
              <a:extLst>
                <a:ext uri="{FF2B5EF4-FFF2-40B4-BE49-F238E27FC236}">
                  <a16:creationId xmlns:a16="http://schemas.microsoft.com/office/drawing/2014/main" id="{2C7F6B75-BEA5-DDD3-21B9-DBC7B8918753}"/>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rgbClr val="49236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4" name="Freeform 15">
              <a:extLst>
                <a:ext uri="{FF2B5EF4-FFF2-40B4-BE49-F238E27FC236}">
                  <a16:creationId xmlns:a16="http://schemas.microsoft.com/office/drawing/2014/main" id="{0DADF58D-6CCE-6D57-DD4C-4213AEA6FD2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5" name="Freeform 18">
              <a:extLst>
                <a:ext uri="{FF2B5EF4-FFF2-40B4-BE49-F238E27FC236}">
                  <a16:creationId xmlns:a16="http://schemas.microsoft.com/office/drawing/2014/main" id="{42CC506C-1EE5-78F2-17C1-B924617C4D8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rgbClr val="7757A4"/>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pic>
        <p:nvPicPr>
          <p:cNvPr id="10" name="Picture 9">
            <a:extLst>
              <a:ext uri="{FF2B5EF4-FFF2-40B4-BE49-F238E27FC236}">
                <a16:creationId xmlns:a16="http://schemas.microsoft.com/office/drawing/2014/main" id="{CD871F42-C78F-85C7-0DDF-9443A7E64E7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85436" y="6299793"/>
            <a:ext cx="418391" cy="415945"/>
          </a:xfrm>
          <a:prstGeom prst="rect">
            <a:avLst/>
          </a:prstGeom>
        </p:spPr>
      </p:pic>
      <p:sp>
        <p:nvSpPr>
          <p:cNvPr id="11" name="Footer Placeholder 4">
            <a:extLst>
              <a:ext uri="{FF2B5EF4-FFF2-40B4-BE49-F238E27FC236}">
                <a16:creationId xmlns:a16="http://schemas.microsoft.com/office/drawing/2014/main" id="{D95E3D25-79BA-550F-4E44-C04648A08D9E}"/>
              </a:ext>
            </a:extLst>
          </p:cNvPr>
          <p:cNvSpPr>
            <a:spLocks noGrp="1"/>
          </p:cNvSpPr>
          <p:nvPr>
            <p:ph type="ftr" sz="quarter" idx="3"/>
          </p:nvPr>
        </p:nvSpPr>
        <p:spPr>
          <a:xfrm>
            <a:off x="10693667" y="6362299"/>
            <a:ext cx="1317821" cy="334189"/>
          </a:xfrm>
          <a:prstGeom prst="rect">
            <a:avLst/>
          </a:prstGeom>
        </p:spPr>
        <p:txBody>
          <a:bodyPr vert="horz" lIns="0" tIns="0" rIns="0" bIns="0" rtlCol="0" anchor="t" anchorCtr="0"/>
          <a:lstStyle>
            <a:lvl1pPr algn="l">
              <a:defRPr sz="1200" b="0" i="0">
                <a:solidFill>
                  <a:schemeClr val="bg1"/>
                </a:solidFill>
                <a:latin typeface="+mj-lt"/>
              </a:defRPr>
            </a:lvl1pPr>
          </a:lstStyle>
          <a:p>
            <a:r>
              <a:rPr lang="en-US" sz="1400"/>
              <a:t>DOCTORATES WITH PURPOSE</a:t>
            </a:r>
            <a:endParaRPr lang="en-US" sz="1400" dirty="0"/>
          </a:p>
        </p:txBody>
      </p:sp>
    </p:spTree>
    <p:extLst>
      <p:ext uri="{BB962C8B-B14F-4D97-AF65-F5344CB8AC3E}">
        <p14:creationId xmlns:p14="http://schemas.microsoft.com/office/powerpoint/2010/main" val="3401310734"/>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tx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5C37098-CEB2-1E45-989B-3DD92F3B1A30}"/>
              </a:ext>
            </a:extLst>
          </p:cNvPr>
          <p:cNvSpPr>
            <a:spLocks noGrp="1"/>
          </p:cNvSpPr>
          <p:nvPr>
            <p:ph type="title"/>
          </p:nvPr>
        </p:nvSpPr>
        <p:spPr>
          <a:xfrm>
            <a:off x="964022" y="2476500"/>
            <a:ext cx="7132320" cy="3289971"/>
          </a:xfrm>
          <a:prstGeom prst="rect">
            <a:avLst/>
          </a:prstGeom>
          <a:ln>
            <a:noFill/>
          </a:ln>
        </p:spPr>
        <p:txBody>
          <a:bodyPr lIns="0" tIns="0" rIns="0" bIns="0" anchor="t" anchorCtr="0">
            <a:normAutofit/>
          </a:bodyPr>
          <a:lstStyle>
            <a:lvl1pPr>
              <a:lnSpc>
                <a:spcPct val="100000"/>
              </a:lnSpc>
              <a:defRPr sz="2800" b="0" i="0">
                <a:solidFill>
                  <a:schemeClr val="bg1"/>
                </a:solidFill>
                <a:latin typeface="+mn-lt"/>
              </a:defRPr>
            </a:lvl1pPr>
          </a:lstStyle>
          <a:p>
            <a:r>
              <a:rPr lang="en-US"/>
              <a:t>Click to edit Master title style</a:t>
            </a:r>
            <a:endParaRPr lang="en-US" dirty="0"/>
          </a:p>
        </p:txBody>
      </p:sp>
      <p:sp>
        <p:nvSpPr>
          <p:cNvPr id="10" name="TextBox 9">
            <a:extLst>
              <a:ext uri="{FF2B5EF4-FFF2-40B4-BE49-F238E27FC236}">
                <a16:creationId xmlns:a16="http://schemas.microsoft.com/office/drawing/2014/main" id="{E902327D-DBD4-7A4E-ABF2-A946A559A8AD}"/>
              </a:ext>
            </a:extLst>
          </p:cNvPr>
          <p:cNvSpPr txBox="1"/>
          <p:nvPr userDrawn="1"/>
        </p:nvSpPr>
        <p:spPr>
          <a:xfrm>
            <a:off x="699948" y="548291"/>
            <a:ext cx="1589372" cy="3170099"/>
          </a:xfrm>
          <a:prstGeom prst="rect">
            <a:avLst/>
          </a:prstGeom>
          <a:noFill/>
        </p:spPr>
        <p:txBody>
          <a:bodyPr wrap="square" rtlCol="0">
            <a:spAutoFit/>
          </a:bodyPr>
          <a:lstStyle/>
          <a:p>
            <a:r>
              <a:rPr lang="en-US" sz="20000" b="1" dirty="0">
                <a:solidFill>
                  <a:schemeClr val="bg1"/>
                </a:solidFill>
              </a:rPr>
              <a:t>“</a:t>
            </a:r>
          </a:p>
        </p:txBody>
      </p:sp>
      <p:sp>
        <p:nvSpPr>
          <p:cNvPr id="2" name="TextBox 1">
            <a:extLst>
              <a:ext uri="{FF2B5EF4-FFF2-40B4-BE49-F238E27FC236}">
                <a16:creationId xmlns:a16="http://schemas.microsoft.com/office/drawing/2014/main" id="{D5EB3C29-D1E2-70D5-B6DD-7E1A3D08DB87}"/>
              </a:ext>
            </a:extLst>
          </p:cNvPr>
          <p:cNvSpPr txBox="1"/>
          <p:nvPr userDrawn="1"/>
        </p:nvSpPr>
        <p:spPr>
          <a:xfrm>
            <a:off x="8175663" y="3825115"/>
            <a:ext cx="2251572" cy="3170099"/>
          </a:xfrm>
          <a:prstGeom prst="rect">
            <a:avLst/>
          </a:prstGeom>
          <a:noFill/>
        </p:spPr>
        <p:txBody>
          <a:bodyPr wrap="square" rtlCol="0">
            <a:spAutoFit/>
          </a:bodyPr>
          <a:lstStyle/>
          <a:p>
            <a:r>
              <a:rPr lang="en-US" sz="20000" b="1" dirty="0">
                <a:solidFill>
                  <a:schemeClr val="bg1"/>
                </a:solidFill>
              </a:rPr>
              <a:t>”</a:t>
            </a:r>
          </a:p>
        </p:txBody>
      </p:sp>
      <p:pic>
        <p:nvPicPr>
          <p:cNvPr id="3" name="Picture 2">
            <a:extLst>
              <a:ext uri="{FF2B5EF4-FFF2-40B4-BE49-F238E27FC236}">
                <a16:creationId xmlns:a16="http://schemas.microsoft.com/office/drawing/2014/main" id="{C44876CC-5113-9862-A499-D6A8D6538E3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21323" r="11145"/>
          <a:stretch/>
        </p:blipFill>
        <p:spPr>
          <a:xfrm>
            <a:off x="8228291" y="0"/>
            <a:ext cx="3963709" cy="3502111"/>
          </a:xfrm>
          <a:prstGeom prst="rect">
            <a:avLst/>
          </a:prstGeom>
        </p:spPr>
      </p:pic>
    </p:spTree>
    <p:extLst>
      <p:ext uri="{BB962C8B-B14F-4D97-AF65-F5344CB8AC3E}">
        <p14:creationId xmlns:p14="http://schemas.microsoft.com/office/powerpoint/2010/main" val="144782921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880" userDrawn="1">
          <p15:clr>
            <a:srgbClr val="FBAE40"/>
          </p15:clr>
        </p15:guide>
        <p15:guide id="4" pos="5160" userDrawn="1">
          <p15:clr>
            <a:srgbClr val="FBAE40"/>
          </p15:clr>
        </p15:guide>
        <p15:guide id="5" pos="2520" userDrawn="1">
          <p15:clr>
            <a:srgbClr val="FBAE40"/>
          </p15:clr>
        </p15:guide>
        <p15:guide id="6" pos="4800" userDrawn="1">
          <p15:clr>
            <a:srgbClr val="FBAE40"/>
          </p15:clr>
        </p15:guide>
        <p15:guide id="7" orient="horz" pos="1560">
          <p15:clr>
            <a:srgbClr val="FBAE40"/>
          </p15:clr>
        </p15:guide>
        <p15:guide id="8" orient="horz" pos="1752" userDrawn="1">
          <p15:clr>
            <a:srgbClr val="FBAE40"/>
          </p15:clr>
        </p15:guide>
        <p15:guide id="9" orient="horz" pos="1248"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Question">
    <p:bg>
      <p:bgPr>
        <a:solidFill>
          <a:schemeClr val="tx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5C37098-CEB2-1E45-989B-3DD92F3B1A30}"/>
              </a:ext>
            </a:extLst>
          </p:cNvPr>
          <p:cNvSpPr>
            <a:spLocks noGrp="1"/>
          </p:cNvSpPr>
          <p:nvPr>
            <p:ph type="title"/>
          </p:nvPr>
        </p:nvSpPr>
        <p:spPr>
          <a:xfrm>
            <a:off x="964022" y="2476500"/>
            <a:ext cx="7132320" cy="3289971"/>
          </a:xfrm>
          <a:prstGeom prst="rect">
            <a:avLst/>
          </a:prstGeom>
          <a:ln>
            <a:noFill/>
          </a:ln>
        </p:spPr>
        <p:txBody>
          <a:bodyPr lIns="0" tIns="0" rIns="0" bIns="0" anchor="t" anchorCtr="0">
            <a:normAutofit/>
          </a:bodyPr>
          <a:lstStyle>
            <a:lvl1pPr>
              <a:lnSpc>
                <a:spcPct val="100000"/>
              </a:lnSpc>
              <a:defRPr sz="2800" b="0" i="0">
                <a:solidFill>
                  <a:schemeClr val="bg1"/>
                </a:solidFill>
                <a:latin typeface="+mn-lt"/>
              </a:defRPr>
            </a:lvl1pPr>
          </a:lstStyle>
          <a:p>
            <a:r>
              <a:rPr lang="en-US"/>
              <a:t>Click to edit Master title style</a:t>
            </a:r>
            <a:endParaRPr lang="en-US" dirty="0"/>
          </a:p>
        </p:txBody>
      </p:sp>
      <p:sp>
        <p:nvSpPr>
          <p:cNvPr id="10" name="TextBox 9">
            <a:extLst>
              <a:ext uri="{FF2B5EF4-FFF2-40B4-BE49-F238E27FC236}">
                <a16:creationId xmlns:a16="http://schemas.microsoft.com/office/drawing/2014/main" id="{E902327D-DBD4-7A4E-ABF2-A946A559A8AD}"/>
              </a:ext>
            </a:extLst>
          </p:cNvPr>
          <p:cNvSpPr txBox="1"/>
          <p:nvPr userDrawn="1"/>
        </p:nvSpPr>
        <p:spPr>
          <a:xfrm>
            <a:off x="10177509" y="4789996"/>
            <a:ext cx="1589372" cy="1585049"/>
          </a:xfrm>
          <a:prstGeom prst="rect">
            <a:avLst/>
          </a:prstGeom>
          <a:noFill/>
        </p:spPr>
        <p:txBody>
          <a:bodyPr wrap="square" rtlCol="0">
            <a:spAutoFit/>
          </a:bodyPr>
          <a:lstStyle/>
          <a:p>
            <a:r>
              <a:rPr lang="en-US" sz="9700" b="1" dirty="0">
                <a:solidFill>
                  <a:schemeClr val="bg1"/>
                </a:solidFill>
              </a:rPr>
              <a:t>??</a:t>
            </a:r>
          </a:p>
        </p:txBody>
      </p:sp>
      <p:pic>
        <p:nvPicPr>
          <p:cNvPr id="7" name="Picture 6">
            <a:extLst>
              <a:ext uri="{FF2B5EF4-FFF2-40B4-BE49-F238E27FC236}">
                <a16:creationId xmlns:a16="http://schemas.microsoft.com/office/drawing/2014/main" id="{14A32D68-9C36-D501-1E44-565C98709CB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21323" r="11145" b="-1139"/>
          <a:stretch/>
        </p:blipFill>
        <p:spPr>
          <a:xfrm>
            <a:off x="8228291" y="0"/>
            <a:ext cx="3963709" cy="3552825"/>
          </a:xfrm>
          <a:prstGeom prst="rect">
            <a:avLst/>
          </a:prstGeom>
        </p:spPr>
      </p:pic>
    </p:spTree>
    <p:extLst>
      <p:ext uri="{BB962C8B-B14F-4D97-AF65-F5344CB8AC3E}">
        <p14:creationId xmlns:p14="http://schemas.microsoft.com/office/powerpoint/2010/main" val="256967447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880" userDrawn="1">
          <p15:clr>
            <a:srgbClr val="FBAE40"/>
          </p15:clr>
        </p15:guide>
        <p15:guide id="4" pos="5160" userDrawn="1">
          <p15:clr>
            <a:srgbClr val="FBAE40"/>
          </p15:clr>
        </p15:guide>
        <p15:guide id="5" pos="2520" userDrawn="1">
          <p15:clr>
            <a:srgbClr val="FBAE40"/>
          </p15:clr>
        </p15:guide>
        <p15:guide id="6" pos="4800" userDrawn="1">
          <p15:clr>
            <a:srgbClr val="FBAE40"/>
          </p15:clr>
        </p15:guide>
        <p15:guide id="7" orient="horz" pos="1560">
          <p15:clr>
            <a:srgbClr val="FBAE40"/>
          </p15:clr>
        </p15:guide>
        <p15:guide id="8" orient="horz" pos="1752" userDrawn="1">
          <p15:clr>
            <a:srgbClr val="FBAE40"/>
          </p15:clr>
        </p15:guide>
        <p15:guide id="9" orient="horz" pos="1248"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am 1">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C82066DD-D313-D148-89C7-338EB873A730}"/>
              </a:ext>
            </a:extLst>
          </p:cNvPr>
          <p:cNvGrpSpPr>
            <a:grpSpLocks/>
          </p:cNvGrpSpPr>
          <p:nvPr userDrawn="1"/>
        </p:nvGrpSpPr>
        <p:grpSpPr bwMode="auto">
          <a:xfrm rot="16200000" flipV="1">
            <a:off x="0" y="3900132"/>
            <a:ext cx="2959226" cy="2959226"/>
            <a:chOff x="0" y="12289"/>
            <a:chExt cx="3550" cy="3551"/>
          </a:xfrm>
        </p:grpSpPr>
        <p:sp>
          <p:nvSpPr>
            <p:cNvPr id="15" name="Freeform 14">
              <a:extLst>
                <a:ext uri="{FF2B5EF4-FFF2-40B4-BE49-F238E27FC236}">
                  <a16:creationId xmlns:a16="http://schemas.microsoft.com/office/drawing/2014/main" id="{A5BBD7C7-99D1-E841-A081-6912D1F2B85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rgbClr val="49236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6" name="Freeform 15">
              <a:extLst>
                <a:ext uri="{FF2B5EF4-FFF2-40B4-BE49-F238E27FC236}">
                  <a16:creationId xmlns:a16="http://schemas.microsoft.com/office/drawing/2014/main" id="{227A14EE-CB79-754A-8B19-EB9874B3158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9" name="Freeform 18">
              <a:extLst>
                <a:ext uri="{FF2B5EF4-FFF2-40B4-BE49-F238E27FC236}">
                  <a16:creationId xmlns:a16="http://schemas.microsoft.com/office/drawing/2014/main" id="{35B38B80-C3D3-4C47-B468-C41A8FF36F2A}"/>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rgbClr val="7757A4"/>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9" name="Title 1">
            <a:extLst>
              <a:ext uri="{FF2B5EF4-FFF2-40B4-BE49-F238E27FC236}">
                <a16:creationId xmlns:a16="http://schemas.microsoft.com/office/drawing/2014/main" id="{A5C37098-CEB2-1E45-989B-3DD92F3B1A30}"/>
              </a:ext>
            </a:extLst>
          </p:cNvPr>
          <p:cNvSpPr>
            <a:spLocks noGrp="1"/>
          </p:cNvSpPr>
          <p:nvPr>
            <p:ph type="title"/>
          </p:nvPr>
        </p:nvSpPr>
        <p:spPr>
          <a:xfrm>
            <a:off x="964023" y="879063"/>
            <a:ext cx="4941477" cy="610863"/>
          </a:xfrm>
          <a:prstGeom prst="rect">
            <a:avLst/>
          </a:prstGeom>
        </p:spPr>
        <p:txBody>
          <a:bodyPr lIns="0" tIns="0" rIns="0" bIns="0" anchor="b" anchorCtr="0">
            <a:normAutofit/>
          </a:bodyPr>
          <a:lstStyle>
            <a:lvl1pPr>
              <a:defRPr sz="4400" b="1" i="0">
                <a:latin typeface="+mj-lt"/>
              </a:defRPr>
            </a:lvl1pPr>
          </a:lstStyle>
          <a:p>
            <a:r>
              <a:rPr lang="en-US"/>
              <a:t>Click to edit Master title style</a:t>
            </a:r>
            <a:endParaRPr lang="en-US" dirty="0"/>
          </a:p>
        </p:txBody>
      </p:sp>
      <p:sp>
        <p:nvSpPr>
          <p:cNvPr id="12" name="Picture Placeholder 25">
            <a:extLst>
              <a:ext uri="{FF2B5EF4-FFF2-40B4-BE49-F238E27FC236}">
                <a16:creationId xmlns:a16="http://schemas.microsoft.com/office/drawing/2014/main" id="{7E6D46F2-0A83-44C1-A516-7F735BED4B41}"/>
              </a:ext>
            </a:extLst>
          </p:cNvPr>
          <p:cNvSpPr>
            <a:spLocks noGrp="1"/>
          </p:cNvSpPr>
          <p:nvPr>
            <p:ph type="pic" sz="quarter" idx="18"/>
          </p:nvPr>
        </p:nvSpPr>
        <p:spPr>
          <a:xfrm>
            <a:off x="1667699" y="1489926"/>
            <a:ext cx="2118245" cy="2037217"/>
          </a:xfrm>
          <a:prstGeom prst="rect">
            <a:avLst/>
          </a:prstGeom>
        </p:spPr>
        <p:txBody>
          <a:bodyPr/>
          <a:lstStyle/>
          <a:p>
            <a:r>
              <a:rPr lang="en-US"/>
              <a:t>Click icon to add picture</a:t>
            </a:r>
            <a:endParaRPr lang="en-US" dirty="0"/>
          </a:p>
        </p:txBody>
      </p:sp>
      <p:sp>
        <p:nvSpPr>
          <p:cNvPr id="20" name="Text Placeholder 29">
            <a:extLst>
              <a:ext uri="{FF2B5EF4-FFF2-40B4-BE49-F238E27FC236}">
                <a16:creationId xmlns:a16="http://schemas.microsoft.com/office/drawing/2014/main" id="{F7A0ADE6-2B1E-4141-A336-E036E6F701B9}"/>
              </a:ext>
            </a:extLst>
          </p:cNvPr>
          <p:cNvSpPr>
            <a:spLocks noGrp="1"/>
          </p:cNvSpPr>
          <p:nvPr>
            <p:ph type="body" sz="quarter" idx="12"/>
          </p:nvPr>
        </p:nvSpPr>
        <p:spPr>
          <a:xfrm>
            <a:off x="1667699" y="4065729"/>
            <a:ext cx="2133600" cy="369332"/>
          </a:xfrm>
        </p:spPr>
        <p:txBody>
          <a:bodyPr lIns="0" tIns="0" rIns="0" bIns="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21" name="Text Placeholder 29">
            <a:extLst>
              <a:ext uri="{FF2B5EF4-FFF2-40B4-BE49-F238E27FC236}">
                <a16:creationId xmlns:a16="http://schemas.microsoft.com/office/drawing/2014/main" id="{9650E7C0-7CF6-49FF-BC56-011954B5A999}"/>
              </a:ext>
            </a:extLst>
          </p:cNvPr>
          <p:cNvSpPr>
            <a:spLocks noGrp="1"/>
          </p:cNvSpPr>
          <p:nvPr>
            <p:ph type="body" sz="quarter" idx="11"/>
          </p:nvPr>
        </p:nvSpPr>
        <p:spPr>
          <a:xfrm>
            <a:off x="1667699" y="3609773"/>
            <a:ext cx="2133600" cy="205837"/>
          </a:xfrm>
        </p:spPr>
        <p:txBody>
          <a:bodyPr lIns="0" tIns="0" rIns="0" bIns="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a:r>
              <a:rPr lang="en-US"/>
              <a:t>Click to edit Master text styles</a:t>
            </a:r>
          </a:p>
        </p:txBody>
      </p:sp>
      <p:sp>
        <p:nvSpPr>
          <p:cNvPr id="24" name="Picture Placeholder 25">
            <a:extLst>
              <a:ext uri="{FF2B5EF4-FFF2-40B4-BE49-F238E27FC236}">
                <a16:creationId xmlns:a16="http://schemas.microsoft.com/office/drawing/2014/main" id="{BF1EE9A7-1A9A-42EE-856D-5F934082A7F2}"/>
              </a:ext>
            </a:extLst>
          </p:cNvPr>
          <p:cNvSpPr>
            <a:spLocks noGrp="1"/>
          </p:cNvSpPr>
          <p:nvPr>
            <p:ph type="pic" sz="quarter" idx="19"/>
          </p:nvPr>
        </p:nvSpPr>
        <p:spPr>
          <a:xfrm>
            <a:off x="5036877" y="1489926"/>
            <a:ext cx="2118245" cy="2037217"/>
          </a:xfrm>
          <a:prstGeom prst="rect">
            <a:avLst/>
          </a:prstGeom>
        </p:spPr>
        <p:txBody>
          <a:bodyPr/>
          <a:lstStyle/>
          <a:p>
            <a:r>
              <a:rPr lang="en-US"/>
              <a:t>Click icon to add picture</a:t>
            </a:r>
            <a:endParaRPr lang="en-US" dirty="0"/>
          </a:p>
        </p:txBody>
      </p:sp>
      <p:sp>
        <p:nvSpPr>
          <p:cNvPr id="25" name="Text Placeholder 29">
            <a:extLst>
              <a:ext uri="{FF2B5EF4-FFF2-40B4-BE49-F238E27FC236}">
                <a16:creationId xmlns:a16="http://schemas.microsoft.com/office/drawing/2014/main" id="{827386C4-0743-4F23-8BA6-9F39C1F552C8}"/>
              </a:ext>
            </a:extLst>
          </p:cNvPr>
          <p:cNvSpPr>
            <a:spLocks noGrp="1"/>
          </p:cNvSpPr>
          <p:nvPr>
            <p:ph type="body" sz="quarter" idx="20"/>
          </p:nvPr>
        </p:nvSpPr>
        <p:spPr>
          <a:xfrm>
            <a:off x="5036877" y="4065729"/>
            <a:ext cx="2133600" cy="369332"/>
          </a:xfrm>
        </p:spPr>
        <p:txBody>
          <a:bodyPr lIns="0" tIns="0" rIns="0" bIns="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26" name="Text Placeholder 29">
            <a:extLst>
              <a:ext uri="{FF2B5EF4-FFF2-40B4-BE49-F238E27FC236}">
                <a16:creationId xmlns:a16="http://schemas.microsoft.com/office/drawing/2014/main" id="{1A32C88B-0830-448D-AB5F-573544F34C85}"/>
              </a:ext>
            </a:extLst>
          </p:cNvPr>
          <p:cNvSpPr>
            <a:spLocks noGrp="1"/>
          </p:cNvSpPr>
          <p:nvPr>
            <p:ph type="body" sz="quarter" idx="21"/>
          </p:nvPr>
        </p:nvSpPr>
        <p:spPr>
          <a:xfrm>
            <a:off x="5036877" y="3609773"/>
            <a:ext cx="2133600" cy="205837"/>
          </a:xfrm>
        </p:spPr>
        <p:txBody>
          <a:bodyPr lIns="0" tIns="0" rIns="0" bIns="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a:r>
              <a:rPr lang="en-US"/>
              <a:t>Click to edit Master text styles</a:t>
            </a:r>
          </a:p>
        </p:txBody>
      </p:sp>
      <p:sp>
        <p:nvSpPr>
          <p:cNvPr id="27" name="Picture Placeholder 25">
            <a:extLst>
              <a:ext uri="{FF2B5EF4-FFF2-40B4-BE49-F238E27FC236}">
                <a16:creationId xmlns:a16="http://schemas.microsoft.com/office/drawing/2014/main" id="{47F712CD-D9F2-4C06-A1E9-64C0A4E1431D}"/>
              </a:ext>
            </a:extLst>
          </p:cNvPr>
          <p:cNvSpPr>
            <a:spLocks noGrp="1"/>
          </p:cNvSpPr>
          <p:nvPr>
            <p:ph type="pic" sz="quarter" idx="22"/>
          </p:nvPr>
        </p:nvSpPr>
        <p:spPr>
          <a:xfrm>
            <a:off x="8390700" y="1489926"/>
            <a:ext cx="2118245" cy="2037217"/>
          </a:xfrm>
          <a:prstGeom prst="rect">
            <a:avLst/>
          </a:prstGeom>
        </p:spPr>
        <p:txBody>
          <a:bodyPr/>
          <a:lstStyle/>
          <a:p>
            <a:r>
              <a:rPr lang="en-US"/>
              <a:t>Click icon to add picture</a:t>
            </a:r>
            <a:endParaRPr lang="en-US" dirty="0"/>
          </a:p>
        </p:txBody>
      </p:sp>
      <p:sp>
        <p:nvSpPr>
          <p:cNvPr id="28" name="Text Placeholder 29">
            <a:extLst>
              <a:ext uri="{FF2B5EF4-FFF2-40B4-BE49-F238E27FC236}">
                <a16:creationId xmlns:a16="http://schemas.microsoft.com/office/drawing/2014/main" id="{E263B05C-3ECB-4E38-8ADD-CA730BC0E159}"/>
              </a:ext>
            </a:extLst>
          </p:cNvPr>
          <p:cNvSpPr>
            <a:spLocks noGrp="1"/>
          </p:cNvSpPr>
          <p:nvPr>
            <p:ph type="body" sz="quarter" idx="23"/>
          </p:nvPr>
        </p:nvSpPr>
        <p:spPr>
          <a:xfrm>
            <a:off x="8390700" y="4065729"/>
            <a:ext cx="2133600" cy="369332"/>
          </a:xfrm>
        </p:spPr>
        <p:txBody>
          <a:bodyPr lIns="0" tIns="0" rIns="0" bIns="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29" name="Text Placeholder 29">
            <a:extLst>
              <a:ext uri="{FF2B5EF4-FFF2-40B4-BE49-F238E27FC236}">
                <a16:creationId xmlns:a16="http://schemas.microsoft.com/office/drawing/2014/main" id="{BACFEBB4-FCC3-4C2B-A52B-62BB3B69954D}"/>
              </a:ext>
            </a:extLst>
          </p:cNvPr>
          <p:cNvSpPr>
            <a:spLocks noGrp="1"/>
          </p:cNvSpPr>
          <p:nvPr>
            <p:ph type="body" sz="quarter" idx="24"/>
          </p:nvPr>
        </p:nvSpPr>
        <p:spPr>
          <a:xfrm>
            <a:off x="8390700" y="3609773"/>
            <a:ext cx="2133600" cy="205837"/>
          </a:xfrm>
        </p:spPr>
        <p:txBody>
          <a:bodyPr lIns="0" tIns="0" rIns="0" bIns="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a:r>
              <a:rPr lang="en-US"/>
              <a:t>Click to edit Master text styles</a:t>
            </a:r>
          </a:p>
        </p:txBody>
      </p:sp>
      <p:pic>
        <p:nvPicPr>
          <p:cNvPr id="5" name="Picture 4">
            <a:extLst>
              <a:ext uri="{FF2B5EF4-FFF2-40B4-BE49-F238E27FC236}">
                <a16:creationId xmlns:a16="http://schemas.microsoft.com/office/drawing/2014/main" id="{C7799E24-7FBE-B57D-CA64-39342296047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85436" y="6299793"/>
            <a:ext cx="418391" cy="415945"/>
          </a:xfrm>
          <a:prstGeom prst="rect">
            <a:avLst/>
          </a:prstGeom>
        </p:spPr>
      </p:pic>
      <p:sp>
        <p:nvSpPr>
          <p:cNvPr id="6" name="Footer Placeholder 4">
            <a:extLst>
              <a:ext uri="{FF2B5EF4-FFF2-40B4-BE49-F238E27FC236}">
                <a16:creationId xmlns:a16="http://schemas.microsoft.com/office/drawing/2014/main" id="{3F35D033-434E-E21C-2B43-0C1C73A7FE18}"/>
              </a:ext>
            </a:extLst>
          </p:cNvPr>
          <p:cNvSpPr>
            <a:spLocks noGrp="1"/>
          </p:cNvSpPr>
          <p:nvPr>
            <p:ph type="ftr" sz="quarter" idx="3"/>
          </p:nvPr>
        </p:nvSpPr>
        <p:spPr>
          <a:xfrm>
            <a:off x="10693667" y="6362299"/>
            <a:ext cx="1317821" cy="334189"/>
          </a:xfrm>
          <a:prstGeom prst="rect">
            <a:avLst/>
          </a:prstGeom>
        </p:spPr>
        <p:txBody>
          <a:bodyPr vert="horz" lIns="0" tIns="0" rIns="0" bIns="0" rtlCol="0" anchor="t" anchorCtr="0"/>
          <a:lstStyle>
            <a:lvl1pPr algn="l">
              <a:defRPr sz="1200" b="0" i="0">
                <a:solidFill>
                  <a:schemeClr val="bg1"/>
                </a:solidFill>
                <a:latin typeface="+mj-lt"/>
              </a:defRPr>
            </a:lvl1pPr>
          </a:lstStyle>
          <a:p>
            <a:r>
              <a:rPr lang="en-US" sz="1400"/>
              <a:t>DOCTORATES WITH PURPOSE</a:t>
            </a:r>
            <a:endParaRPr lang="en-US" sz="1400" dirty="0"/>
          </a:p>
        </p:txBody>
      </p:sp>
    </p:spTree>
    <p:extLst>
      <p:ext uri="{BB962C8B-B14F-4D97-AF65-F5344CB8AC3E}">
        <p14:creationId xmlns:p14="http://schemas.microsoft.com/office/powerpoint/2010/main" val="2434498077"/>
      </p:ext>
    </p:extLst>
  </p:cSld>
  <p:clrMapOvr>
    <a:masterClrMapping/>
  </p:clrMapOvr>
  <p:extLst>
    <p:ext uri="{DCECCB84-F9BA-43D5-87BE-67443E8EF086}">
      <p15:sldGuideLst xmlns:p15="http://schemas.microsoft.com/office/powerpoint/2012/main">
        <p15:guide id="1" pos="600">
          <p15:clr>
            <a:srgbClr val="FBAE40"/>
          </p15:clr>
        </p15:guide>
        <p15:guide id="6" pos="3480" userDrawn="1">
          <p15:clr>
            <a:srgbClr val="FBAE40"/>
          </p15:clr>
        </p15:guide>
        <p15:guide id="7" orient="horz" pos="1440" userDrawn="1">
          <p15:clr>
            <a:srgbClr val="FBAE40"/>
          </p15:clr>
        </p15:guide>
        <p15:guide id="9" orient="horz" pos="1224" userDrawn="1">
          <p15:clr>
            <a:srgbClr val="FBAE40"/>
          </p15:clr>
        </p15:guide>
        <p15:guide id="10" orient="horz" pos="552"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am 2">
    <p:bg>
      <p:bgPr>
        <a:solidFill>
          <a:schemeClr val="tx1"/>
        </a:solidFill>
        <a:effectLst/>
      </p:bgPr>
    </p:bg>
    <p:spTree>
      <p:nvGrpSpPr>
        <p:cNvPr id="1" name=""/>
        <p:cNvGrpSpPr/>
        <p:nvPr/>
      </p:nvGrpSpPr>
      <p:grpSpPr>
        <a:xfrm>
          <a:off x="0" y="0"/>
          <a:ext cx="0" cy="0"/>
          <a:chOff x="0" y="0"/>
          <a:chExt cx="0" cy="0"/>
        </a:xfrm>
      </p:grpSpPr>
      <p:sp>
        <p:nvSpPr>
          <p:cNvPr id="38" name="Picture Placeholder 25">
            <a:extLst>
              <a:ext uri="{FF2B5EF4-FFF2-40B4-BE49-F238E27FC236}">
                <a16:creationId xmlns:a16="http://schemas.microsoft.com/office/drawing/2014/main" id="{2274C164-503B-E746-A155-849A9BC2406E}"/>
              </a:ext>
            </a:extLst>
          </p:cNvPr>
          <p:cNvSpPr>
            <a:spLocks noGrp="1"/>
          </p:cNvSpPr>
          <p:nvPr>
            <p:ph type="pic" sz="quarter" idx="18"/>
          </p:nvPr>
        </p:nvSpPr>
        <p:spPr>
          <a:xfrm>
            <a:off x="954268" y="2572883"/>
            <a:ext cx="2118245" cy="2037217"/>
          </a:xfrm>
          <a:prstGeom prst="rect">
            <a:avLst/>
          </a:prstGeom>
        </p:spPr>
        <p:txBody>
          <a:bodyPr/>
          <a:lstStyle/>
          <a:p>
            <a:r>
              <a:rPr lang="en-US"/>
              <a:t>Click icon to add picture</a:t>
            </a:r>
            <a:endParaRPr lang="en-US" dirty="0"/>
          </a:p>
        </p:txBody>
      </p:sp>
      <p:sp>
        <p:nvSpPr>
          <p:cNvPr id="61" name="Title 1">
            <a:extLst>
              <a:ext uri="{FF2B5EF4-FFF2-40B4-BE49-F238E27FC236}">
                <a16:creationId xmlns:a16="http://schemas.microsoft.com/office/drawing/2014/main" id="{E2F20AFE-B282-5146-B0D6-F2FC1B6D303E}"/>
              </a:ext>
            </a:extLst>
          </p:cNvPr>
          <p:cNvSpPr>
            <a:spLocks noGrp="1"/>
          </p:cNvSpPr>
          <p:nvPr>
            <p:ph type="title"/>
          </p:nvPr>
        </p:nvSpPr>
        <p:spPr>
          <a:xfrm>
            <a:off x="964022" y="879063"/>
            <a:ext cx="7532277" cy="610863"/>
          </a:xfrm>
          <a:prstGeom prst="rect">
            <a:avLst/>
          </a:prstGeom>
        </p:spPr>
        <p:txBody>
          <a:bodyPr lIns="0" tIns="0" rIns="0" bIns="0" anchor="b" anchorCtr="0">
            <a:normAutofit/>
          </a:bodyPr>
          <a:lstStyle>
            <a:lvl1pPr>
              <a:defRPr sz="4400" b="1" i="0">
                <a:solidFill>
                  <a:schemeClr val="bg1"/>
                </a:solidFill>
                <a:latin typeface="+mj-lt"/>
              </a:defRPr>
            </a:lvl1pPr>
          </a:lstStyle>
          <a:p>
            <a:r>
              <a:rPr lang="en-US"/>
              <a:t>Click to edit Master title style</a:t>
            </a:r>
            <a:endParaRPr lang="en-US" dirty="0"/>
          </a:p>
        </p:txBody>
      </p:sp>
      <p:cxnSp>
        <p:nvCxnSpPr>
          <p:cNvPr id="62" name="Straight Connector 61">
            <a:extLst>
              <a:ext uri="{FF2B5EF4-FFF2-40B4-BE49-F238E27FC236}">
                <a16:creationId xmlns:a16="http://schemas.microsoft.com/office/drawing/2014/main" id="{F777D2F0-DE3F-8343-B97A-E7FA440532FD}"/>
              </a:ext>
            </a:extLst>
          </p:cNvPr>
          <p:cNvCxnSpPr>
            <a:cxnSpLocks/>
          </p:cNvCxnSpPr>
          <p:nvPr userDrawn="1"/>
        </p:nvCxnSpPr>
        <p:spPr>
          <a:xfrm>
            <a:off x="952500" y="1939108"/>
            <a:ext cx="2133600" cy="0"/>
          </a:xfrm>
          <a:prstGeom prst="line">
            <a:avLst/>
          </a:prstGeom>
          <a:ln w="101600">
            <a:solidFill>
              <a:schemeClr val="tx1"/>
            </a:solidFill>
          </a:ln>
        </p:spPr>
        <p:style>
          <a:lnRef idx="1">
            <a:schemeClr val="dk1"/>
          </a:lnRef>
          <a:fillRef idx="0">
            <a:schemeClr val="dk1"/>
          </a:fillRef>
          <a:effectRef idx="0">
            <a:schemeClr val="dk1"/>
          </a:effectRef>
          <a:fontRef idx="minor">
            <a:schemeClr val="tx1"/>
          </a:fontRef>
        </p:style>
      </p:cxnSp>
      <p:sp>
        <p:nvSpPr>
          <p:cNvPr id="63" name="Picture Placeholder 25">
            <a:extLst>
              <a:ext uri="{FF2B5EF4-FFF2-40B4-BE49-F238E27FC236}">
                <a16:creationId xmlns:a16="http://schemas.microsoft.com/office/drawing/2014/main" id="{AF1B5ED8-33F6-FB44-AA92-F0D227BB310C}"/>
              </a:ext>
            </a:extLst>
          </p:cNvPr>
          <p:cNvSpPr>
            <a:spLocks noGrp="1"/>
          </p:cNvSpPr>
          <p:nvPr>
            <p:ph type="pic" sz="quarter" idx="24"/>
          </p:nvPr>
        </p:nvSpPr>
        <p:spPr>
          <a:xfrm>
            <a:off x="3658280" y="2572883"/>
            <a:ext cx="2118245" cy="2037217"/>
          </a:xfrm>
          <a:prstGeom prst="rect">
            <a:avLst/>
          </a:prstGeom>
        </p:spPr>
        <p:txBody>
          <a:bodyPr/>
          <a:lstStyle/>
          <a:p>
            <a:r>
              <a:rPr lang="en-US"/>
              <a:t>Click icon to add picture</a:t>
            </a:r>
            <a:endParaRPr lang="en-US" dirty="0"/>
          </a:p>
        </p:txBody>
      </p:sp>
      <p:sp>
        <p:nvSpPr>
          <p:cNvPr id="72" name="Text Placeholder 29">
            <a:extLst>
              <a:ext uri="{FF2B5EF4-FFF2-40B4-BE49-F238E27FC236}">
                <a16:creationId xmlns:a16="http://schemas.microsoft.com/office/drawing/2014/main" id="{0D824BDD-2D23-C943-8FE9-60B7B23B5ECD}"/>
              </a:ext>
            </a:extLst>
          </p:cNvPr>
          <p:cNvSpPr>
            <a:spLocks noGrp="1"/>
          </p:cNvSpPr>
          <p:nvPr>
            <p:ph type="body" sz="quarter" idx="12"/>
          </p:nvPr>
        </p:nvSpPr>
        <p:spPr>
          <a:xfrm>
            <a:off x="952500" y="5393169"/>
            <a:ext cx="2133600" cy="369332"/>
          </a:xfrm>
        </p:spPr>
        <p:txBody>
          <a:bodyPr lIns="0" tIns="0" rIns="0" bIns="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73" name="Text Placeholder 29">
            <a:extLst>
              <a:ext uri="{FF2B5EF4-FFF2-40B4-BE49-F238E27FC236}">
                <a16:creationId xmlns:a16="http://schemas.microsoft.com/office/drawing/2014/main" id="{2F3D441E-DFB1-084B-8192-C6CBECCA40B9}"/>
              </a:ext>
            </a:extLst>
          </p:cNvPr>
          <p:cNvSpPr>
            <a:spLocks noGrp="1"/>
          </p:cNvSpPr>
          <p:nvPr>
            <p:ph type="body" sz="quarter" idx="11"/>
          </p:nvPr>
        </p:nvSpPr>
        <p:spPr>
          <a:xfrm>
            <a:off x="952500" y="4986745"/>
            <a:ext cx="2133600" cy="205837"/>
          </a:xfrm>
        </p:spPr>
        <p:txBody>
          <a:bodyPr lIns="0" tIns="0" rIns="0" bIns="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a:r>
              <a:rPr lang="en-US"/>
              <a:t>Click to edit Master text styles</a:t>
            </a:r>
          </a:p>
        </p:txBody>
      </p:sp>
      <p:sp>
        <p:nvSpPr>
          <p:cNvPr id="74" name="Text Placeholder 29">
            <a:extLst>
              <a:ext uri="{FF2B5EF4-FFF2-40B4-BE49-F238E27FC236}">
                <a16:creationId xmlns:a16="http://schemas.microsoft.com/office/drawing/2014/main" id="{25797825-E7AE-2C41-A965-E6F0D70D9747}"/>
              </a:ext>
            </a:extLst>
          </p:cNvPr>
          <p:cNvSpPr>
            <a:spLocks noGrp="1"/>
          </p:cNvSpPr>
          <p:nvPr>
            <p:ph type="body" sz="quarter" idx="13"/>
          </p:nvPr>
        </p:nvSpPr>
        <p:spPr>
          <a:xfrm>
            <a:off x="3663042" y="5393169"/>
            <a:ext cx="2128157" cy="369332"/>
          </a:xfrm>
        </p:spPr>
        <p:txBody>
          <a:bodyPr lIns="0" tIns="0" rIns="0" bIns="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75" name="Text Placeholder 29">
            <a:extLst>
              <a:ext uri="{FF2B5EF4-FFF2-40B4-BE49-F238E27FC236}">
                <a16:creationId xmlns:a16="http://schemas.microsoft.com/office/drawing/2014/main" id="{63C1927C-E23B-204E-9F3A-2A67D2BF702C}"/>
              </a:ext>
            </a:extLst>
          </p:cNvPr>
          <p:cNvSpPr>
            <a:spLocks noGrp="1"/>
          </p:cNvSpPr>
          <p:nvPr>
            <p:ph type="body" sz="quarter" idx="15"/>
          </p:nvPr>
        </p:nvSpPr>
        <p:spPr>
          <a:xfrm>
            <a:off x="3663042" y="4986745"/>
            <a:ext cx="2128157" cy="205837"/>
          </a:xfrm>
        </p:spPr>
        <p:txBody>
          <a:bodyPr lIns="0" tIns="0" rIns="0" bIns="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a:r>
              <a:rPr lang="en-US"/>
              <a:t>Click to edit Master text styles</a:t>
            </a:r>
          </a:p>
        </p:txBody>
      </p:sp>
      <p:sp>
        <p:nvSpPr>
          <p:cNvPr id="76" name="Text Placeholder 29">
            <a:extLst>
              <a:ext uri="{FF2B5EF4-FFF2-40B4-BE49-F238E27FC236}">
                <a16:creationId xmlns:a16="http://schemas.microsoft.com/office/drawing/2014/main" id="{EC81F0F5-C204-7248-A336-A655814A8A34}"/>
              </a:ext>
            </a:extLst>
          </p:cNvPr>
          <p:cNvSpPr>
            <a:spLocks noGrp="1"/>
          </p:cNvSpPr>
          <p:nvPr>
            <p:ph type="body" sz="quarter" idx="16"/>
          </p:nvPr>
        </p:nvSpPr>
        <p:spPr>
          <a:xfrm>
            <a:off x="6367054" y="5393169"/>
            <a:ext cx="2129245" cy="369332"/>
          </a:xfrm>
        </p:spPr>
        <p:txBody>
          <a:bodyPr lIns="0" tIns="0" rIns="0" bIns="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77" name="Text Placeholder 29">
            <a:extLst>
              <a:ext uri="{FF2B5EF4-FFF2-40B4-BE49-F238E27FC236}">
                <a16:creationId xmlns:a16="http://schemas.microsoft.com/office/drawing/2014/main" id="{C9FEF82E-4E9C-8343-9D36-C4A00D7137CC}"/>
              </a:ext>
            </a:extLst>
          </p:cNvPr>
          <p:cNvSpPr>
            <a:spLocks noGrp="1"/>
          </p:cNvSpPr>
          <p:nvPr>
            <p:ph type="body" sz="quarter" idx="31"/>
          </p:nvPr>
        </p:nvSpPr>
        <p:spPr>
          <a:xfrm>
            <a:off x="6367054" y="4986745"/>
            <a:ext cx="2129245" cy="205837"/>
          </a:xfrm>
        </p:spPr>
        <p:txBody>
          <a:bodyPr lIns="0" tIns="0" rIns="0" bIns="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a:r>
              <a:rPr lang="en-US"/>
              <a:t>Click to edit Master text styles</a:t>
            </a:r>
          </a:p>
        </p:txBody>
      </p:sp>
      <p:sp>
        <p:nvSpPr>
          <p:cNvPr id="78" name="Text Placeholder 29">
            <a:extLst>
              <a:ext uri="{FF2B5EF4-FFF2-40B4-BE49-F238E27FC236}">
                <a16:creationId xmlns:a16="http://schemas.microsoft.com/office/drawing/2014/main" id="{F8AF6664-A005-7A42-9AEF-C5AA5603E49D}"/>
              </a:ext>
            </a:extLst>
          </p:cNvPr>
          <p:cNvSpPr>
            <a:spLocks noGrp="1"/>
          </p:cNvSpPr>
          <p:nvPr>
            <p:ph type="body" sz="quarter" idx="19"/>
          </p:nvPr>
        </p:nvSpPr>
        <p:spPr>
          <a:xfrm>
            <a:off x="9110254" y="5393169"/>
            <a:ext cx="2129245" cy="369332"/>
          </a:xfrm>
        </p:spPr>
        <p:txBody>
          <a:bodyPr lIns="0" tIns="0" rIns="0" bIns="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79" name="Text Placeholder 29">
            <a:extLst>
              <a:ext uri="{FF2B5EF4-FFF2-40B4-BE49-F238E27FC236}">
                <a16:creationId xmlns:a16="http://schemas.microsoft.com/office/drawing/2014/main" id="{5F6C1E52-E2B6-5F45-A863-5BB35ABAFCD6}"/>
              </a:ext>
            </a:extLst>
          </p:cNvPr>
          <p:cNvSpPr>
            <a:spLocks noGrp="1"/>
          </p:cNvSpPr>
          <p:nvPr>
            <p:ph type="body" sz="quarter" idx="21"/>
          </p:nvPr>
        </p:nvSpPr>
        <p:spPr>
          <a:xfrm>
            <a:off x="9110254" y="4986745"/>
            <a:ext cx="2129245" cy="205837"/>
          </a:xfrm>
        </p:spPr>
        <p:txBody>
          <a:bodyPr lIns="0" tIns="0" rIns="0" bIns="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a:r>
              <a:rPr lang="en-US"/>
              <a:t>Click to edit Master text styles</a:t>
            </a:r>
          </a:p>
        </p:txBody>
      </p:sp>
      <p:sp>
        <p:nvSpPr>
          <p:cNvPr id="66" name="Picture Placeholder 25">
            <a:extLst>
              <a:ext uri="{FF2B5EF4-FFF2-40B4-BE49-F238E27FC236}">
                <a16:creationId xmlns:a16="http://schemas.microsoft.com/office/drawing/2014/main" id="{2D21D633-C51E-E94E-BAE3-96F52F76E496}"/>
              </a:ext>
            </a:extLst>
          </p:cNvPr>
          <p:cNvSpPr>
            <a:spLocks noGrp="1"/>
          </p:cNvSpPr>
          <p:nvPr>
            <p:ph type="pic" sz="quarter" idx="27"/>
          </p:nvPr>
        </p:nvSpPr>
        <p:spPr>
          <a:xfrm>
            <a:off x="6362292" y="2572883"/>
            <a:ext cx="2118245" cy="2037217"/>
          </a:xfrm>
          <a:prstGeom prst="rect">
            <a:avLst/>
          </a:prstGeom>
        </p:spPr>
        <p:txBody>
          <a:bodyPr/>
          <a:lstStyle/>
          <a:p>
            <a:r>
              <a:rPr lang="en-US"/>
              <a:t>Click icon to add picture</a:t>
            </a:r>
            <a:endParaRPr lang="en-US" dirty="0"/>
          </a:p>
        </p:txBody>
      </p:sp>
      <p:sp>
        <p:nvSpPr>
          <p:cNvPr id="69" name="Picture Placeholder 25">
            <a:extLst>
              <a:ext uri="{FF2B5EF4-FFF2-40B4-BE49-F238E27FC236}">
                <a16:creationId xmlns:a16="http://schemas.microsoft.com/office/drawing/2014/main" id="{639EFA5A-9C69-DF4D-81B7-FA1F8CCCF934}"/>
              </a:ext>
            </a:extLst>
          </p:cNvPr>
          <p:cNvSpPr>
            <a:spLocks noGrp="1"/>
          </p:cNvSpPr>
          <p:nvPr>
            <p:ph type="pic" sz="quarter" idx="30"/>
          </p:nvPr>
        </p:nvSpPr>
        <p:spPr>
          <a:xfrm>
            <a:off x="9112023" y="2572883"/>
            <a:ext cx="2118245" cy="2037217"/>
          </a:xfrm>
          <a:prstGeom prst="rect">
            <a:avLst/>
          </a:prstGeom>
        </p:spPr>
        <p:txBody>
          <a:bodyPr/>
          <a:lstStyle/>
          <a:p>
            <a:r>
              <a:rPr lang="en-US"/>
              <a:t>Click icon to add picture</a:t>
            </a:r>
            <a:endParaRPr lang="en-US" dirty="0"/>
          </a:p>
        </p:txBody>
      </p:sp>
      <p:grpSp>
        <p:nvGrpSpPr>
          <p:cNvPr id="41" name="Group 40">
            <a:extLst>
              <a:ext uri="{FF2B5EF4-FFF2-40B4-BE49-F238E27FC236}">
                <a16:creationId xmlns:a16="http://schemas.microsoft.com/office/drawing/2014/main" id="{87A6C927-F76C-4149-B647-AFFFA5CA0411}"/>
              </a:ext>
            </a:extLst>
          </p:cNvPr>
          <p:cNvGrpSpPr>
            <a:grpSpLocks/>
          </p:cNvGrpSpPr>
          <p:nvPr userDrawn="1"/>
        </p:nvGrpSpPr>
        <p:grpSpPr bwMode="auto">
          <a:xfrm rot="16200000" flipV="1">
            <a:off x="0" y="3900132"/>
            <a:ext cx="2959226" cy="2959226"/>
            <a:chOff x="0" y="12289"/>
            <a:chExt cx="3550" cy="3551"/>
          </a:xfrm>
        </p:grpSpPr>
        <p:sp>
          <p:nvSpPr>
            <p:cNvPr id="42" name="Freeform 24">
              <a:extLst>
                <a:ext uri="{FF2B5EF4-FFF2-40B4-BE49-F238E27FC236}">
                  <a16:creationId xmlns:a16="http://schemas.microsoft.com/office/drawing/2014/main" id="{9DE2AC11-3586-41E3-AE6E-8EA26F9AE746}"/>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rgbClr val="7757A4"/>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43" name="Freeform 25">
              <a:extLst>
                <a:ext uri="{FF2B5EF4-FFF2-40B4-BE49-F238E27FC236}">
                  <a16:creationId xmlns:a16="http://schemas.microsoft.com/office/drawing/2014/main" id="{AA1019C3-CC19-4FB9-9AE4-33D65DAFD7BA}"/>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44" name="Freeform 26">
              <a:extLst>
                <a:ext uri="{FF2B5EF4-FFF2-40B4-BE49-F238E27FC236}">
                  <a16:creationId xmlns:a16="http://schemas.microsoft.com/office/drawing/2014/main" id="{E1135012-4ADF-4553-B61E-5DBE0197FF3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rgbClr val="49236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pic>
        <p:nvPicPr>
          <p:cNvPr id="3" name="Picture 2">
            <a:extLst>
              <a:ext uri="{FF2B5EF4-FFF2-40B4-BE49-F238E27FC236}">
                <a16:creationId xmlns:a16="http://schemas.microsoft.com/office/drawing/2014/main" id="{E70BD76C-B2F4-F854-0028-E89FAFBBB73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85436" y="6299793"/>
            <a:ext cx="418391" cy="415945"/>
          </a:xfrm>
          <a:prstGeom prst="rect">
            <a:avLst/>
          </a:prstGeom>
        </p:spPr>
      </p:pic>
      <p:sp>
        <p:nvSpPr>
          <p:cNvPr id="6" name="Footer Placeholder 4">
            <a:extLst>
              <a:ext uri="{FF2B5EF4-FFF2-40B4-BE49-F238E27FC236}">
                <a16:creationId xmlns:a16="http://schemas.microsoft.com/office/drawing/2014/main" id="{30895277-1273-B098-A60F-0864FA177B50}"/>
              </a:ext>
            </a:extLst>
          </p:cNvPr>
          <p:cNvSpPr>
            <a:spLocks noGrp="1"/>
          </p:cNvSpPr>
          <p:nvPr>
            <p:ph type="ftr" sz="quarter" idx="3"/>
          </p:nvPr>
        </p:nvSpPr>
        <p:spPr>
          <a:xfrm>
            <a:off x="10693667" y="6362299"/>
            <a:ext cx="1317821" cy="334189"/>
          </a:xfrm>
          <a:prstGeom prst="rect">
            <a:avLst/>
          </a:prstGeom>
        </p:spPr>
        <p:txBody>
          <a:bodyPr vert="horz" lIns="0" tIns="0" rIns="0" bIns="0" rtlCol="0" anchor="t" anchorCtr="0"/>
          <a:lstStyle>
            <a:lvl1pPr algn="l">
              <a:defRPr sz="1200" b="0" i="0">
                <a:solidFill>
                  <a:schemeClr val="bg1"/>
                </a:solidFill>
                <a:latin typeface="+mj-lt"/>
              </a:defRPr>
            </a:lvl1pPr>
          </a:lstStyle>
          <a:p>
            <a:r>
              <a:rPr lang="en-US" sz="1400"/>
              <a:t>DOCTORATES WITH PURPOSE</a:t>
            </a:r>
            <a:endParaRPr lang="en-US" sz="1400" dirty="0"/>
          </a:p>
        </p:txBody>
      </p:sp>
    </p:spTree>
    <p:extLst>
      <p:ext uri="{BB962C8B-B14F-4D97-AF65-F5344CB8AC3E}">
        <p14:creationId xmlns:p14="http://schemas.microsoft.com/office/powerpoint/2010/main" val="99636246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304" userDrawn="1">
          <p15:clr>
            <a:srgbClr val="FBAE40"/>
          </p15:clr>
        </p15:guide>
        <p15:guide id="4" pos="4008" userDrawn="1">
          <p15:clr>
            <a:srgbClr val="FBAE40"/>
          </p15:clr>
        </p15:guide>
        <p15:guide id="5" pos="1944" userDrawn="1">
          <p15:clr>
            <a:srgbClr val="FBAE40"/>
          </p15:clr>
        </p15:guide>
        <p15:guide id="6" pos="3648" userDrawn="1">
          <p15:clr>
            <a:srgbClr val="FBAE40"/>
          </p15:clr>
        </p15:guide>
        <p15:guide id="7" orient="horz" pos="1392" userDrawn="1">
          <p15:clr>
            <a:srgbClr val="FBAE40"/>
          </p15:clr>
        </p15:guide>
        <p15:guide id="8" orient="horz" pos="552" userDrawn="1">
          <p15:clr>
            <a:srgbClr val="FBAE40"/>
          </p15:clr>
        </p15:guide>
        <p15:guide id="9" orient="horz" pos="1224" userDrawn="1">
          <p15:clr>
            <a:srgbClr val="FBAE40"/>
          </p15:clr>
        </p15:guide>
        <p15:guide id="10" pos="5352" userDrawn="1">
          <p15:clr>
            <a:srgbClr val="FBAE40"/>
          </p15:clr>
        </p15:guide>
        <p15:guide id="11" pos="5736" userDrawn="1">
          <p15:clr>
            <a:srgbClr val="FBAE40"/>
          </p15:clr>
        </p15:guide>
        <p15:guide id="12" orient="horz" pos="2904" userDrawn="1">
          <p15:clr>
            <a:srgbClr val="FBAE40"/>
          </p15:clr>
        </p15:guide>
        <p15:guide id="13" orient="horz" pos="1608"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meline ">
    <p:bg>
      <p:bgPr>
        <a:solidFill>
          <a:schemeClr val="tx1"/>
        </a:solidFill>
        <a:effectLst/>
      </p:bgPr>
    </p:bg>
    <p:spTree>
      <p:nvGrpSpPr>
        <p:cNvPr id="1" name=""/>
        <p:cNvGrpSpPr/>
        <p:nvPr/>
      </p:nvGrpSpPr>
      <p:grpSpPr>
        <a:xfrm>
          <a:off x="0" y="0"/>
          <a:ext cx="0" cy="0"/>
          <a:chOff x="0" y="0"/>
          <a:chExt cx="0" cy="0"/>
        </a:xfrm>
      </p:grpSpPr>
      <p:cxnSp>
        <p:nvCxnSpPr>
          <p:cNvPr id="21" name="Straight Connector 20">
            <a:extLst>
              <a:ext uri="{FF2B5EF4-FFF2-40B4-BE49-F238E27FC236}">
                <a16:creationId xmlns:a16="http://schemas.microsoft.com/office/drawing/2014/main" id="{040046AF-E5BF-854D-9986-7C3019770FE7}"/>
              </a:ext>
            </a:extLst>
          </p:cNvPr>
          <p:cNvCxnSpPr>
            <a:cxnSpLocks/>
          </p:cNvCxnSpPr>
          <p:nvPr userDrawn="1"/>
        </p:nvCxnSpPr>
        <p:spPr>
          <a:xfrm flipH="1">
            <a:off x="1045959" y="2213783"/>
            <a:ext cx="2136" cy="1828800"/>
          </a:xfrm>
          <a:prstGeom prst="line">
            <a:avLst/>
          </a:prstGeom>
          <a:ln w="165100">
            <a:solidFill>
              <a:srgbClr val="492366"/>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76CA14A6-0144-BC49-A8D4-C979D13258C0}"/>
              </a:ext>
            </a:extLst>
          </p:cNvPr>
          <p:cNvCxnSpPr>
            <a:cxnSpLocks/>
          </p:cNvCxnSpPr>
          <p:nvPr userDrawn="1"/>
        </p:nvCxnSpPr>
        <p:spPr>
          <a:xfrm flipH="1">
            <a:off x="6180493" y="2213783"/>
            <a:ext cx="11102" cy="1828800"/>
          </a:xfrm>
          <a:prstGeom prst="line">
            <a:avLst/>
          </a:prstGeom>
          <a:ln w="165100">
            <a:solidFill>
              <a:srgbClr val="492366"/>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A582FC2-A135-5743-B9C0-6AC7225B42E1}"/>
              </a:ext>
            </a:extLst>
          </p:cNvPr>
          <p:cNvCxnSpPr>
            <a:cxnSpLocks/>
          </p:cNvCxnSpPr>
          <p:nvPr userDrawn="1"/>
        </p:nvCxnSpPr>
        <p:spPr>
          <a:xfrm flipH="1">
            <a:off x="8745623" y="3904712"/>
            <a:ext cx="2136" cy="1828800"/>
          </a:xfrm>
          <a:prstGeom prst="line">
            <a:avLst/>
          </a:prstGeom>
          <a:ln w="165100">
            <a:solidFill>
              <a:srgbClr val="7757A4"/>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7C43222-5868-0247-838F-58F4F6C8EE75}"/>
              </a:ext>
            </a:extLst>
          </p:cNvPr>
          <p:cNvCxnSpPr>
            <a:cxnSpLocks/>
          </p:cNvCxnSpPr>
          <p:nvPr userDrawn="1"/>
        </p:nvCxnSpPr>
        <p:spPr>
          <a:xfrm flipH="1">
            <a:off x="3611089" y="3895941"/>
            <a:ext cx="2136" cy="1828800"/>
          </a:xfrm>
          <a:prstGeom prst="line">
            <a:avLst/>
          </a:prstGeom>
          <a:ln w="165100">
            <a:solidFill>
              <a:srgbClr val="7757A4"/>
            </a:solidFill>
          </a:ln>
        </p:spPr>
        <p:style>
          <a:lnRef idx="1">
            <a:schemeClr val="accent1"/>
          </a:lnRef>
          <a:fillRef idx="0">
            <a:schemeClr val="accent1"/>
          </a:fillRef>
          <a:effectRef idx="0">
            <a:schemeClr val="accent1"/>
          </a:effectRef>
          <a:fontRef idx="minor">
            <a:schemeClr val="tx1"/>
          </a:fontRef>
        </p:style>
      </p:cxnSp>
      <p:sp>
        <p:nvSpPr>
          <p:cNvPr id="30" name="Title 1">
            <a:extLst>
              <a:ext uri="{FF2B5EF4-FFF2-40B4-BE49-F238E27FC236}">
                <a16:creationId xmlns:a16="http://schemas.microsoft.com/office/drawing/2014/main" id="{46EEE005-F78A-9D4F-B159-964376C387DD}"/>
              </a:ext>
            </a:extLst>
          </p:cNvPr>
          <p:cNvSpPr>
            <a:spLocks noGrp="1"/>
          </p:cNvSpPr>
          <p:nvPr>
            <p:ph type="title"/>
          </p:nvPr>
        </p:nvSpPr>
        <p:spPr>
          <a:xfrm>
            <a:off x="964023" y="879063"/>
            <a:ext cx="4941477" cy="610863"/>
          </a:xfrm>
          <a:prstGeom prst="rect">
            <a:avLst/>
          </a:prstGeom>
        </p:spPr>
        <p:txBody>
          <a:bodyPr lIns="0" tIns="0" rIns="0" bIns="0" anchor="b" anchorCtr="0">
            <a:normAutofit/>
          </a:bodyPr>
          <a:lstStyle>
            <a:lvl1pPr>
              <a:defRPr sz="4400" b="1" i="0">
                <a:solidFill>
                  <a:schemeClr val="bg1"/>
                </a:solidFill>
                <a:latin typeface="+mj-lt"/>
              </a:defRPr>
            </a:lvl1pPr>
          </a:lstStyle>
          <a:p>
            <a:r>
              <a:rPr lang="en-US"/>
              <a:t>Click to edit Master title style</a:t>
            </a:r>
            <a:endParaRPr lang="en-US" dirty="0"/>
          </a:p>
        </p:txBody>
      </p:sp>
      <p:sp>
        <p:nvSpPr>
          <p:cNvPr id="96" name="Text Placeholder 29">
            <a:extLst>
              <a:ext uri="{FF2B5EF4-FFF2-40B4-BE49-F238E27FC236}">
                <a16:creationId xmlns:a16="http://schemas.microsoft.com/office/drawing/2014/main" id="{FC61536F-8EA7-5A48-AF76-8B0E251BD8CB}"/>
              </a:ext>
            </a:extLst>
          </p:cNvPr>
          <p:cNvSpPr>
            <a:spLocks noGrp="1"/>
          </p:cNvSpPr>
          <p:nvPr>
            <p:ph type="body" sz="quarter" idx="12"/>
          </p:nvPr>
        </p:nvSpPr>
        <p:spPr>
          <a:xfrm>
            <a:off x="1296955" y="2934856"/>
            <a:ext cx="2133600" cy="369332"/>
          </a:xfrm>
          <a:ln>
            <a:noFill/>
          </a:ln>
        </p:spPr>
        <p:txBody>
          <a:bodyPr lIns="0" tIns="0" rIns="0" bIns="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97" name="Text Placeholder 29">
            <a:extLst>
              <a:ext uri="{FF2B5EF4-FFF2-40B4-BE49-F238E27FC236}">
                <a16:creationId xmlns:a16="http://schemas.microsoft.com/office/drawing/2014/main" id="{64FFD994-BD97-ED49-8607-286ECBB1CDA3}"/>
              </a:ext>
            </a:extLst>
          </p:cNvPr>
          <p:cNvSpPr>
            <a:spLocks noGrp="1"/>
          </p:cNvSpPr>
          <p:nvPr>
            <p:ph type="body" sz="quarter" idx="11"/>
          </p:nvPr>
        </p:nvSpPr>
        <p:spPr>
          <a:xfrm>
            <a:off x="1296955" y="2568686"/>
            <a:ext cx="2133600" cy="205837"/>
          </a:xfrm>
          <a:ln>
            <a:noFill/>
          </a:ln>
        </p:spPr>
        <p:txBody>
          <a:bodyPr lIns="0" tIns="0" rIns="0" bIns="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a:r>
              <a:rPr lang="en-US"/>
              <a:t>Click to edit Master text styles</a:t>
            </a:r>
          </a:p>
        </p:txBody>
      </p:sp>
      <p:sp>
        <p:nvSpPr>
          <p:cNvPr id="102" name="Text Placeholder 29">
            <a:extLst>
              <a:ext uri="{FF2B5EF4-FFF2-40B4-BE49-F238E27FC236}">
                <a16:creationId xmlns:a16="http://schemas.microsoft.com/office/drawing/2014/main" id="{D1ADE805-BFBC-ED47-B9CB-6CB2FF02E868}"/>
              </a:ext>
            </a:extLst>
          </p:cNvPr>
          <p:cNvSpPr>
            <a:spLocks noGrp="1"/>
          </p:cNvSpPr>
          <p:nvPr>
            <p:ph type="body" sz="quarter" idx="30"/>
          </p:nvPr>
        </p:nvSpPr>
        <p:spPr>
          <a:xfrm>
            <a:off x="3897799" y="5087328"/>
            <a:ext cx="2133600" cy="369332"/>
          </a:xfrm>
          <a:ln>
            <a:noFill/>
          </a:ln>
        </p:spPr>
        <p:txBody>
          <a:bodyPr lIns="0" tIns="0" rIns="0" bIns="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103" name="Text Placeholder 29">
            <a:extLst>
              <a:ext uri="{FF2B5EF4-FFF2-40B4-BE49-F238E27FC236}">
                <a16:creationId xmlns:a16="http://schemas.microsoft.com/office/drawing/2014/main" id="{334A3589-641F-F547-891B-149579153B75}"/>
              </a:ext>
            </a:extLst>
          </p:cNvPr>
          <p:cNvSpPr>
            <a:spLocks noGrp="1"/>
          </p:cNvSpPr>
          <p:nvPr>
            <p:ph type="body" sz="quarter" idx="31"/>
          </p:nvPr>
        </p:nvSpPr>
        <p:spPr>
          <a:xfrm>
            <a:off x="3897799" y="4701908"/>
            <a:ext cx="2133600" cy="205837"/>
          </a:xfrm>
          <a:ln>
            <a:noFill/>
          </a:ln>
        </p:spPr>
        <p:txBody>
          <a:bodyPr vert="horz" lIns="0" tIns="0" rIns="0" bIns="0" rtlCol="0">
            <a:noAutofit/>
          </a:bodyPr>
          <a:lstStyle>
            <a:lvl1pPr marL="0" indent="0">
              <a:spcBef>
                <a:spcPts val="400"/>
              </a:spcBef>
              <a:buNone/>
              <a:defRPr lang="en-US" sz="1800" spc="0" baseline="0" dirty="0">
                <a:latin typeface="+mj-lt"/>
              </a:defRPr>
            </a:lvl1pPr>
            <a:lvl2pPr>
              <a:defRPr sz="4000"/>
            </a:lvl2pPr>
            <a:lvl3pPr>
              <a:defRPr sz="4000"/>
            </a:lvl3pPr>
            <a:lvl4pPr>
              <a:defRPr sz="4000"/>
            </a:lvl4pPr>
            <a:lvl5pPr>
              <a:defRPr sz="4000"/>
            </a:lvl5pPr>
          </a:lstStyle>
          <a:p>
            <a:pPr marL="0" lvl="0" indent="0">
              <a:spcBef>
                <a:spcPts val="400"/>
              </a:spcBef>
              <a:buNone/>
            </a:pPr>
            <a:r>
              <a:rPr lang="en-US"/>
              <a:t>Click to edit Master text styles</a:t>
            </a:r>
          </a:p>
        </p:txBody>
      </p:sp>
      <p:sp>
        <p:nvSpPr>
          <p:cNvPr id="106" name="Text Placeholder 29">
            <a:extLst>
              <a:ext uri="{FF2B5EF4-FFF2-40B4-BE49-F238E27FC236}">
                <a16:creationId xmlns:a16="http://schemas.microsoft.com/office/drawing/2014/main" id="{A63F8454-D12E-A641-ABD0-8977D3F5EC05}"/>
              </a:ext>
            </a:extLst>
          </p:cNvPr>
          <p:cNvSpPr>
            <a:spLocks noGrp="1"/>
          </p:cNvSpPr>
          <p:nvPr>
            <p:ph type="body" sz="quarter" idx="32"/>
          </p:nvPr>
        </p:nvSpPr>
        <p:spPr>
          <a:xfrm>
            <a:off x="9001711" y="5087328"/>
            <a:ext cx="2133600" cy="369332"/>
          </a:xfrm>
          <a:ln>
            <a:noFill/>
          </a:ln>
        </p:spPr>
        <p:txBody>
          <a:bodyPr lIns="0" tIns="0" rIns="0" bIns="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107" name="Text Placeholder 29">
            <a:extLst>
              <a:ext uri="{FF2B5EF4-FFF2-40B4-BE49-F238E27FC236}">
                <a16:creationId xmlns:a16="http://schemas.microsoft.com/office/drawing/2014/main" id="{F35AA15D-DBAD-9840-8764-A5B6D486A234}"/>
              </a:ext>
            </a:extLst>
          </p:cNvPr>
          <p:cNvSpPr>
            <a:spLocks noGrp="1"/>
          </p:cNvSpPr>
          <p:nvPr>
            <p:ph type="body" sz="quarter" idx="33"/>
          </p:nvPr>
        </p:nvSpPr>
        <p:spPr>
          <a:xfrm>
            <a:off x="9001711" y="4701908"/>
            <a:ext cx="2133600" cy="205837"/>
          </a:xfrm>
          <a:ln>
            <a:noFill/>
          </a:ln>
        </p:spPr>
        <p:txBody>
          <a:bodyPr vert="horz" lIns="0" tIns="0" rIns="0" bIns="0" rtlCol="0">
            <a:noAutofit/>
          </a:bodyPr>
          <a:lstStyle>
            <a:lvl1pPr marL="0" indent="0">
              <a:spcBef>
                <a:spcPts val="400"/>
              </a:spcBef>
              <a:buNone/>
              <a:defRPr lang="en-US" sz="1800" spc="0" baseline="0" dirty="0">
                <a:latin typeface="+mj-lt"/>
              </a:defRPr>
            </a:lvl1pPr>
            <a:lvl2pPr>
              <a:defRPr sz="4000"/>
            </a:lvl2pPr>
            <a:lvl3pPr>
              <a:defRPr sz="4000"/>
            </a:lvl3pPr>
            <a:lvl4pPr>
              <a:defRPr sz="4000"/>
            </a:lvl4pPr>
            <a:lvl5pPr>
              <a:defRPr sz="4000"/>
            </a:lvl5pPr>
          </a:lstStyle>
          <a:p>
            <a:pPr marL="0" lvl="0" indent="0">
              <a:spcBef>
                <a:spcPts val="400"/>
              </a:spcBef>
              <a:buNone/>
            </a:pPr>
            <a:r>
              <a:rPr lang="en-US"/>
              <a:t>Click to edit Master text styles</a:t>
            </a:r>
          </a:p>
        </p:txBody>
      </p:sp>
      <p:sp>
        <p:nvSpPr>
          <p:cNvPr id="108" name="Text Placeholder 29">
            <a:extLst>
              <a:ext uri="{FF2B5EF4-FFF2-40B4-BE49-F238E27FC236}">
                <a16:creationId xmlns:a16="http://schemas.microsoft.com/office/drawing/2014/main" id="{8357CA0F-1A55-B145-8305-562F0DF22543}"/>
              </a:ext>
            </a:extLst>
          </p:cNvPr>
          <p:cNvSpPr>
            <a:spLocks noGrp="1"/>
          </p:cNvSpPr>
          <p:nvPr>
            <p:ph type="body" sz="quarter" idx="34"/>
          </p:nvPr>
        </p:nvSpPr>
        <p:spPr>
          <a:xfrm>
            <a:off x="6438143" y="2934856"/>
            <a:ext cx="2133600" cy="369332"/>
          </a:xfrm>
          <a:ln>
            <a:noFill/>
          </a:ln>
        </p:spPr>
        <p:txBody>
          <a:bodyPr lIns="0" tIns="0" rIns="0" bIns="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109" name="Text Placeholder 29">
            <a:extLst>
              <a:ext uri="{FF2B5EF4-FFF2-40B4-BE49-F238E27FC236}">
                <a16:creationId xmlns:a16="http://schemas.microsoft.com/office/drawing/2014/main" id="{D6C49F6F-AF28-8942-8442-8F54A1DC388B}"/>
              </a:ext>
            </a:extLst>
          </p:cNvPr>
          <p:cNvSpPr>
            <a:spLocks noGrp="1"/>
          </p:cNvSpPr>
          <p:nvPr>
            <p:ph type="body" sz="quarter" idx="35"/>
          </p:nvPr>
        </p:nvSpPr>
        <p:spPr>
          <a:xfrm>
            <a:off x="6438143" y="2568686"/>
            <a:ext cx="2133600" cy="205837"/>
          </a:xfrm>
          <a:ln>
            <a:noFill/>
          </a:ln>
        </p:spPr>
        <p:txBody>
          <a:bodyPr lIns="0" tIns="0" rIns="0" bIns="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a:r>
              <a:rPr lang="en-US"/>
              <a:t>Click to edit Master text styles</a:t>
            </a:r>
          </a:p>
        </p:txBody>
      </p:sp>
      <p:cxnSp>
        <p:nvCxnSpPr>
          <p:cNvPr id="8" name="Straight Connector 7">
            <a:extLst>
              <a:ext uri="{FF2B5EF4-FFF2-40B4-BE49-F238E27FC236}">
                <a16:creationId xmlns:a16="http://schemas.microsoft.com/office/drawing/2014/main" id="{4CE2724A-BCA1-604F-9D18-BF05746408C2}"/>
              </a:ext>
            </a:extLst>
          </p:cNvPr>
          <p:cNvCxnSpPr/>
          <p:nvPr userDrawn="1"/>
        </p:nvCxnSpPr>
        <p:spPr>
          <a:xfrm>
            <a:off x="967689" y="3968780"/>
            <a:ext cx="10275477" cy="0"/>
          </a:xfrm>
          <a:prstGeom prst="line">
            <a:avLst/>
          </a:prstGeom>
          <a:ln w="165100">
            <a:solidFill>
              <a:srgbClr val="768694"/>
            </a:solidFill>
          </a:ln>
        </p:spPr>
        <p:style>
          <a:lnRef idx="1">
            <a:schemeClr val="accent1"/>
          </a:lnRef>
          <a:fillRef idx="0">
            <a:schemeClr val="accent1"/>
          </a:fillRef>
          <a:effectRef idx="0">
            <a:schemeClr val="accent1"/>
          </a:effectRef>
          <a:fontRef idx="minor">
            <a:schemeClr val="tx1"/>
          </a:fontRef>
        </p:style>
      </p:cxnSp>
      <p:sp>
        <p:nvSpPr>
          <p:cNvPr id="44" name="Rectangle 43">
            <a:extLst>
              <a:ext uri="{FF2B5EF4-FFF2-40B4-BE49-F238E27FC236}">
                <a16:creationId xmlns:a16="http://schemas.microsoft.com/office/drawing/2014/main" id="{4923D7D1-A9CC-C34C-86FF-43B5C8978712}"/>
              </a:ext>
            </a:extLst>
          </p:cNvPr>
          <p:cNvSpPr/>
          <p:nvPr userDrawn="1"/>
        </p:nvSpPr>
        <p:spPr>
          <a:xfrm>
            <a:off x="964323" y="3883241"/>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6119FF13-13AB-3448-B24E-58E18B3CE2B6}"/>
              </a:ext>
            </a:extLst>
          </p:cNvPr>
          <p:cNvSpPr/>
          <p:nvPr userDrawn="1"/>
        </p:nvSpPr>
        <p:spPr>
          <a:xfrm>
            <a:off x="3531590" y="3892012"/>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22F8F982-870E-AE44-B0D3-B3313BC48DB7}"/>
              </a:ext>
            </a:extLst>
          </p:cNvPr>
          <p:cNvSpPr/>
          <p:nvPr userDrawn="1"/>
        </p:nvSpPr>
        <p:spPr>
          <a:xfrm>
            <a:off x="6098857" y="3883241"/>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C549A137-DB5E-9C40-8C0A-ED607212022C}"/>
              </a:ext>
            </a:extLst>
          </p:cNvPr>
          <p:cNvSpPr/>
          <p:nvPr userDrawn="1"/>
        </p:nvSpPr>
        <p:spPr>
          <a:xfrm>
            <a:off x="8666124" y="3892012"/>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a:extLst>
              <a:ext uri="{FF2B5EF4-FFF2-40B4-BE49-F238E27FC236}">
                <a16:creationId xmlns:a16="http://schemas.microsoft.com/office/drawing/2014/main" id="{8EEC096C-3648-C269-3CDE-DD74AEBEFA8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85436" y="6299793"/>
            <a:ext cx="418391" cy="415945"/>
          </a:xfrm>
          <a:prstGeom prst="rect">
            <a:avLst/>
          </a:prstGeom>
        </p:spPr>
      </p:pic>
      <p:sp>
        <p:nvSpPr>
          <p:cNvPr id="4" name="Footer Placeholder 4">
            <a:extLst>
              <a:ext uri="{FF2B5EF4-FFF2-40B4-BE49-F238E27FC236}">
                <a16:creationId xmlns:a16="http://schemas.microsoft.com/office/drawing/2014/main" id="{DB5EB3E0-4E5E-2066-BE00-2737F9BD443B}"/>
              </a:ext>
            </a:extLst>
          </p:cNvPr>
          <p:cNvSpPr>
            <a:spLocks noGrp="1"/>
          </p:cNvSpPr>
          <p:nvPr>
            <p:ph type="ftr" sz="quarter" idx="3"/>
          </p:nvPr>
        </p:nvSpPr>
        <p:spPr>
          <a:xfrm>
            <a:off x="10693667" y="6362299"/>
            <a:ext cx="1317821" cy="334189"/>
          </a:xfrm>
          <a:prstGeom prst="rect">
            <a:avLst/>
          </a:prstGeom>
        </p:spPr>
        <p:txBody>
          <a:bodyPr vert="horz" lIns="0" tIns="0" rIns="0" bIns="0" rtlCol="0" anchor="t" anchorCtr="0"/>
          <a:lstStyle>
            <a:lvl1pPr algn="l">
              <a:defRPr sz="1200" b="0" i="0">
                <a:solidFill>
                  <a:schemeClr val="bg1"/>
                </a:solidFill>
                <a:latin typeface="+mj-lt"/>
              </a:defRPr>
            </a:lvl1pPr>
          </a:lstStyle>
          <a:p>
            <a:r>
              <a:rPr lang="en-US" sz="1400"/>
              <a:t>DOCTORATES WITH PURPOSE</a:t>
            </a:r>
            <a:endParaRPr lang="en-US" sz="1400" dirty="0"/>
          </a:p>
        </p:txBody>
      </p:sp>
    </p:spTree>
    <p:extLst>
      <p:ext uri="{BB962C8B-B14F-4D97-AF65-F5344CB8AC3E}">
        <p14:creationId xmlns:p14="http://schemas.microsoft.com/office/powerpoint/2010/main" val="298615523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880" userDrawn="1">
          <p15:clr>
            <a:srgbClr val="FBAE40"/>
          </p15:clr>
        </p15:guide>
        <p15:guide id="4" pos="5160" userDrawn="1">
          <p15:clr>
            <a:srgbClr val="FBAE40"/>
          </p15:clr>
        </p15:guide>
        <p15:guide id="5" pos="2520" userDrawn="1">
          <p15:clr>
            <a:srgbClr val="FBAE40"/>
          </p15:clr>
        </p15:guide>
        <p15:guide id="6" pos="4800" userDrawn="1">
          <p15:clr>
            <a:srgbClr val="FBAE40"/>
          </p15:clr>
        </p15:guide>
        <p15:guide id="7" orient="horz" pos="1224" userDrawn="1">
          <p15:clr>
            <a:srgbClr val="FBAE40"/>
          </p15:clr>
        </p15:guide>
        <p15:guide id="8" orient="horz" pos="3768" userDrawn="1">
          <p15:clr>
            <a:srgbClr val="FBAE40"/>
          </p15:clr>
        </p15:guide>
        <p15:guide id="9" orient="horz" pos="552" userDrawn="1">
          <p15:clr>
            <a:srgbClr val="FBAE40"/>
          </p15:clr>
        </p15:guide>
        <p15:guide id="10" orient="horz" pos="1512" userDrawn="1">
          <p15:clr>
            <a:srgbClr val="FBAE40"/>
          </p15:clr>
        </p15:guide>
        <p15:guide id="11" orient="horz" pos="2832"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 Column">
    <p:bg>
      <p:bgPr>
        <a:solidFill>
          <a:schemeClr val="tx1"/>
        </a:solidFill>
        <a:effectLst/>
      </p:bgPr>
    </p:bg>
    <p:spTree>
      <p:nvGrpSpPr>
        <p:cNvPr id="1" name=""/>
        <p:cNvGrpSpPr/>
        <p:nvPr/>
      </p:nvGrpSpPr>
      <p:grpSpPr>
        <a:xfrm>
          <a:off x="0" y="0"/>
          <a:ext cx="0" cy="0"/>
          <a:chOff x="0" y="0"/>
          <a:chExt cx="0" cy="0"/>
        </a:xfrm>
      </p:grpSpPr>
      <p:sp>
        <p:nvSpPr>
          <p:cNvPr id="32" name="Title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anchor="b" anchorCtr="0">
            <a:normAutofit/>
          </a:bodyPr>
          <a:lstStyle>
            <a:lvl1pPr>
              <a:defRPr sz="4400" b="1" i="0">
                <a:latin typeface="+mj-lt"/>
              </a:defRPr>
            </a:lvl1pPr>
          </a:lstStyle>
          <a:p>
            <a:r>
              <a:rPr lang="en-US"/>
              <a:t>Click to edit Master title style</a:t>
            </a:r>
            <a:endParaRPr lang="en-US" dirty="0"/>
          </a:p>
        </p:txBody>
      </p:sp>
      <p:cxnSp>
        <p:nvCxnSpPr>
          <p:cNvPr id="33" name="Straight Connector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4838701" cy="0"/>
          </a:xfrm>
          <a:prstGeom prst="line">
            <a:avLst/>
          </a:prstGeom>
          <a:ln w="101600">
            <a:solidFill>
              <a:srgbClr val="7757A4"/>
            </a:solidFill>
          </a:ln>
        </p:spPr>
        <p:style>
          <a:lnRef idx="1">
            <a:schemeClr val="dk1"/>
          </a:lnRef>
          <a:fillRef idx="0">
            <a:schemeClr val="dk1"/>
          </a:fillRef>
          <a:effectRef idx="0">
            <a:schemeClr val="dk1"/>
          </a:effectRef>
          <a:fontRef idx="minor">
            <a:schemeClr val="tx1"/>
          </a:fontRef>
        </p:style>
      </p:cxnSp>
      <p:sp>
        <p:nvSpPr>
          <p:cNvPr id="23" name="Text Placeholder 2">
            <a:extLst>
              <a:ext uri="{FF2B5EF4-FFF2-40B4-BE49-F238E27FC236}">
                <a16:creationId xmlns:a16="http://schemas.microsoft.com/office/drawing/2014/main" id="{A6147D10-E7D7-8F40-AF69-726398729333}"/>
              </a:ext>
            </a:extLst>
          </p:cNvPr>
          <p:cNvSpPr>
            <a:spLocks noGrp="1"/>
          </p:cNvSpPr>
          <p:nvPr>
            <p:ph type="body" idx="1"/>
          </p:nvPr>
        </p:nvSpPr>
        <p:spPr>
          <a:xfrm>
            <a:off x="964023" y="2300984"/>
            <a:ext cx="4827178" cy="404216"/>
          </a:xfrm>
          <a:prstGeom prst="rect">
            <a:avLst/>
          </a:prstGeom>
        </p:spPr>
        <p:txBody>
          <a:bodyPr lIns="0" tIns="0" rIns="0" bIns="0" anchor="t" anchorCtr="0">
            <a:normAutofit/>
          </a:bodyPr>
          <a:lstStyle>
            <a:lvl1pPr marL="0" indent="0">
              <a:buNone/>
              <a:defRPr sz="1800" b="0" i="0" spc="0" baseline="0">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5" name="Text Placeholder 2">
            <a:extLst>
              <a:ext uri="{FF2B5EF4-FFF2-40B4-BE49-F238E27FC236}">
                <a16:creationId xmlns:a16="http://schemas.microsoft.com/office/drawing/2014/main" id="{3A0EE708-F36B-444B-9A8B-D48D69535E45}"/>
              </a:ext>
            </a:extLst>
          </p:cNvPr>
          <p:cNvSpPr>
            <a:spLocks noGrp="1"/>
          </p:cNvSpPr>
          <p:nvPr>
            <p:ph type="body" idx="10"/>
          </p:nvPr>
        </p:nvSpPr>
        <p:spPr>
          <a:xfrm>
            <a:off x="6362700" y="2300984"/>
            <a:ext cx="4764829" cy="404216"/>
          </a:xfrm>
          <a:prstGeom prst="rect">
            <a:avLst/>
          </a:prstGeom>
        </p:spPr>
        <p:txBody>
          <a:bodyPr lIns="0" tIns="0" rIns="0" bIns="0" anchor="t" anchorCtr="0">
            <a:normAutofit/>
          </a:bodyPr>
          <a:lstStyle>
            <a:lvl1pPr marL="0" indent="0">
              <a:buNone/>
              <a:defRPr sz="1800" b="0" i="0" spc="0" baseline="0">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7" name="Content Placeholder 3">
            <a:extLst>
              <a:ext uri="{FF2B5EF4-FFF2-40B4-BE49-F238E27FC236}">
                <a16:creationId xmlns:a16="http://schemas.microsoft.com/office/drawing/2014/main" id="{E81957B7-CEA6-A446-A203-471CF9A57FFD}"/>
              </a:ext>
            </a:extLst>
          </p:cNvPr>
          <p:cNvSpPr>
            <a:spLocks noGrp="1"/>
          </p:cNvSpPr>
          <p:nvPr>
            <p:ph sz="half" idx="2"/>
          </p:nvPr>
        </p:nvSpPr>
        <p:spPr>
          <a:xfrm>
            <a:off x="964023" y="2799146"/>
            <a:ext cx="4827178" cy="1942138"/>
          </a:xfrm>
          <a:prstGeom prst="rect">
            <a:avLst/>
          </a:prstGeom>
        </p:spPr>
        <p:txBody>
          <a:bodyPr lIns="0" tIns="0" rIns="0" bIns="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a:r>
              <a:rPr lang="en-US"/>
              <a:t>Click to edit Master text styles</a:t>
            </a:r>
          </a:p>
        </p:txBody>
      </p:sp>
      <p:sp>
        <p:nvSpPr>
          <p:cNvPr id="28" name="Content Placeholder 3">
            <a:extLst>
              <a:ext uri="{FF2B5EF4-FFF2-40B4-BE49-F238E27FC236}">
                <a16:creationId xmlns:a16="http://schemas.microsoft.com/office/drawing/2014/main" id="{E40D4044-0F7B-0647-BAB5-16B23EBD9ECD}"/>
              </a:ext>
            </a:extLst>
          </p:cNvPr>
          <p:cNvSpPr>
            <a:spLocks noGrp="1"/>
          </p:cNvSpPr>
          <p:nvPr>
            <p:ph sz="half" idx="13"/>
          </p:nvPr>
        </p:nvSpPr>
        <p:spPr>
          <a:xfrm>
            <a:off x="6362700" y="2799146"/>
            <a:ext cx="4756241" cy="1942138"/>
          </a:xfrm>
          <a:prstGeom prst="rect">
            <a:avLst/>
          </a:prstGeom>
        </p:spPr>
        <p:txBody>
          <a:bodyPr lIns="0" tIns="0" rIns="0" bIns="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a:r>
              <a:rPr lang="en-US"/>
              <a:t>Click to edit Master text styles</a:t>
            </a:r>
          </a:p>
        </p:txBody>
      </p:sp>
      <p:cxnSp>
        <p:nvCxnSpPr>
          <p:cNvPr id="15" name="Straight Connector 14">
            <a:extLst>
              <a:ext uri="{FF2B5EF4-FFF2-40B4-BE49-F238E27FC236}">
                <a16:creationId xmlns:a16="http://schemas.microsoft.com/office/drawing/2014/main" id="{ED51C063-0222-064B-8A2E-485FE9EAC10D}"/>
              </a:ext>
            </a:extLst>
          </p:cNvPr>
          <p:cNvCxnSpPr>
            <a:cxnSpLocks/>
          </p:cNvCxnSpPr>
          <p:nvPr userDrawn="1"/>
        </p:nvCxnSpPr>
        <p:spPr>
          <a:xfrm>
            <a:off x="6362700" y="1939108"/>
            <a:ext cx="4756241" cy="0"/>
          </a:xfrm>
          <a:prstGeom prst="line">
            <a:avLst/>
          </a:prstGeom>
          <a:ln w="101600">
            <a:solidFill>
              <a:srgbClr val="7757A4"/>
            </a:solidFill>
          </a:ln>
        </p:spPr>
        <p:style>
          <a:lnRef idx="1">
            <a:schemeClr val="dk1"/>
          </a:lnRef>
          <a:fillRef idx="0">
            <a:schemeClr val="dk1"/>
          </a:fillRef>
          <a:effectRef idx="0">
            <a:schemeClr val="dk1"/>
          </a:effectRef>
          <a:fontRef idx="minor">
            <a:schemeClr val="tx1"/>
          </a:fontRef>
        </p:style>
      </p:cxnSp>
      <p:grpSp>
        <p:nvGrpSpPr>
          <p:cNvPr id="16" name="Group 15">
            <a:extLst>
              <a:ext uri="{FF2B5EF4-FFF2-40B4-BE49-F238E27FC236}">
                <a16:creationId xmlns:a16="http://schemas.microsoft.com/office/drawing/2014/main" id="{86F51088-77AD-4EF7-9746-5EF0C77E9583}"/>
              </a:ext>
            </a:extLst>
          </p:cNvPr>
          <p:cNvGrpSpPr>
            <a:grpSpLocks/>
          </p:cNvGrpSpPr>
          <p:nvPr userDrawn="1"/>
        </p:nvGrpSpPr>
        <p:grpSpPr bwMode="auto">
          <a:xfrm rot="5400000" flipV="1">
            <a:off x="9232774" y="3534"/>
            <a:ext cx="2959226" cy="2959226"/>
            <a:chOff x="0" y="12289"/>
            <a:chExt cx="3550" cy="3551"/>
          </a:xfrm>
        </p:grpSpPr>
        <p:sp>
          <p:nvSpPr>
            <p:cNvPr id="17" name="Freeform 14">
              <a:extLst>
                <a:ext uri="{FF2B5EF4-FFF2-40B4-BE49-F238E27FC236}">
                  <a16:creationId xmlns:a16="http://schemas.microsoft.com/office/drawing/2014/main" id="{C76C8E00-E900-4728-80F2-34B53E278C5F}"/>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rgbClr val="49236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8" name="Freeform 15">
              <a:extLst>
                <a:ext uri="{FF2B5EF4-FFF2-40B4-BE49-F238E27FC236}">
                  <a16:creationId xmlns:a16="http://schemas.microsoft.com/office/drawing/2014/main" id="{0AB8A0AB-6DF6-41FE-A0E3-9BC650B68DC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4" name="Freeform 18">
              <a:extLst>
                <a:ext uri="{FF2B5EF4-FFF2-40B4-BE49-F238E27FC236}">
                  <a16:creationId xmlns:a16="http://schemas.microsoft.com/office/drawing/2014/main" id="{CF5AFB2D-0CBA-45BD-A9F8-824AFC828095}"/>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rgbClr val="7757A4"/>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pic>
        <p:nvPicPr>
          <p:cNvPr id="3" name="Picture 2">
            <a:extLst>
              <a:ext uri="{FF2B5EF4-FFF2-40B4-BE49-F238E27FC236}">
                <a16:creationId xmlns:a16="http://schemas.microsoft.com/office/drawing/2014/main" id="{E9782A43-6E45-1DE0-DB9E-8CF0934EC94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85436" y="6299793"/>
            <a:ext cx="418391" cy="415945"/>
          </a:xfrm>
          <a:prstGeom prst="rect">
            <a:avLst/>
          </a:prstGeom>
        </p:spPr>
      </p:pic>
      <p:sp>
        <p:nvSpPr>
          <p:cNvPr id="4" name="Footer Placeholder 4">
            <a:extLst>
              <a:ext uri="{FF2B5EF4-FFF2-40B4-BE49-F238E27FC236}">
                <a16:creationId xmlns:a16="http://schemas.microsoft.com/office/drawing/2014/main" id="{76BEC3B4-0E0E-F5A4-3C4E-002E130420FD}"/>
              </a:ext>
            </a:extLst>
          </p:cNvPr>
          <p:cNvSpPr>
            <a:spLocks noGrp="1"/>
          </p:cNvSpPr>
          <p:nvPr>
            <p:ph type="ftr" sz="quarter" idx="3"/>
          </p:nvPr>
        </p:nvSpPr>
        <p:spPr>
          <a:xfrm>
            <a:off x="10693667" y="6362299"/>
            <a:ext cx="1317821" cy="334189"/>
          </a:xfrm>
          <a:prstGeom prst="rect">
            <a:avLst/>
          </a:prstGeom>
        </p:spPr>
        <p:txBody>
          <a:bodyPr vert="horz" lIns="0" tIns="0" rIns="0" bIns="0" rtlCol="0" anchor="t" anchorCtr="0"/>
          <a:lstStyle>
            <a:lvl1pPr algn="l">
              <a:defRPr sz="1200" b="0" i="0">
                <a:solidFill>
                  <a:schemeClr val="bg1"/>
                </a:solidFill>
                <a:latin typeface="+mj-lt"/>
              </a:defRPr>
            </a:lvl1pPr>
          </a:lstStyle>
          <a:p>
            <a:r>
              <a:rPr lang="en-US" sz="1400"/>
              <a:t>DOCTORATES WITH PURPOSE</a:t>
            </a:r>
            <a:endParaRPr lang="en-US" sz="1400" dirty="0"/>
          </a:p>
        </p:txBody>
      </p:sp>
    </p:spTree>
    <p:extLst>
      <p:ext uri="{BB962C8B-B14F-4D97-AF65-F5344CB8AC3E}">
        <p14:creationId xmlns:p14="http://schemas.microsoft.com/office/powerpoint/2010/main" val="255042539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 Column">
    <p:bg>
      <p:bgPr>
        <a:solidFill>
          <a:schemeClr val="tx1"/>
        </a:solidFill>
        <a:effectLst/>
      </p:bgPr>
    </p:bg>
    <p:spTree>
      <p:nvGrpSpPr>
        <p:cNvPr id="1" name=""/>
        <p:cNvGrpSpPr/>
        <p:nvPr/>
      </p:nvGrpSpPr>
      <p:grpSpPr>
        <a:xfrm>
          <a:off x="0" y="0"/>
          <a:ext cx="0" cy="0"/>
          <a:chOff x="0" y="0"/>
          <a:chExt cx="0" cy="0"/>
        </a:xfrm>
      </p:grpSpPr>
      <p:sp>
        <p:nvSpPr>
          <p:cNvPr id="32" name="Title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anchor="b" anchorCtr="0">
            <a:normAutofit/>
          </a:bodyPr>
          <a:lstStyle>
            <a:lvl1pPr>
              <a:defRPr sz="4400" b="1" i="0">
                <a:latin typeface="+mj-lt"/>
              </a:defRPr>
            </a:lvl1pPr>
          </a:lstStyle>
          <a:p>
            <a:r>
              <a:rPr lang="en-US"/>
              <a:t>Click to edit Master title style</a:t>
            </a:r>
            <a:endParaRPr lang="en-US" dirty="0"/>
          </a:p>
        </p:txBody>
      </p:sp>
      <p:cxnSp>
        <p:nvCxnSpPr>
          <p:cNvPr id="33" name="Straight Connector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3036477" cy="0"/>
          </a:xfrm>
          <a:prstGeom prst="line">
            <a:avLst/>
          </a:prstGeom>
          <a:ln w="101600">
            <a:solidFill>
              <a:srgbClr val="7757A4"/>
            </a:solidFill>
          </a:ln>
        </p:spPr>
        <p:style>
          <a:lnRef idx="1">
            <a:schemeClr val="dk1"/>
          </a:lnRef>
          <a:fillRef idx="0">
            <a:schemeClr val="dk1"/>
          </a:fillRef>
          <a:effectRef idx="0">
            <a:schemeClr val="dk1"/>
          </a:effectRef>
          <a:fontRef idx="minor">
            <a:schemeClr val="tx1"/>
          </a:fontRef>
        </p:style>
      </p:cxnSp>
      <p:sp>
        <p:nvSpPr>
          <p:cNvPr id="23" name="Text Placeholder 2">
            <a:extLst>
              <a:ext uri="{FF2B5EF4-FFF2-40B4-BE49-F238E27FC236}">
                <a16:creationId xmlns:a16="http://schemas.microsoft.com/office/drawing/2014/main" id="{A6147D10-E7D7-8F40-AF69-726398729333}"/>
              </a:ext>
            </a:extLst>
          </p:cNvPr>
          <p:cNvSpPr>
            <a:spLocks noGrp="1"/>
          </p:cNvSpPr>
          <p:nvPr>
            <p:ph type="body" idx="1"/>
          </p:nvPr>
        </p:nvSpPr>
        <p:spPr>
          <a:xfrm>
            <a:off x="952500"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buNone/>
            </a:pPr>
            <a:r>
              <a:rPr lang="en-US"/>
              <a:t>Click to edit Master text styles</a:t>
            </a:r>
          </a:p>
        </p:txBody>
      </p:sp>
      <p:sp>
        <p:nvSpPr>
          <p:cNvPr id="27" name="Content Placeholder 3">
            <a:extLst>
              <a:ext uri="{FF2B5EF4-FFF2-40B4-BE49-F238E27FC236}">
                <a16:creationId xmlns:a16="http://schemas.microsoft.com/office/drawing/2014/main" id="{E81957B7-CEA6-A446-A203-471CF9A57FFD}"/>
              </a:ext>
            </a:extLst>
          </p:cNvPr>
          <p:cNvSpPr>
            <a:spLocks noGrp="1"/>
          </p:cNvSpPr>
          <p:nvPr>
            <p:ph sz="half" idx="2"/>
          </p:nvPr>
        </p:nvSpPr>
        <p:spPr>
          <a:xfrm>
            <a:off x="952500" y="2799146"/>
            <a:ext cx="3036477" cy="1942138"/>
          </a:xfrm>
          <a:prstGeom prst="rect">
            <a:avLst/>
          </a:prstGeom>
        </p:spPr>
        <p:txBody>
          <a:bodyPr lIns="0" tIns="0" rIns="0" bIns="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a:r>
              <a:rPr lang="en-US"/>
              <a:t>Click to edit Master text styles</a:t>
            </a:r>
          </a:p>
        </p:txBody>
      </p:sp>
      <p:sp>
        <p:nvSpPr>
          <p:cNvPr id="20" name="Text Placeholder 2">
            <a:extLst>
              <a:ext uri="{FF2B5EF4-FFF2-40B4-BE49-F238E27FC236}">
                <a16:creationId xmlns:a16="http://schemas.microsoft.com/office/drawing/2014/main" id="{057DFE0A-61D9-1B48-8196-EA94D04685DD}"/>
              </a:ext>
            </a:extLst>
          </p:cNvPr>
          <p:cNvSpPr>
            <a:spLocks noGrp="1"/>
          </p:cNvSpPr>
          <p:nvPr>
            <p:ph type="body" idx="10"/>
          </p:nvPr>
        </p:nvSpPr>
        <p:spPr>
          <a:xfrm>
            <a:off x="4569372"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buNone/>
            </a:pPr>
            <a:r>
              <a:rPr lang="en-US"/>
              <a:t>Click to edit Master text styles</a:t>
            </a:r>
          </a:p>
        </p:txBody>
      </p:sp>
      <p:sp>
        <p:nvSpPr>
          <p:cNvPr id="21" name="Content Placeholder 3">
            <a:extLst>
              <a:ext uri="{FF2B5EF4-FFF2-40B4-BE49-F238E27FC236}">
                <a16:creationId xmlns:a16="http://schemas.microsoft.com/office/drawing/2014/main" id="{C946754A-F105-644E-99A4-DC80B9944243}"/>
              </a:ext>
            </a:extLst>
          </p:cNvPr>
          <p:cNvSpPr>
            <a:spLocks noGrp="1"/>
          </p:cNvSpPr>
          <p:nvPr>
            <p:ph sz="half" idx="11"/>
          </p:nvPr>
        </p:nvSpPr>
        <p:spPr>
          <a:xfrm>
            <a:off x="4569372" y="2799146"/>
            <a:ext cx="3050628" cy="1942138"/>
          </a:xfrm>
          <a:prstGeom prst="rect">
            <a:avLst/>
          </a:prstGeom>
        </p:spPr>
        <p:txBody>
          <a:bodyPr lIns="0" tIns="0" rIns="0" bIns="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a:r>
              <a:rPr lang="en-US"/>
              <a:t>Click to edit Master text styles</a:t>
            </a:r>
          </a:p>
        </p:txBody>
      </p:sp>
      <p:sp>
        <p:nvSpPr>
          <p:cNvPr id="22" name="Text Placeholder 2">
            <a:extLst>
              <a:ext uri="{FF2B5EF4-FFF2-40B4-BE49-F238E27FC236}">
                <a16:creationId xmlns:a16="http://schemas.microsoft.com/office/drawing/2014/main" id="{368648FC-FC9A-5645-8F0C-390FFFAE180D}"/>
              </a:ext>
            </a:extLst>
          </p:cNvPr>
          <p:cNvSpPr>
            <a:spLocks noGrp="1"/>
          </p:cNvSpPr>
          <p:nvPr>
            <p:ph type="body" idx="12"/>
          </p:nvPr>
        </p:nvSpPr>
        <p:spPr>
          <a:xfrm>
            <a:off x="8187017"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buNone/>
            </a:pPr>
            <a:r>
              <a:rPr lang="en-US"/>
              <a:t>Click to edit Master text styles</a:t>
            </a:r>
          </a:p>
        </p:txBody>
      </p:sp>
      <p:sp>
        <p:nvSpPr>
          <p:cNvPr id="24" name="Content Placeholder 3">
            <a:extLst>
              <a:ext uri="{FF2B5EF4-FFF2-40B4-BE49-F238E27FC236}">
                <a16:creationId xmlns:a16="http://schemas.microsoft.com/office/drawing/2014/main" id="{BBB849DC-B114-D145-9879-4FE0688BF57E}"/>
              </a:ext>
            </a:extLst>
          </p:cNvPr>
          <p:cNvSpPr>
            <a:spLocks noGrp="1"/>
          </p:cNvSpPr>
          <p:nvPr>
            <p:ph sz="half" idx="13"/>
          </p:nvPr>
        </p:nvSpPr>
        <p:spPr>
          <a:xfrm>
            <a:off x="8187017" y="2799146"/>
            <a:ext cx="3036477" cy="1942138"/>
          </a:xfrm>
          <a:prstGeom prst="rect">
            <a:avLst/>
          </a:prstGeom>
        </p:spPr>
        <p:txBody>
          <a:bodyPr lIns="0" tIns="0" rIns="0" bIns="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a:r>
              <a:rPr lang="en-US"/>
              <a:t>Click to edit Master text styles</a:t>
            </a:r>
          </a:p>
        </p:txBody>
      </p:sp>
      <p:cxnSp>
        <p:nvCxnSpPr>
          <p:cNvPr id="26" name="Straight Connector 25">
            <a:extLst>
              <a:ext uri="{FF2B5EF4-FFF2-40B4-BE49-F238E27FC236}">
                <a16:creationId xmlns:a16="http://schemas.microsoft.com/office/drawing/2014/main" id="{9F0C4CE5-5F02-B143-8FD1-1B235D270DAC}"/>
              </a:ext>
            </a:extLst>
          </p:cNvPr>
          <p:cNvCxnSpPr>
            <a:cxnSpLocks/>
          </p:cNvCxnSpPr>
          <p:nvPr userDrawn="1"/>
        </p:nvCxnSpPr>
        <p:spPr>
          <a:xfrm>
            <a:off x="4569372" y="1939108"/>
            <a:ext cx="3050628" cy="0"/>
          </a:xfrm>
          <a:prstGeom prst="line">
            <a:avLst/>
          </a:prstGeom>
          <a:ln w="101600">
            <a:solidFill>
              <a:srgbClr val="7757A4"/>
            </a:solidFill>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289A8C14-DB28-F34E-8098-168D4C75AF23}"/>
              </a:ext>
            </a:extLst>
          </p:cNvPr>
          <p:cNvCxnSpPr>
            <a:cxnSpLocks/>
          </p:cNvCxnSpPr>
          <p:nvPr userDrawn="1"/>
        </p:nvCxnSpPr>
        <p:spPr>
          <a:xfrm>
            <a:off x="8187017" y="1939108"/>
            <a:ext cx="3052483" cy="0"/>
          </a:xfrm>
          <a:prstGeom prst="line">
            <a:avLst/>
          </a:prstGeom>
          <a:ln w="101600">
            <a:solidFill>
              <a:srgbClr val="7757A4"/>
            </a:solidFill>
          </a:ln>
        </p:spPr>
        <p:style>
          <a:lnRef idx="1">
            <a:schemeClr val="dk1"/>
          </a:lnRef>
          <a:fillRef idx="0">
            <a:schemeClr val="dk1"/>
          </a:fillRef>
          <a:effectRef idx="0">
            <a:schemeClr val="dk1"/>
          </a:effectRef>
          <a:fontRef idx="minor">
            <a:schemeClr val="tx1"/>
          </a:fontRef>
        </p:style>
      </p:cxnSp>
      <p:grpSp>
        <p:nvGrpSpPr>
          <p:cNvPr id="2" name="Group 1">
            <a:extLst>
              <a:ext uri="{FF2B5EF4-FFF2-40B4-BE49-F238E27FC236}">
                <a16:creationId xmlns:a16="http://schemas.microsoft.com/office/drawing/2014/main" id="{11D88E2C-16CC-1C27-0832-DEF92429790D}"/>
              </a:ext>
            </a:extLst>
          </p:cNvPr>
          <p:cNvGrpSpPr>
            <a:grpSpLocks/>
          </p:cNvGrpSpPr>
          <p:nvPr userDrawn="1"/>
        </p:nvGrpSpPr>
        <p:grpSpPr bwMode="auto">
          <a:xfrm rot="5400000" flipV="1">
            <a:off x="9232774" y="3534"/>
            <a:ext cx="2959226" cy="2959226"/>
            <a:chOff x="0" y="12289"/>
            <a:chExt cx="3550" cy="3551"/>
          </a:xfrm>
        </p:grpSpPr>
        <p:sp>
          <p:nvSpPr>
            <p:cNvPr id="3" name="Freeform 14">
              <a:extLst>
                <a:ext uri="{FF2B5EF4-FFF2-40B4-BE49-F238E27FC236}">
                  <a16:creationId xmlns:a16="http://schemas.microsoft.com/office/drawing/2014/main" id="{D547A7AD-C8AB-866C-41CE-01BF9B105D5B}"/>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rgbClr val="49236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4" name="Freeform 15">
              <a:extLst>
                <a:ext uri="{FF2B5EF4-FFF2-40B4-BE49-F238E27FC236}">
                  <a16:creationId xmlns:a16="http://schemas.microsoft.com/office/drawing/2014/main" id="{7DFEBB64-2918-E672-333C-9033EFE06129}"/>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5" name="Freeform 18">
              <a:extLst>
                <a:ext uri="{FF2B5EF4-FFF2-40B4-BE49-F238E27FC236}">
                  <a16:creationId xmlns:a16="http://schemas.microsoft.com/office/drawing/2014/main" id="{70E06448-C50C-0E2F-9161-48F9BFACA8A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rgbClr val="7757A4"/>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pic>
        <p:nvPicPr>
          <p:cNvPr id="7" name="Picture 6">
            <a:extLst>
              <a:ext uri="{FF2B5EF4-FFF2-40B4-BE49-F238E27FC236}">
                <a16:creationId xmlns:a16="http://schemas.microsoft.com/office/drawing/2014/main" id="{EE331A48-C79B-0068-9414-A9CDC63848D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85436" y="6299793"/>
            <a:ext cx="418391" cy="415945"/>
          </a:xfrm>
          <a:prstGeom prst="rect">
            <a:avLst/>
          </a:prstGeom>
        </p:spPr>
      </p:pic>
      <p:sp>
        <p:nvSpPr>
          <p:cNvPr id="8" name="Footer Placeholder 4">
            <a:extLst>
              <a:ext uri="{FF2B5EF4-FFF2-40B4-BE49-F238E27FC236}">
                <a16:creationId xmlns:a16="http://schemas.microsoft.com/office/drawing/2014/main" id="{DDD66A3E-5419-4C66-4535-3E2C81139DEE}"/>
              </a:ext>
            </a:extLst>
          </p:cNvPr>
          <p:cNvSpPr>
            <a:spLocks noGrp="1"/>
          </p:cNvSpPr>
          <p:nvPr>
            <p:ph type="ftr" sz="quarter" idx="3"/>
          </p:nvPr>
        </p:nvSpPr>
        <p:spPr>
          <a:xfrm>
            <a:off x="10693667" y="6362299"/>
            <a:ext cx="1317821" cy="334189"/>
          </a:xfrm>
          <a:prstGeom prst="rect">
            <a:avLst/>
          </a:prstGeom>
        </p:spPr>
        <p:txBody>
          <a:bodyPr vert="horz" lIns="0" tIns="0" rIns="0" bIns="0" rtlCol="0" anchor="t" anchorCtr="0"/>
          <a:lstStyle>
            <a:lvl1pPr algn="l">
              <a:defRPr sz="1200" b="0" i="0">
                <a:solidFill>
                  <a:schemeClr val="bg1"/>
                </a:solidFill>
                <a:latin typeface="+mj-lt"/>
              </a:defRPr>
            </a:lvl1pPr>
          </a:lstStyle>
          <a:p>
            <a:r>
              <a:rPr lang="en-US" sz="1400"/>
              <a:t>DOCTORATES WITH PURPOSE</a:t>
            </a:r>
            <a:endParaRPr lang="en-US" sz="1400" dirty="0"/>
          </a:p>
        </p:txBody>
      </p:sp>
    </p:spTree>
    <p:extLst>
      <p:ext uri="{BB962C8B-B14F-4D97-AF65-F5344CB8AC3E}">
        <p14:creationId xmlns:p14="http://schemas.microsoft.com/office/powerpoint/2010/main" val="422794871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520" userDrawn="1">
          <p15:clr>
            <a:srgbClr val="FBAE40"/>
          </p15:clr>
        </p15:guide>
        <p15:guide id="4" pos="5160" userDrawn="1">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4800" userDrawn="1">
          <p15:clr>
            <a:srgbClr val="FBAE40"/>
          </p15:clr>
        </p15:guide>
        <p15:guide id="11" pos="2880" userDrawn="1">
          <p15:clr>
            <a:srgbClr val="FBAE40"/>
          </p15:clr>
        </p15:guide>
        <p15:guide id="12" orient="horz" pos="1752"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ummary ">
    <p:bg>
      <p:bgPr>
        <a:solidFill>
          <a:schemeClr val="tx1"/>
        </a:solidFill>
        <a:effectLst/>
      </p:bgPr>
    </p:bg>
    <p:spTree>
      <p:nvGrpSpPr>
        <p:cNvPr id="1" name=""/>
        <p:cNvGrpSpPr/>
        <p:nvPr/>
      </p:nvGrpSpPr>
      <p:grpSpPr>
        <a:xfrm>
          <a:off x="0" y="0"/>
          <a:ext cx="0" cy="0"/>
          <a:chOff x="0" y="0"/>
          <a:chExt cx="0" cy="0"/>
        </a:xfrm>
      </p:grpSpPr>
      <p:sp>
        <p:nvSpPr>
          <p:cNvPr id="32" name="Title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anchor="b" anchorCtr="0">
            <a:normAutofit/>
          </a:bodyPr>
          <a:lstStyle>
            <a:lvl1pPr>
              <a:defRPr sz="4400" b="1" i="0">
                <a:latin typeface="+mj-lt"/>
              </a:defRPr>
            </a:lvl1pPr>
          </a:lstStyle>
          <a:p>
            <a:r>
              <a:rPr lang="en-US"/>
              <a:t>Click to edit Master title style</a:t>
            </a:r>
            <a:endParaRPr lang="en-US" dirty="0"/>
          </a:p>
        </p:txBody>
      </p:sp>
      <p:cxnSp>
        <p:nvCxnSpPr>
          <p:cNvPr id="33" name="Straight Connector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4953000" cy="0"/>
          </a:xfrm>
          <a:prstGeom prst="line">
            <a:avLst/>
          </a:prstGeom>
          <a:ln w="101600">
            <a:solidFill>
              <a:srgbClr val="7757A4"/>
            </a:solidFill>
          </a:ln>
        </p:spPr>
        <p:style>
          <a:lnRef idx="1">
            <a:schemeClr val="dk1"/>
          </a:lnRef>
          <a:fillRef idx="0">
            <a:schemeClr val="dk1"/>
          </a:fillRef>
          <a:effectRef idx="0">
            <a:schemeClr val="dk1"/>
          </a:effectRef>
          <a:fontRef idx="minor">
            <a:schemeClr val="tx1"/>
          </a:fontRef>
        </p:style>
      </p:cxnSp>
      <p:sp>
        <p:nvSpPr>
          <p:cNvPr id="3" name="Text Placeholder 2">
            <a:extLst>
              <a:ext uri="{FF2B5EF4-FFF2-40B4-BE49-F238E27FC236}">
                <a16:creationId xmlns:a16="http://schemas.microsoft.com/office/drawing/2014/main" id="{0DA8C895-11B9-EA40-B0F8-0F4FE9881512}"/>
              </a:ext>
            </a:extLst>
          </p:cNvPr>
          <p:cNvSpPr>
            <a:spLocks noGrp="1"/>
          </p:cNvSpPr>
          <p:nvPr>
            <p:ph type="body" sz="quarter" idx="10"/>
          </p:nvPr>
        </p:nvSpPr>
        <p:spPr>
          <a:xfrm>
            <a:off x="952500" y="2656904"/>
            <a:ext cx="4838700" cy="574318"/>
          </a:xfrm>
        </p:spPr>
        <p:txBody>
          <a:bodyPr>
            <a:noAutofit/>
          </a:bodyPr>
          <a:lstStyle>
            <a:lvl1pPr marL="0" indent="0">
              <a:buNone/>
              <a:defRPr sz="1600">
                <a:latin typeface="+mn-lt"/>
              </a:defRPr>
            </a:lvl1pPr>
          </a:lstStyle>
          <a:p>
            <a:pPr lvl="0"/>
            <a:r>
              <a:rPr lang="en-US"/>
              <a:t>Click to edit Master text styles</a:t>
            </a:r>
          </a:p>
        </p:txBody>
      </p:sp>
      <p:grpSp>
        <p:nvGrpSpPr>
          <p:cNvPr id="15" name="Group 14">
            <a:extLst>
              <a:ext uri="{FF2B5EF4-FFF2-40B4-BE49-F238E27FC236}">
                <a16:creationId xmlns:a16="http://schemas.microsoft.com/office/drawing/2014/main" id="{C47A1EE0-4011-3749-B01C-FC489EEDF880}"/>
              </a:ext>
            </a:extLst>
          </p:cNvPr>
          <p:cNvGrpSpPr>
            <a:grpSpLocks/>
          </p:cNvGrpSpPr>
          <p:nvPr userDrawn="1"/>
        </p:nvGrpSpPr>
        <p:grpSpPr bwMode="auto">
          <a:xfrm rot="10800000">
            <a:off x="8870040" y="0"/>
            <a:ext cx="3325208" cy="3325208"/>
            <a:chOff x="0" y="12289"/>
            <a:chExt cx="3550" cy="3551"/>
          </a:xfrm>
        </p:grpSpPr>
        <p:sp>
          <p:nvSpPr>
            <p:cNvPr id="16" name="Freeform 15">
              <a:extLst>
                <a:ext uri="{FF2B5EF4-FFF2-40B4-BE49-F238E27FC236}">
                  <a16:creationId xmlns:a16="http://schemas.microsoft.com/office/drawing/2014/main" id="{17EED68A-6660-2643-BBFB-B6AB92A7C227}"/>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rgbClr val="7757A4"/>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7" name="Freeform 16">
              <a:extLst>
                <a:ext uri="{FF2B5EF4-FFF2-40B4-BE49-F238E27FC236}">
                  <a16:creationId xmlns:a16="http://schemas.microsoft.com/office/drawing/2014/main" id="{BECF9FB8-F6C7-C54D-99F4-11FDF26D7F9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8" name="Freeform 17">
              <a:extLst>
                <a:ext uri="{FF2B5EF4-FFF2-40B4-BE49-F238E27FC236}">
                  <a16:creationId xmlns:a16="http://schemas.microsoft.com/office/drawing/2014/main" id="{46C7C62D-7D3B-934C-AFF9-0F10E727B42E}"/>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rgbClr val="49236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4" name="Text Placeholder 3">
            <a:extLst>
              <a:ext uri="{FF2B5EF4-FFF2-40B4-BE49-F238E27FC236}">
                <a16:creationId xmlns:a16="http://schemas.microsoft.com/office/drawing/2014/main" id="{FF85D552-3AFC-4D21-A944-9D41E128A96E}"/>
              </a:ext>
            </a:extLst>
          </p:cNvPr>
          <p:cNvSpPr>
            <a:spLocks noGrp="1"/>
          </p:cNvSpPr>
          <p:nvPr>
            <p:ph type="body" sz="quarter" idx="12"/>
          </p:nvPr>
        </p:nvSpPr>
        <p:spPr>
          <a:xfrm>
            <a:off x="952500" y="2286000"/>
            <a:ext cx="4838700" cy="315915"/>
          </a:xfrm>
        </p:spPr>
        <p:txBody>
          <a:bodyPr>
            <a:noAutofit/>
          </a:bodyPr>
          <a:lstStyle>
            <a:lvl1pPr>
              <a:buNone/>
              <a:defRPr sz="1800" b="0" spc="0" baseline="0">
                <a:solidFill>
                  <a:schemeClr val="bg1"/>
                </a:solidFill>
                <a:latin typeface="+mj-lt"/>
              </a:defRPr>
            </a:lvl1pPr>
            <a:lvl2pPr>
              <a:buNone/>
              <a:defRPr/>
            </a:lvl2pPr>
            <a:lvl3pPr>
              <a:buNone/>
              <a:defRPr/>
            </a:lvl3pPr>
            <a:lvl4pPr>
              <a:buNone/>
              <a:defRPr/>
            </a:lvl4pPr>
            <a:lvl5pPr>
              <a:buNone/>
              <a:defRPr/>
            </a:lvl5pPr>
          </a:lstStyle>
          <a:p>
            <a:pPr lvl="0"/>
            <a:r>
              <a:rPr lang="en-US"/>
              <a:t>Click to edit Master text styles</a:t>
            </a:r>
          </a:p>
        </p:txBody>
      </p:sp>
      <p:sp>
        <p:nvSpPr>
          <p:cNvPr id="21" name="Text Placeholder 2">
            <a:extLst>
              <a:ext uri="{FF2B5EF4-FFF2-40B4-BE49-F238E27FC236}">
                <a16:creationId xmlns:a16="http://schemas.microsoft.com/office/drawing/2014/main" id="{BE8C2EDB-9C70-49A2-865C-E5CD77D3E741}"/>
              </a:ext>
            </a:extLst>
          </p:cNvPr>
          <p:cNvSpPr>
            <a:spLocks noGrp="1"/>
          </p:cNvSpPr>
          <p:nvPr>
            <p:ph type="body" sz="quarter" idx="13"/>
          </p:nvPr>
        </p:nvSpPr>
        <p:spPr>
          <a:xfrm>
            <a:off x="953655" y="3841846"/>
            <a:ext cx="4838700" cy="636754"/>
          </a:xfrm>
        </p:spPr>
        <p:txBody>
          <a:bodyPr>
            <a:noAutofit/>
          </a:bodyPr>
          <a:lstStyle>
            <a:lvl1pPr marL="0" indent="0">
              <a:buNone/>
              <a:defRPr sz="1600">
                <a:latin typeface="+mn-lt"/>
              </a:defRPr>
            </a:lvl1pPr>
          </a:lstStyle>
          <a:p>
            <a:pPr lvl="0"/>
            <a:r>
              <a:rPr lang="en-US"/>
              <a:t>Click to edit Master text styles</a:t>
            </a:r>
          </a:p>
        </p:txBody>
      </p:sp>
      <p:sp>
        <p:nvSpPr>
          <p:cNvPr id="22" name="Text Placeholder 3">
            <a:extLst>
              <a:ext uri="{FF2B5EF4-FFF2-40B4-BE49-F238E27FC236}">
                <a16:creationId xmlns:a16="http://schemas.microsoft.com/office/drawing/2014/main" id="{EE50320A-D017-45C6-9986-94BC43911E98}"/>
              </a:ext>
            </a:extLst>
          </p:cNvPr>
          <p:cNvSpPr>
            <a:spLocks noGrp="1"/>
          </p:cNvSpPr>
          <p:nvPr>
            <p:ph type="body" sz="quarter" idx="14"/>
          </p:nvPr>
        </p:nvSpPr>
        <p:spPr>
          <a:xfrm>
            <a:off x="953655" y="3470942"/>
            <a:ext cx="4838700" cy="315915"/>
          </a:xfrm>
        </p:spPr>
        <p:txBody>
          <a:bodyPr>
            <a:noAutofit/>
          </a:bodyPr>
          <a:lstStyle>
            <a:lvl1pPr>
              <a:buNone/>
              <a:defRPr sz="1800" b="0" spc="0" baseline="0">
                <a:solidFill>
                  <a:schemeClr val="bg1"/>
                </a:solidFill>
                <a:latin typeface="+mj-lt"/>
              </a:defRPr>
            </a:lvl1pPr>
            <a:lvl2pPr>
              <a:buNone/>
              <a:defRPr/>
            </a:lvl2pPr>
            <a:lvl3pPr>
              <a:buNone/>
              <a:defRPr/>
            </a:lvl3pPr>
            <a:lvl4pPr>
              <a:buNone/>
              <a:defRPr/>
            </a:lvl4pPr>
            <a:lvl5pPr>
              <a:buNone/>
              <a:defRPr/>
            </a:lvl5pPr>
          </a:lstStyle>
          <a:p>
            <a:pPr lvl="0"/>
            <a:r>
              <a:rPr lang="en-US"/>
              <a:t>Click to edit Master text styles</a:t>
            </a:r>
          </a:p>
        </p:txBody>
      </p:sp>
      <p:sp>
        <p:nvSpPr>
          <p:cNvPr id="23" name="Text Placeholder 2">
            <a:extLst>
              <a:ext uri="{FF2B5EF4-FFF2-40B4-BE49-F238E27FC236}">
                <a16:creationId xmlns:a16="http://schemas.microsoft.com/office/drawing/2014/main" id="{673EB498-F5D2-4E15-990A-2AFA4A377CBB}"/>
              </a:ext>
            </a:extLst>
          </p:cNvPr>
          <p:cNvSpPr>
            <a:spLocks noGrp="1"/>
          </p:cNvSpPr>
          <p:nvPr>
            <p:ph type="body" sz="quarter" idx="15"/>
          </p:nvPr>
        </p:nvSpPr>
        <p:spPr>
          <a:xfrm>
            <a:off x="952500" y="5017901"/>
            <a:ext cx="4838700" cy="908340"/>
          </a:xfrm>
        </p:spPr>
        <p:txBody>
          <a:bodyPr>
            <a:noAutofit/>
          </a:bodyPr>
          <a:lstStyle>
            <a:lvl1pPr marL="0" indent="0">
              <a:buNone/>
              <a:defRPr sz="1600">
                <a:latin typeface="+mn-lt"/>
              </a:defRPr>
            </a:lvl1pPr>
          </a:lstStyle>
          <a:p>
            <a:pPr lvl="0"/>
            <a:r>
              <a:rPr lang="en-US"/>
              <a:t>Click to edit Master text styles</a:t>
            </a:r>
          </a:p>
        </p:txBody>
      </p:sp>
      <p:sp>
        <p:nvSpPr>
          <p:cNvPr id="24" name="Text Placeholder 3">
            <a:extLst>
              <a:ext uri="{FF2B5EF4-FFF2-40B4-BE49-F238E27FC236}">
                <a16:creationId xmlns:a16="http://schemas.microsoft.com/office/drawing/2014/main" id="{1F528150-326B-4BB3-AC38-7FC805DB6BA7}"/>
              </a:ext>
            </a:extLst>
          </p:cNvPr>
          <p:cNvSpPr>
            <a:spLocks noGrp="1"/>
          </p:cNvSpPr>
          <p:nvPr>
            <p:ph type="body" sz="quarter" idx="16"/>
          </p:nvPr>
        </p:nvSpPr>
        <p:spPr>
          <a:xfrm>
            <a:off x="952500" y="4646997"/>
            <a:ext cx="4838700" cy="315915"/>
          </a:xfrm>
        </p:spPr>
        <p:txBody>
          <a:bodyPr>
            <a:noAutofit/>
          </a:bodyPr>
          <a:lstStyle>
            <a:lvl1pPr>
              <a:buNone/>
              <a:defRPr sz="1800" b="0" spc="0" baseline="0">
                <a:solidFill>
                  <a:schemeClr val="bg1"/>
                </a:solidFill>
                <a:latin typeface="+mj-lt"/>
              </a:defRPr>
            </a:lvl1pPr>
            <a:lvl2pPr>
              <a:buNone/>
              <a:defRPr/>
            </a:lvl2pPr>
            <a:lvl3pPr>
              <a:buNone/>
              <a:defRPr/>
            </a:lvl3pPr>
            <a:lvl4pPr>
              <a:buNone/>
              <a:defRPr/>
            </a:lvl4pPr>
            <a:lvl5pPr>
              <a:buNone/>
              <a:defRPr/>
            </a:lvl5pPr>
          </a:lstStyle>
          <a:p>
            <a:pPr lvl="0"/>
            <a:r>
              <a:rPr lang="en-US"/>
              <a:t>Click to edit Master text styles</a:t>
            </a:r>
          </a:p>
        </p:txBody>
      </p:sp>
      <p:sp>
        <p:nvSpPr>
          <p:cNvPr id="25" name="Text Placeholder 2">
            <a:extLst>
              <a:ext uri="{FF2B5EF4-FFF2-40B4-BE49-F238E27FC236}">
                <a16:creationId xmlns:a16="http://schemas.microsoft.com/office/drawing/2014/main" id="{20EBEFF7-AECA-409B-9ACC-A63A168283BE}"/>
              </a:ext>
            </a:extLst>
          </p:cNvPr>
          <p:cNvSpPr>
            <a:spLocks noGrp="1"/>
          </p:cNvSpPr>
          <p:nvPr>
            <p:ph type="body" sz="quarter" idx="17"/>
          </p:nvPr>
        </p:nvSpPr>
        <p:spPr>
          <a:xfrm>
            <a:off x="6399647" y="2656904"/>
            <a:ext cx="4838700" cy="574318"/>
          </a:xfrm>
        </p:spPr>
        <p:txBody>
          <a:bodyPr>
            <a:noAutofit/>
          </a:bodyPr>
          <a:lstStyle>
            <a:lvl1pPr marL="0" indent="0">
              <a:buNone/>
              <a:defRPr sz="1600">
                <a:latin typeface="+mn-lt"/>
              </a:defRPr>
            </a:lvl1pPr>
          </a:lstStyle>
          <a:p>
            <a:pPr lvl="0"/>
            <a:r>
              <a:rPr lang="en-US"/>
              <a:t>Click to edit Master text styles</a:t>
            </a:r>
          </a:p>
        </p:txBody>
      </p:sp>
      <p:sp>
        <p:nvSpPr>
          <p:cNvPr id="26" name="Text Placeholder 3">
            <a:extLst>
              <a:ext uri="{FF2B5EF4-FFF2-40B4-BE49-F238E27FC236}">
                <a16:creationId xmlns:a16="http://schemas.microsoft.com/office/drawing/2014/main" id="{29E4D063-8666-4D7A-B8C8-2B9383F798E0}"/>
              </a:ext>
            </a:extLst>
          </p:cNvPr>
          <p:cNvSpPr>
            <a:spLocks noGrp="1"/>
          </p:cNvSpPr>
          <p:nvPr>
            <p:ph type="body" sz="quarter" idx="18"/>
          </p:nvPr>
        </p:nvSpPr>
        <p:spPr>
          <a:xfrm>
            <a:off x="6399647" y="2286000"/>
            <a:ext cx="4838700" cy="315915"/>
          </a:xfrm>
        </p:spPr>
        <p:txBody>
          <a:bodyPr>
            <a:noAutofit/>
          </a:bodyPr>
          <a:lstStyle>
            <a:lvl1pPr>
              <a:buNone/>
              <a:defRPr sz="1800" b="0" spc="0" baseline="0">
                <a:solidFill>
                  <a:schemeClr val="bg1"/>
                </a:solidFill>
                <a:latin typeface="+mj-lt"/>
              </a:defRPr>
            </a:lvl1pPr>
            <a:lvl2pPr>
              <a:buNone/>
              <a:defRPr/>
            </a:lvl2pPr>
            <a:lvl3pPr>
              <a:buNone/>
              <a:defRPr/>
            </a:lvl3pPr>
            <a:lvl4pPr>
              <a:buNone/>
              <a:defRPr/>
            </a:lvl4pPr>
            <a:lvl5pPr>
              <a:buNone/>
              <a:defRPr/>
            </a:lvl5pPr>
          </a:lstStyle>
          <a:p>
            <a:pPr lvl="0"/>
            <a:r>
              <a:rPr lang="en-US"/>
              <a:t>Click to edit Master text styles</a:t>
            </a:r>
          </a:p>
        </p:txBody>
      </p:sp>
      <p:sp>
        <p:nvSpPr>
          <p:cNvPr id="27" name="Text Placeholder 2">
            <a:extLst>
              <a:ext uri="{FF2B5EF4-FFF2-40B4-BE49-F238E27FC236}">
                <a16:creationId xmlns:a16="http://schemas.microsoft.com/office/drawing/2014/main" id="{4717B7CD-A4F9-444E-82B9-8914CB574887}"/>
              </a:ext>
            </a:extLst>
          </p:cNvPr>
          <p:cNvSpPr>
            <a:spLocks noGrp="1"/>
          </p:cNvSpPr>
          <p:nvPr>
            <p:ph type="body" sz="quarter" idx="19"/>
          </p:nvPr>
        </p:nvSpPr>
        <p:spPr>
          <a:xfrm>
            <a:off x="6399647" y="3841846"/>
            <a:ext cx="4838700" cy="908340"/>
          </a:xfrm>
        </p:spPr>
        <p:txBody>
          <a:bodyPr>
            <a:noAutofit/>
          </a:bodyPr>
          <a:lstStyle>
            <a:lvl1pPr marL="0" indent="0">
              <a:buNone/>
              <a:defRPr sz="1600">
                <a:latin typeface="+mn-lt"/>
              </a:defRPr>
            </a:lvl1pPr>
          </a:lstStyle>
          <a:p>
            <a:pPr lvl="0"/>
            <a:r>
              <a:rPr lang="en-US"/>
              <a:t>Click to edit Master text styles</a:t>
            </a:r>
          </a:p>
        </p:txBody>
      </p:sp>
      <p:sp>
        <p:nvSpPr>
          <p:cNvPr id="28" name="Text Placeholder 3">
            <a:extLst>
              <a:ext uri="{FF2B5EF4-FFF2-40B4-BE49-F238E27FC236}">
                <a16:creationId xmlns:a16="http://schemas.microsoft.com/office/drawing/2014/main" id="{2CF285B7-A950-4326-A4D5-F5D542D2D65B}"/>
              </a:ext>
            </a:extLst>
          </p:cNvPr>
          <p:cNvSpPr>
            <a:spLocks noGrp="1"/>
          </p:cNvSpPr>
          <p:nvPr>
            <p:ph type="body" sz="quarter" idx="20"/>
          </p:nvPr>
        </p:nvSpPr>
        <p:spPr>
          <a:xfrm>
            <a:off x="6399647" y="3470942"/>
            <a:ext cx="4838700" cy="315915"/>
          </a:xfrm>
        </p:spPr>
        <p:txBody>
          <a:bodyPr>
            <a:noAutofit/>
          </a:bodyPr>
          <a:lstStyle>
            <a:lvl1pPr>
              <a:buNone/>
              <a:defRPr sz="1800" b="0" spc="0" baseline="0">
                <a:solidFill>
                  <a:schemeClr val="bg1"/>
                </a:solidFill>
                <a:latin typeface="+mj-lt"/>
              </a:defRPr>
            </a:lvl1pPr>
            <a:lvl2pPr>
              <a:buNone/>
              <a:defRPr/>
            </a:lvl2pPr>
            <a:lvl3pPr>
              <a:buNone/>
              <a:defRPr/>
            </a:lvl3pPr>
            <a:lvl4pPr>
              <a:buNone/>
              <a:defRPr/>
            </a:lvl4pPr>
            <a:lvl5pPr>
              <a:buNone/>
              <a:defRPr/>
            </a:lvl5pPr>
          </a:lstStyle>
          <a:p>
            <a:pPr lvl="0"/>
            <a:r>
              <a:rPr lang="en-US"/>
              <a:t>Click to edit Master text styles</a:t>
            </a:r>
          </a:p>
        </p:txBody>
      </p:sp>
      <p:pic>
        <p:nvPicPr>
          <p:cNvPr id="5" name="Picture 4">
            <a:extLst>
              <a:ext uri="{FF2B5EF4-FFF2-40B4-BE49-F238E27FC236}">
                <a16:creationId xmlns:a16="http://schemas.microsoft.com/office/drawing/2014/main" id="{BE82069A-ABBE-34B6-3AFE-DE0B2582B5D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85436" y="6299793"/>
            <a:ext cx="418391" cy="415945"/>
          </a:xfrm>
          <a:prstGeom prst="rect">
            <a:avLst/>
          </a:prstGeom>
        </p:spPr>
      </p:pic>
      <p:sp>
        <p:nvSpPr>
          <p:cNvPr id="6" name="Footer Placeholder 4">
            <a:extLst>
              <a:ext uri="{FF2B5EF4-FFF2-40B4-BE49-F238E27FC236}">
                <a16:creationId xmlns:a16="http://schemas.microsoft.com/office/drawing/2014/main" id="{E92265DA-FF74-94CB-E84F-F6014F29E57E}"/>
              </a:ext>
            </a:extLst>
          </p:cNvPr>
          <p:cNvSpPr>
            <a:spLocks noGrp="1"/>
          </p:cNvSpPr>
          <p:nvPr>
            <p:ph type="ftr" sz="quarter" idx="3"/>
          </p:nvPr>
        </p:nvSpPr>
        <p:spPr>
          <a:xfrm>
            <a:off x="10693667" y="6362299"/>
            <a:ext cx="1317821" cy="334189"/>
          </a:xfrm>
          <a:prstGeom prst="rect">
            <a:avLst/>
          </a:prstGeom>
        </p:spPr>
        <p:txBody>
          <a:bodyPr vert="horz" lIns="0" tIns="0" rIns="0" bIns="0" rtlCol="0" anchor="t" anchorCtr="0"/>
          <a:lstStyle>
            <a:lvl1pPr algn="l">
              <a:defRPr sz="1200" b="0" i="0">
                <a:solidFill>
                  <a:schemeClr val="bg1"/>
                </a:solidFill>
                <a:latin typeface="+mj-lt"/>
              </a:defRPr>
            </a:lvl1pPr>
          </a:lstStyle>
          <a:p>
            <a:r>
              <a:rPr lang="en-US" sz="1400"/>
              <a:t>DOCTORATES WITH PURPOSE</a:t>
            </a:r>
            <a:endParaRPr lang="en-US" sz="1400" dirty="0"/>
          </a:p>
        </p:txBody>
      </p:sp>
    </p:spTree>
    <p:extLst>
      <p:ext uri="{BB962C8B-B14F-4D97-AF65-F5344CB8AC3E}">
        <p14:creationId xmlns:p14="http://schemas.microsoft.com/office/powerpoint/2010/main" val="30601358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End">
    <p:bg>
      <p:bgPr>
        <a:solidFill>
          <a:schemeClr val="tx1"/>
        </a:solidFill>
        <a:effectLst/>
      </p:bgPr>
    </p:bg>
    <p:spTree>
      <p:nvGrpSpPr>
        <p:cNvPr id="1" name=""/>
        <p:cNvGrpSpPr/>
        <p:nvPr/>
      </p:nvGrpSpPr>
      <p:grpSpPr>
        <a:xfrm>
          <a:off x="0" y="0"/>
          <a:ext cx="0" cy="0"/>
          <a:chOff x="0" y="0"/>
          <a:chExt cx="0" cy="0"/>
        </a:xfrm>
      </p:grpSpPr>
      <p:sp>
        <p:nvSpPr>
          <p:cNvPr id="16" name="Text Placeholder 29">
            <a:extLst>
              <a:ext uri="{FF2B5EF4-FFF2-40B4-BE49-F238E27FC236}">
                <a16:creationId xmlns:a16="http://schemas.microsoft.com/office/drawing/2014/main" id="{BB778BC5-5409-574B-96E2-B45CDD940DF4}"/>
              </a:ext>
            </a:extLst>
          </p:cNvPr>
          <p:cNvSpPr>
            <a:spLocks noGrp="1"/>
          </p:cNvSpPr>
          <p:nvPr>
            <p:ph type="body" sz="quarter" idx="11"/>
          </p:nvPr>
        </p:nvSpPr>
        <p:spPr>
          <a:xfrm>
            <a:off x="6896100" y="5102063"/>
            <a:ext cx="4914900" cy="588795"/>
          </a:xfrm>
        </p:spPr>
        <p:txBody>
          <a:bodyPr lIns="0" tIns="0" rIns="0" bIns="0" anchor="b">
            <a:noAutofit/>
          </a:bodyPr>
          <a:lstStyle>
            <a:lvl1pPr marL="0" indent="0">
              <a:buNone/>
              <a:defRPr sz="16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17" name="Subtitle 2">
            <a:extLst>
              <a:ext uri="{FF2B5EF4-FFF2-40B4-BE49-F238E27FC236}">
                <a16:creationId xmlns:a16="http://schemas.microsoft.com/office/drawing/2014/main" id="{32916F3A-28FA-9A4B-A780-0D687D932893}"/>
              </a:ext>
            </a:extLst>
          </p:cNvPr>
          <p:cNvSpPr>
            <a:spLocks noGrp="1"/>
          </p:cNvSpPr>
          <p:nvPr>
            <p:ph type="subTitle" idx="1"/>
          </p:nvPr>
        </p:nvSpPr>
        <p:spPr>
          <a:xfrm>
            <a:off x="6907623" y="3591098"/>
            <a:ext cx="4903377" cy="1057791"/>
          </a:xfrm>
        </p:spPr>
        <p:txBody>
          <a:bodyPr lIns="0" tIns="0" rIns="0" bIns="0">
            <a:normAutofit/>
          </a:bodyPr>
          <a:lstStyle>
            <a:lvl1pPr marL="0" indent="0" algn="l">
              <a:buNone/>
              <a:defRPr sz="1600" b="0" i="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6" name="Title 1">
            <a:extLst>
              <a:ext uri="{FF2B5EF4-FFF2-40B4-BE49-F238E27FC236}">
                <a16:creationId xmlns:a16="http://schemas.microsoft.com/office/drawing/2014/main" id="{E29321F6-59C5-6E4C-A846-6AD00848A444}"/>
              </a:ext>
            </a:extLst>
          </p:cNvPr>
          <p:cNvSpPr>
            <a:spLocks noGrp="1"/>
          </p:cNvSpPr>
          <p:nvPr>
            <p:ph type="title"/>
          </p:nvPr>
        </p:nvSpPr>
        <p:spPr>
          <a:xfrm>
            <a:off x="6907623" y="2173658"/>
            <a:ext cx="4903377" cy="610863"/>
          </a:xfrm>
          <a:prstGeom prst="rect">
            <a:avLst/>
          </a:prstGeom>
        </p:spPr>
        <p:txBody>
          <a:bodyPr lIns="0" tIns="0" rIns="0" bIns="0" anchor="b" anchorCtr="0">
            <a:normAutofit/>
          </a:bodyPr>
          <a:lstStyle>
            <a:lvl1pPr>
              <a:defRPr sz="4400" b="1" i="0">
                <a:latin typeface="+mj-lt"/>
              </a:defRPr>
            </a:lvl1pPr>
          </a:lstStyle>
          <a:p>
            <a:r>
              <a:rPr lang="en-US"/>
              <a:t>Click to edit Master title style</a:t>
            </a:r>
            <a:endParaRPr lang="en-US" dirty="0"/>
          </a:p>
        </p:txBody>
      </p:sp>
      <p:cxnSp>
        <p:nvCxnSpPr>
          <p:cNvPr id="27" name="Straight Connector 26">
            <a:extLst>
              <a:ext uri="{FF2B5EF4-FFF2-40B4-BE49-F238E27FC236}">
                <a16:creationId xmlns:a16="http://schemas.microsoft.com/office/drawing/2014/main" id="{AB5C3BF3-A164-DD48-BD02-4587489DA105}"/>
              </a:ext>
            </a:extLst>
          </p:cNvPr>
          <p:cNvCxnSpPr>
            <a:cxnSpLocks/>
          </p:cNvCxnSpPr>
          <p:nvPr userDrawn="1"/>
        </p:nvCxnSpPr>
        <p:spPr>
          <a:xfrm>
            <a:off x="6896100" y="3233703"/>
            <a:ext cx="4914900" cy="0"/>
          </a:xfrm>
          <a:prstGeom prst="line">
            <a:avLst/>
          </a:prstGeom>
          <a:ln w="101600">
            <a:solidFill>
              <a:srgbClr val="7757A4"/>
            </a:solidFill>
          </a:ln>
        </p:spPr>
        <p:style>
          <a:lnRef idx="1">
            <a:schemeClr val="dk1"/>
          </a:lnRef>
          <a:fillRef idx="0">
            <a:schemeClr val="dk1"/>
          </a:fillRef>
          <a:effectRef idx="0">
            <a:schemeClr val="dk1"/>
          </a:effectRef>
          <a:fontRef idx="minor">
            <a:schemeClr val="tx1"/>
          </a:fontRef>
        </p:style>
      </p:cxnSp>
      <p:sp>
        <p:nvSpPr>
          <p:cNvPr id="11" name="Picture Placeholder 2">
            <a:extLst>
              <a:ext uri="{FF2B5EF4-FFF2-40B4-BE49-F238E27FC236}">
                <a16:creationId xmlns:a16="http://schemas.microsoft.com/office/drawing/2014/main" id="{F8C225AD-C009-894E-8AFA-C94EAA06509C}"/>
              </a:ext>
            </a:extLst>
          </p:cNvPr>
          <p:cNvSpPr>
            <a:spLocks noGrp="1"/>
          </p:cNvSpPr>
          <p:nvPr>
            <p:ph type="pic" sz="quarter" idx="13"/>
          </p:nvPr>
        </p:nvSpPr>
        <p:spPr>
          <a:xfrm>
            <a:off x="0" y="0"/>
            <a:ext cx="6096000" cy="6858000"/>
          </a:xfrm>
        </p:spPr>
        <p:txBody>
          <a:bodyPr/>
          <a:lstStyle/>
          <a:p>
            <a:r>
              <a:rPr lang="en-US"/>
              <a:t>Click icon to add picture</a:t>
            </a:r>
            <a:endParaRPr lang="en-US" dirty="0"/>
          </a:p>
        </p:txBody>
      </p:sp>
      <p:grpSp>
        <p:nvGrpSpPr>
          <p:cNvPr id="30" name="Group 29">
            <a:extLst>
              <a:ext uri="{FF2B5EF4-FFF2-40B4-BE49-F238E27FC236}">
                <a16:creationId xmlns:a16="http://schemas.microsoft.com/office/drawing/2014/main" id="{FFEF81ED-50DF-3946-87D9-407C13C3CE9F}"/>
              </a:ext>
            </a:extLst>
          </p:cNvPr>
          <p:cNvGrpSpPr>
            <a:grpSpLocks/>
          </p:cNvGrpSpPr>
          <p:nvPr userDrawn="1"/>
        </p:nvGrpSpPr>
        <p:grpSpPr bwMode="auto">
          <a:xfrm rot="10800000">
            <a:off x="8870040" y="0"/>
            <a:ext cx="3325208" cy="3325208"/>
            <a:chOff x="0" y="12289"/>
            <a:chExt cx="3550" cy="3551"/>
          </a:xfrm>
        </p:grpSpPr>
        <p:sp>
          <p:nvSpPr>
            <p:cNvPr id="31" name="Freeform 30">
              <a:extLst>
                <a:ext uri="{FF2B5EF4-FFF2-40B4-BE49-F238E27FC236}">
                  <a16:creationId xmlns:a16="http://schemas.microsoft.com/office/drawing/2014/main" id="{4B6857A0-601C-9C40-ADB4-7927C7A4ECA0}"/>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rgbClr val="7757A4"/>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32" name="Freeform 31">
              <a:extLst>
                <a:ext uri="{FF2B5EF4-FFF2-40B4-BE49-F238E27FC236}">
                  <a16:creationId xmlns:a16="http://schemas.microsoft.com/office/drawing/2014/main" id="{31562ACC-ECB3-4841-A52C-00DAFF438EBF}"/>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33" name="Freeform 32">
              <a:extLst>
                <a:ext uri="{FF2B5EF4-FFF2-40B4-BE49-F238E27FC236}">
                  <a16:creationId xmlns:a16="http://schemas.microsoft.com/office/drawing/2014/main" id="{77C317B8-91B4-7040-AB8C-CE822CA28AA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rgbClr val="49236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pic>
        <p:nvPicPr>
          <p:cNvPr id="3" name="Picture 2">
            <a:extLst>
              <a:ext uri="{FF2B5EF4-FFF2-40B4-BE49-F238E27FC236}">
                <a16:creationId xmlns:a16="http://schemas.microsoft.com/office/drawing/2014/main" id="{1946B9D0-FB14-B742-519A-0EAAD8D6410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85436" y="6299793"/>
            <a:ext cx="418391" cy="415945"/>
          </a:xfrm>
          <a:prstGeom prst="rect">
            <a:avLst/>
          </a:prstGeom>
        </p:spPr>
      </p:pic>
      <p:sp>
        <p:nvSpPr>
          <p:cNvPr id="4" name="Footer Placeholder 4">
            <a:extLst>
              <a:ext uri="{FF2B5EF4-FFF2-40B4-BE49-F238E27FC236}">
                <a16:creationId xmlns:a16="http://schemas.microsoft.com/office/drawing/2014/main" id="{653D7D75-798E-82CB-8680-BE96223E1075}"/>
              </a:ext>
            </a:extLst>
          </p:cNvPr>
          <p:cNvSpPr>
            <a:spLocks noGrp="1"/>
          </p:cNvSpPr>
          <p:nvPr>
            <p:ph type="ftr" sz="quarter" idx="3"/>
          </p:nvPr>
        </p:nvSpPr>
        <p:spPr>
          <a:xfrm>
            <a:off x="10693667" y="6362299"/>
            <a:ext cx="1317821" cy="334189"/>
          </a:xfrm>
          <a:prstGeom prst="rect">
            <a:avLst/>
          </a:prstGeom>
        </p:spPr>
        <p:txBody>
          <a:bodyPr vert="horz" lIns="0" tIns="0" rIns="0" bIns="0" rtlCol="0" anchor="t" anchorCtr="0"/>
          <a:lstStyle>
            <a:lvl1pPr algn="l">
              <a:defRPr sz="1200" b="0" i="0">
                <a:solidFill>
                  <a:schemeClr val="bg1"/>
                </a:solidFill>
                <a:latin typeface="+mj-lt"/>
              </a:defRPr>
            </a:lvl1pPr>
          </a:lstStyle>
          <a:p>
            <a:r>
              <a:rPr lang="en-US" sz="1400"/>
              <a:t>DOCTORATES WITH PURPOSE</a:t>
            </a:r>
            <a:endParaRPr lang="en-US" sz="1400" dirty="0"/>
          </a:p>
        </p:txBody>
      </p:sp>
    </p:spTree>
    <p:extLst>
      <p:ext uri="{BB962C8B-B14F-4D97-AF65-F5344CB8AC3E}">
        <p14:creationId xmlns:p14="http://schemas.microsoft.com/office/powerpoint/2010/main" val="999130720"/>
      </p:ext>
    </p:extLst>
  </p:cSld>
  <p:clrMapOvr>
    <a:masterClrMapping/>
  </p:clrMapOvr>
  <p:extLst>
    <p:ext uri="{DCECCB84-F9BA-43D5-87BE-67443E8EF086}">
      <p15:sldGuideLst xmlns:p15="http://schemas.microsoft.com/office/powerpoint/2012/main">
        <p15:guide id="1" pos="60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EED84C6-50E6-6C43-8031-AFF6268E0C06}"/>
              </a:ext>
            </a:extLst>
          </p:cNvPr>
          <p:cNvSpPr>
            <a:spLocks noGrp="1"/>
          </p:cNvSpPr>
          <p:nvPr>
            <p:ph type="body" idx="1"/>
          </p:nvPr>
        </p:nvSpPr>
        <p:spPr>
          <a:xfrm>
            <a:off x="971550" y="1825625"/>
            <a:ext cx="1038225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itle Placeholder 11">
            <a:extLst>
              <a:ext uri="{FF2B5EF4-FFF2-40B4-BE49-F238E27FC236}">
                <a16:creationId xmlns:a16="http://schemas.microsoft.com/office/drawing/2014/main" id="{D41FC0AE-253D-D242-9C88-017078F8A23A}"/>
              </a:ext>
            </a:extLst>
          </p:cNvPr>
          <p:cNvSpPr>
            <a:spLocks noGrp="1"/>
          </p:cNvSpPr>
          <p:nvPr>
            <p:ph type="title"/>
          </p:nvPr>
        </p:nvSpPr>
        <p:spPr>
          <a:xfrm>
            <a:off x="952500" y="365125"/>
            <a:ext cx="104013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Tree>
    <p:extLst>
      <p:ext uri="{BB962C8B-B14F-4D97-AF65-F5344CB8AC3E}">
        <p14:creationId xmlns:p14="http://schemas.microsoft.com/office/powerpoint/2010/main" val="3515892240"/>
      </p:ext>
    </p:extLst>
  </p:cSld>
  <p:clrMap bg1="dk1" tx1="lt1" bg2="dk2" tx2="lt2" accent1="accent1" accent2="accent2" accent3="accent3" accent4="accent4" accent5="accent5" accent6="accent6" hlink="hlink" folHlink="folHlink"/>
  <p:sldLayoutIdLst>
    <p:sldLayoutId id="2147483659" r:id="rId1"/>
    <p:sldLayoutId id="2147483700" r:id="rId2"/>
    <p:sldLayoutId id="2147483693" r:id="rId3"/>
    <p:sldLayoutId id="2147483695" r:id="rId4"/>
    <p:sldLayoutId id="2147483671" r:id="rId5"/>
    <p:sldLayoutId id="2147483672" r:id="rId6"/>
    <p:sldLayoutId id="2147483694" r:id="rId7"/>
    <p:sldLayoutId id="2147483673" r:id="rId8"/>
    <p:sldLayoutId id="2147483684" r:id="rId9"/>
    <p:sldLayoutId id="2147483675" r:id="rId10"/>
    <p:sldLayoutId id="2147483697" r:id="rId11"/>
    <p:sldLayoutId id="2147483696" r:id="rId12"/>
    <p:sldLayoutId id="2147483676" r:id="rId13"/>
    <p:sldLayoutId id="2147483677" r:id="rId14"/>
    <p:sldLayoutId id="2147483685" r:id="rId15"/>
    <p:sldLayoutId id="2147483688" r:id="rId16"/>
    <p:sldLayoutId id="2147483692" r:id="rId17"/>
    <p:sldLayoutId id="2147483682" r:id="rId18"/>
  </p:sldLayoutIdLst>
  <p:hf sldNum="0" hdr="0" dt="0"/>
  <p:txStyles>
    <p:titleStyle>
      <a:lvl1pPr algn="l" defTabSz="914400" rtl="0" eaLnBrk="1" latinLnBrk="0" hangingPunct="1">
        <a:lnSpc>
          <a:spcPct val="90000"/>
        </a:lnSpc>
        <a:spcBef>
          <a:spcPct val="0"/>
        </a:spcBef>
        <a:buNone/>
        <a:defRPr sz="44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userDrawn="1">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hyperlink" Target="https://doi.org/10.1111/ppc.12380" TargetMode="External"/><Relationship Id="rId2" Type="http://schemas.openxmlformats.org/officeDocument/2006/relationships/notesSlide" Target="../notesSlides/notesSlide22.xml"/><Relationship Id="rId1" Type="http://schemas.openxmlformats.org/officeDocument/2006/relationships/slideLayout" Target="../slideLayouts/slideLayout7.xml"/><Relationship Id="rId5" Type="http://schemas.openxmlformats.org/officeDocument/2006/relationships/hyperlink" Target="https://doi.org/10.1097/aog.0000000000000092" TargetMode="External"/><Relationship Id="rId4" Type="http://schemas.openxmlformats.org/officeDocument/2006/relationships/hyperlink" Target="https://doi.org/10.1111/ajo.1291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E168C-8042-5B4E-A5A4-A5BF693AE2D6}"/>
              </a:ext>
            </a:extLst>
          </p:cNvPr>
          <p:cNvSpPr>
            <a:spLocks noGrp="1"/>
          </p:cNvSpPr>
          <p:nvPr>
            <p:ph type="ctrTitle"/>
          </p:nvPr>
        </p:nvSpPr>
        <p:spPr>
          <a:xfrm>
            <a:off x="1230923" y="339969"/>
            <a:ext cx="10961078" cy="2895600"/>
          </a:xfrm>
        </p:spPr>
        <p:txBody>
          <a:bodyPr/>
          <a:lstStyle/>
          <a:p>
            <a:pPr algn="ctr"/>
            <a:r>
              <a:rPr lang="en-US" sz="4400" dirty="0"/>
              <a:t>Measuring the Influence of Nurses on Women's Mental Health After Abortion (Quantitative Study)</a:t>
            </a:r>
          </a:p>
        </p:txBody>
      </p:sp>
      <p:sp>
        <p:nvSpPr>
          <p:cNvPr id="3" name="Text Placeholder 2">
            <a:extLst>
              <a:ext uri="{FF2B5EF4-FFF2-40B4-BE49-F238E27FC236}">
                <a16:creationId xmlns:a16="http://schemas.microsoft.com/office/drawing/2014/main" id="{F18E61D8-31A3-2D45-8E25-CBE846E26E1C}"/>
              </a:ext>
            </a:extLst>
          </p:cNvPr>
          <p:cNvSpPr>
            <a:spLocks noGrp="1"/>
          </p:cNvSpPr>
          <p:nvPr>
            <p:ph type="body" sz="quarter" idx="11"/>
          </p:nvPr>
        </p:nvSpPr>
        <p:spPr>
          <a:xfrm>
            <a:off x="6378778" y="4407073"/>
            <a:ext cx="5491570" cy="953337"/>
          </a:xfrm>
        </p:spPr>
        <p:txBody>
          <a:bodyPr/>
          <a:lstStyle/>
          <a:p>
            <a:r>
              <a:rPr lang="en-US" dirty="0" err="1">
                <a:latin typeface="+mj-lt"/>
              </a:rPr>
              <a:t>Makhiya</a:t>
            </a:r>
            <a:r>
              <a:rPr lang="en-US" dirty="0">
                <a:latin typeface="+mj-lt"/>
              </a:rPr>
              <a:t> Davis</a:t>
            </a:r>
          </a:p>
          <a:p>
            <a:r>
              <a:rPr lang="en-US" dirty="0">
                <a:latin typeface="+mj-lt"/>
              </a:rPr>
              <a:t>Dr. Jillian Skelton</a:t>
            </a:r>
          </a:p>
          <a:p>
            <a:r>
              <a:rPr lang="en-US" dirty="0">
                <a:latin typeface="+mj-lt"/>
              </a:rPr>
              <a:t>5</a:t>
            </a:r>
            <a:r>
              <a:rPr lang="en-US" baseline="30000" dirty="0">
                <a:latin typeface="+mj-lt"/>
              </a:rPr>
              <a:t>th</a:t>
            </a:r>
            <a:r>
              <a:rPr lang="en-US" dirty="0">
                <a:latin typeface="+mj-lt"/>
              </a:rPr>
              <a:t>  October, 2023</a:t>
            </a:r>
          </a:p>
        </p:txBody>
      </p:sp>
      <p:sp>
        <p:nvSpPr>
          <p:cNvPr id="6" name="Footer Placeholder 5">
            <a:extLst>
              <a:ext uri="{FF2B5EF4-FFF2-40B4-BE49-F238E27FC236}">
                <a16:creationId xmlns:a16="http://schemas.microsoft.com/office/drawing/2014/main" id="{59FA0720-DBC6-8F46-60C6-A54A166A1595}"/>
              </a:ext>
            </a:extLst>
          </p:cNvPr>
          <p:cNvSpPr>
            <a:spLocks noGrp="1"/>
          </p:cNvSpPr>
          <p:nvPr>
            <p:ph type="ftr" sz="quarter" idx="3"/>
          </p:nvPr>
        </p:nvSpPr>
        <p:spPr/>
        <p:txBody>
          <a:bodyPr/>
          <a:lstStyle/>
          <a:p>
            <a:r>
              <a:rPr lang="en-US" sz="1400"/>
              <a:t>DOCTORATES WITH PURPOSE</a:t>
            </a:r>
            <a:endParaRPr lang="en-US" sz="1400" dirty="0"/>
          </a:p>
        </p:txBody>
      </p:sp>
    </p:spTree>
    <p:extLst>
      <p:ext uri="{BB962C8B-B14F-4D97-AF65-F5344CB8AC3E}">
        <p14:creationId xmlns:p14="http://schemas.microsoft.com/office/powerpoint/2010/main" val="29609507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85A9CB56-3403-2F75-3959-2E7E7B4CFAED}"/>
              </a:ext>
            </a:extLst>
          </p:cNvPr>
          <p:cNvSpPr>
            <a:spLocks noGrp="1"/>
          </p:cNvSpPr>
          <p:nvPr>
            <p:ph type="title"/>
          </p:nvPr>
        </p:nvSpPr>
        <p:spPr>
          <a:xfrm>
            <a:off x="519523" y="193263"/>
            <a:ext cx="4941477" cy="610863"/>
          </a:xfrm>
        </p:spPr>
        <p:txBody>
          <a:bodyPr/>
          <a:lstStyle/>
          <a:p>
            <a:r>
              <a:rPr lang="en-US" dirty="0"/>
              <a:t>Alignment Table</a:t>
            </a:r>
          </a:p>
        </p:txBody>
      </p:sp>
      <p:sp>
        <p:nvSpPr>
          <p:cNvPr id="2" name="Footer Placeholder 1">
            <a:extLst>
              <a:ext uri="{FF2B5EF4-FFF2-40B4-BE49-F238E27FC236}">
                <a16:creationId xmlns:a16="http://schemas.microsoft.com/office/drawing/2014/main" id="{B9D53A73-468D-7DFC-CEBA-CC3BDC5F79AB}"/>
              </a:ext>
            </a:extLst>
          </p:cNvPr>
          <p:cNvSpPr>
            <a:spLocks noGrp="1"/>
          </p:cNvSpPr>
          <p:nvPr>
            <p:ph type="ftr" sz="quarter" idx="3"/>
          </p:nvPr>
        </p:nvSpPr>
        <p:spPr/>
        <p:txBody>
          <a:bodyPr/>
          <a:lstStyle/>
          <a:p>
            <a:r>
              <a:rPr lang="en-US" sz="1400"/>
              <a:t>DOCTORATES WITH PURPOSE</a:t>
            </a:r>
            <a:endParaRPr lang="en-US" sz="1400" dirty="0"/>
          </a:p>
        </p:txBody>
      </p:sp>
      <p:graphicFrame>
        <p:nvGraphicFramePr>
          <p:cNvPr id="4" name="Table 3">
            <a:extLst>
              <a:ext uri="{FF2B5EF4-FFF2-40B4-BE49-F238E27FC236}">
                <a16:creationId xmlns:a16="http://schemas.microsoft.com/office/drawing/2014/main" id="{261B791F-4A3C-4D04-0692-5A013E47E9DD}"/>
              </a:ext>
            </a:extLst>
          </p:cNvPr>
          <p:cNvGraphicFramePr>
            <a:graphicFrameLocks noGrp="1"/>
          </p:cNvGraphicFramePr>
          <p:nvPr>
            <p:extLst>
              <p:ext uri="{D42A27DB-BD31-4B8C-83A1-F6EECF244321}">
                <p14:modId xmlns:p14="http://schemas.microsoft.com/office/powerpoint/2010/main" val="4145980581"/>
              </p:ext>
            </p:extLst>
          </p:nvPr>
        </p:nvGraphicFramePr>
        <p:xfrm>
          <a:off x="519522" y="912679"/>
          <a:ext cx="11189878" cy="5542830"/>
        </p:xfrm>
        <a:graphic>
          <a:graphicData uri="http://schemas.openxmlformats.org/drawingml/2006/table">
            <a:tbl>
              <a:tblPr firstRow="1" firstCol="1" bandRow="1"/>
              <a:tblGrid>
                <a:gridCol w="5152603">
                  <a:extLst>
                    <a:ext uri="{9D8B030D-6E8A-4147-A177-3AD203B41FA5}">
                      <a16:colId xmlns:a16="http://schemas.microsoft.com/office/drawing/2014/main" val="3711440466"/>
                    </a:ext>
                  </a:extLst>
                </a:gridCol>
                <a:gridCol w="6037275">
                  <a:extLst>
                    <a:ext uri="{9D8B030D-6E8A-4147-A177-3AD203B41FA5}">
                      <a16:colId xmlns:a16="http://schemas.microsoft.com/office/drawing/2014/main" val="2969381698"/>
                    </a:ext>
                  </a:extLst>
                </a:gridCol>
              </a:tblGrid>
              <a:tr h="1216996">
                <a:tc>
                  <a:txBody>
                    <a:bodyPr/>
                    <a:lstStyle>
                      <a:lvl1pPr marL="0" algn="l" defTabSz="914400" rtl="0" eaLnBrk="1" latinLnBrk="0" hangingPunct="1">
                        <a:defRPr sz="1800" kern="1200">
                          <a:solidFill>
                            <a:schemeClr val="tx1"/>
                          </a:solidFill>
                          <a:latin typeface="Lucida Grande"/>
                          <a:ea typeface="ヒラギノ角ゴ ProN W3"/>
                          <a:cs typeface="ヒラギノ角ゴ ProN W3"/>
                        </a:defRPr>
                      </a:lvl1pPr>
                      <a:lvl2pPr marL="457200" algn="l" defTabSz="914400" rtl="0" eaLnBrk="1" latinLnBrk="0" hangingPunct="1">
                        <a:defRPr sz="1800" kern="1200">
                          <a:solidFill>
                            <a:schemeClr val="tx1"/>
                          </a:solidFill>
                          <a:latin typeface="Lucida Grande"/>
                          <a:ea typeface="ヒラギノ角ゴ ProN W3"/>
                          <a:cs typeface="ヒラギノ角ゴ ProN W3"/>
                        </a:defRPr>
                      </a:lvl2pPr>
                      <a:lvl3pPr marL="914400" algn="l" defTabSz="914400" rtl="0" eaLnBrk="1" latinLnBrk="0" hangingPunct="1">
                        <a:defRPr sz="1800" kern="1200">
                          <a:solidFill>
                            <a:schemeClr val="tx1"/>
                          </a:solidFill>
                          <a:latin typeface="Lucida Grande"/>
                          <a:ea typeface="ヒラギノ角ゴ ProN W3"/>
                          <a:cs typeface="ヒラギノ角ゴ ProN W3"/>
                        </a:defRPr>
                      </a:lvl3pPr>
                      <a:lvl4pPr marL="1371600" algn="l" defTabSz="914400" rtl="0" eaLnBrk="1" latinLnBrk="0" hangingPunct="1">
                        <a:defRPr sz="1800" kern="1200">
                          <a:solidFill>
                            <a:schemeClr val="tx1"/>
                          </a:solidFill>
                          <a:latin typeface="Lucida Grande"/>
                          <a:ea typeface="ヒラギノ角ゴ ProN W3"/>
                          <a:cs typeface="ヒラギノ角ゴ ProN W3"/>
                        </a:defRPr>
                      </a:lvl4pPr>
                      <a:lvl5pPr marL="1828800" algn="l" defTabSz="914400" rtl="0" eaLnBrk="1" latinLnBrk="0" hangingPunct="1">
                        <a:defRPr sz="1800" kern="1200">
                          <a:solidFill>
                            <a:schemeClr val="tx1"/>
                          </a:solidFill>
                          <a:latin typeface="Lucida Grande"/>
                          <a:ea typeface="ヒラギノ角ゴ ProN W3"/>
                          <a:cs typeface="ヒラギノ角ゴ ProN W3"/>
                        </a:defRPr>
                      </a:lvl5pPr>
                      <a:lvl6pPr marL="2286000" algn="l" defTabSz="914400" rtl="0" eaLnBrk="1" latinLnBrk="0" hangingPunct="1">
                        <a:defRPr sz="1800" kern="1200">
                          <a:solidFill>
                            <a:schemeClr val="tx1"/>
                          </a:solidFill>
                          <a:latin typeface="Lucida Grande"/>
                          <a:ea typeface="ヒラギノ角ゴ ProN W3"/>
                          <a:cs typeface="ヒラギノ角ゴ ProN W3"/>
                        </a:defRPr>
                      </a:lvl6pPr>
                      <a:lvl7pPr marL="2743200" algn="l" defTabSz="914400" rtl="0" eaLnBrk="1" latinLnBrk="0" hangingPunct="1">
                        <a:defRPr sz="1800" kern="1200">
                          <a:solidFill>
                            <a:schemeClr val="tx1"/>
                          </a:solidFill>
                          <a:latin typeface="Lucida Grande"/>
                          <a:ea typeface="ヒラギノ角ゴ ProN W3"/>
                          <a:cs typeface="ヒラギノ角ゴ ProN W3"/>
                        </a:defRPr>
                      </a:lvl7pPr>
                      <a:lvl8pPr marL="3200400" algn="l" defTabSz="914400" rtl="0" eaLnBrk="1" latinLnBrk="0" hangingPunct="1">
                        <a:defRPr sz="1800" kern="1200">
                          <a:solidFill>
                            <a:schemeClr val="tx1"/>
                          </a:solidFill>
                          <a:latin typeface="Lucida Grande"/>
                          <a:ea typeface="ヒラギノ角ゴ ProN W3"/>
                          <a:cs typeface="ヒラギノ角ゴ ProN W3"/>
                        </a:defRPr>
                      </a:lvl8pPr>
                      <a:lvl9pPr marL="3657600" algn="l" defTabSz="914400" rtl="0" eaLnBrk="1" latinLnBrk="0" hangingPunct="1">
                        <a:defRPr sz="1800" kern="1200">
                          <a:solidFill>
                            <a:schemeClr val="tx1"/>
                          </a:solidFill>
                          <a:latin typeface="Lucida Grande"/>
                          <a:ea typeface="ヒラギノ角ゴ ProN W3"/>
                          <a:cs typeface="ヒラギノ角ゴ ProN W3"/>
                        </a:defRPr>
                      </a:lvl9pPr>
                    </a:lstStyle>
                    <a:p>
                      <a:pPr marL="0" marR="0">
                        <a:spcBef>
                          <a:spcPts val="0"/>
                        </a:spcBef>
                        <a:spcAft>
                          <a:spcPts val="1000"/>
                        </a:spcAft>
                      </a:pPr>
                      <a:r>
                        <a:rPr lang="en-US" sz="1100" dirty="0">
                          <a:solidFill>
                            <a:schemeClr val="bg1"/>
                          </a:solidFill>
                          <a:effectLst/>
                          <a:latin typeface="+mn-lt"/>
                          <a:ea typeface="Calibri" panose="020F0502020204030204" pitchFamily="34" charset="0"/>
                        </a:rPr>
                        <a:t> </a:t>
                      </a:r>
                      <a:r>
                        <a:rPr lang="en-US" sz="1100" b="1" dirty="0">
                          <a:solidFill>
                            <a:schemeClr val="bg1"/>
                          </a:solidFill>
                          <a:effectLst/>
                          <a:latin typeface="+mn-lt"/>
                          <a:ea typeface="Calibri" panose="020F0502020204030204" pitchFamily="34" charset="0"/>
                        </a:rPr>
                        <a:t>Problem Statement</a:t>
                      </a:r>
                      <a:r>
                        <a:rPr lang="en-US" sz="1100" dirty="0">
                          <a:solidFill>
                            <a:schemeClr val="bg1"/>
                          </a:solidFill>
                          <a:effectLst/>
                          <a:latin typeface="+mn-lt"/>
                          <a:ea typeface="Calibri" panose="020F0502020204030204" pitchFamily="34" charset="0"/>
                        </a:rPr>
                        <a:t>:</a:t>
                      </a:r>
                      <a:endParaRPr lang="en-US" sz="1200" dirty="0">
                        <a:solidFill>
                          <a:schemeClr val="bg1"/>
                        </a:solidFill>
                        <a:effectLst/>
                        <a:latin typeface="+mn-lt"/>
                        <a:ea typeface="Calibri" panose="020F0502020204030204" pitchFamily="34" charset="0"/>
                      </a:endParaRPr>
                    </a:p>
                    <a:p>
                      <a:pPr marL="19050" marR="0">
                        <a:spcBef>
                          <a:spcPts val="0"/>
                        </a:spcBef>
                        <a:spcAft>
                          <a:spcPts val="1000"/>
                        </a:spcAft>
                      </a:pPr>
                      <a:r>
                        <a:rPr lang="en-US" sz="1200" dirty="0">
                          <a:solidFill>
                            <a:schemeClr val="bg1"/>
                          </a:solidFill>
                          <a:effectLst/>
                          <a:latin typeface="+mn-lt"/>
                          <a:ea typeface="Calibri" panose="020F0502020204030204" pitchFamily="34" charset="0"/>
                        </a:rPr>
                        <a:t>It is not known to what degree leadership behaviors affect the self-efficacy and willingness of millennial nurses to provide care for women who have undergone an abortion procedure, necessitating the quantification of this relationship through surveys and statistical analyses</a:t>
                      </a:r>
                    </a:p>
                  </a:txBody>
                  <a:tcPr marL="36195" marR="36195"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Lucida Grande"/>
                          <a:ea typeface="ヒラギノ角ゴ ProN W3"/>
                          <a:cs typeface="ヒラギノ角ゴ ProN W3"/>
                        </a:defRPr>
                      </a:lvl1pPr>
                      <a:lvl2pPr marL="457200" algn="l" defTabSz="914400" rtl="0" eaLnBrk="1" latinLnBrk="0" hangingPunct="1">
                        <a:defRPr sz="1800" kern="1200">
                          <a:solidFill>
                            <a:schemeClr val="tx1"/>
                          </a:solidFill>
                          <a:latin typeface="Lucida Grande"/>
                          <a:ea typeface="ヒラギノ角ゴ ProN W3"/>
                          <a:cs typeface="ヒラギノ角ゴ ProN W3"/>
                        </a:defRPr>
                      </a:lvl2pPr>
                      <a:lvl3pPr marL="914400" algn="l" defTabSz="914400" rtl="0" eaLnBrk="1" latinLnBrk="0" hangingPunct="1">
                        <a:defRPr sz="1800" kern="1200">
                          <a:solidFill>
                            <a:schemeClr val="tx1"/>
                          </a:solidFill>
                          <a:latin typeface="Lucida Grande"/>
                          <a:ea typeface="ヒラギノ角ゴ ProN W3"/>
                          <a:cs typeface="ヒラギノ角ゴ ProN W3"/>
                        </a:defRPr>
                      </a:lvl3pPr>
                      <a:lvl4pPr marL="1371600" algn="l" defTabSz="914400" rtl="0" eaLnBrk="1" latinLnBrk="0" hangingPunct="1">
                        <a:defRPr sz="1800" kern="1200">
                          <a:solidFill>
                            <a:schemeClr val="tx1"/>
                          </a:solidFill>
                          <a:latin typeface="Lucida Grande"/>
                          <a:ea typeface="ヒラギノ角ゴ ProN W3"/>
                          <a:cs typeface="ヒラギノ角ゴ ProN W3"/>
                        </a:defRPr>
                      </a:lvl4pPr>
                      <a:lvl5pPr marL="1828800" algn="l" defTabSz="914400" rtl="0" eaLnBrk="1" latinLnBrk="0" hangingPunct="1">
                        <a:defRPr sz="1800" kern="1200">
                          <a:solidFill>
                            <a:schemeClr val="tx1"/>
                          </a:solidFill>
                          <a:latin typeface="Lucida Grande"/>
                          <a:ea typeface="ヒラギノ角ゴ ProN W3"/>
                          <a:cs typeface="ヒラギノ角ゴ ProN W3"/>
                        </a:defRPr>
                      </a:lvl5pPr>
                      <a:lvl6pPr marL="2286000" algn="l" defTabSz="914400" rtl="0" eaLnBrk="1" latinLnBrk="0" hangingPunct="1">
                        <a:defRPr sz="1800" kern="1200">
                          <a:solidFill>
                            <a:schemeClr val="tx1"/>
                          </a:solidFill>
                          <a:latin typeface="Lucida Grande"/>
                          <a:ea typeface="ヒラギノ角ゴ ProN W3"/>
                          <a:cs typeface="ヒラギノ角ゴ ProN W3"/>
                        </a:defRPr>
                      </a:lvl6pPr>
                      <a:lvl7pPr marL="2743200" algn="l" defTabSz="914400" rtl="0" eaLnBrk="1" latinLnBrk="0" hangingPunct="1">
                        <a:defRPr sz="1800" kern="1200">
                          <a:solidFill>
                            <a:schemeClr val="tx1"/>
                          </a:solidFill>
                          <a:latin typeface="Lucida Grande"/>
                          <a:ea typeface="ヒラギノ角ゴ ProN W3"/>
                          <a:cs typeface="ヒラギノ角ゴ ProN W3"/>
                        </a:defRPr>
                      </a:lvl7pPr>
                      <a:lvl8pPr marL="3200400" algn="l" defTabSz="914400" rtl="0" eaLnBrk="1" latinLnBrk="0" hangingPunct="1">
                        <a:defRPr sz="1800" kern="1200">
                          <a:solidFill>
                            <a:schemeClr val="tx1"/>
                          </a:solidFill>
                          <a:latin typeface="Lucida Grande"/>
                          <a:ea typeface="ヒラギノ角ゴ ProN W3"/>
                          <a:cs typeface="ヒラギノ角ゴ ProN W3"/>
                        </a:defRPr>
                      </a:lvl8pPr>
                      <a:lvl9pPr marL="3657600" algn="l" defTabSz="914400" rtl="0" eaLnBrk="1" latinLnBrk="0" hangingPunct="1">
                        <a:defRPr sz="1800" kern="1200">
                          <a:solidFill>
                            <a:schemeClr val="tx1"/>
                          </a:solidFill>
                          <a:latin typeface="Lucida Grande"/>
                          <a:ea typeface="ヒラギノ角ゴ ProN W3"/>
                          <a:cs typeface="ヒラギノ角ゴ ProN W3"/>
                        </a:defRPr>
                      </a:lvl9pPr>
                    </a:lstStyle>
                    <a:p>
                      <a:pPr marL="0" marR="0">
                        <a:spcBef>
                          <a:spcPts val="0"/>
                        </a:spcBef>
                        <a:spcAft>
                          <a:spcPts val="1000"/>
                        </a:spcAft>
                      </a:pPr>
                      <a:r>
                        <a:rPr lang="en-US" sz="1100" b="1" dirty="0">
                          <a:solidFill>
                            <a:schemeClr val="bg1"/>
                          </a:solidFill>
                          <a:effectLst/>
                          <a:latin typeface="+mn-lt"/>
                          <a:ea typeface="Calibri" panose="020F0502020204030204" pitchFamily="34" charset="0"/>
                        </a:rPr>
                        <a:t>Purpose Statement</a:t>
                      </a:r>
                      <a:r>
                        <a:rPr lang="en-US" sz="1100" dirty="0">
                          <a:solidFill>
                            <a:schemeClr val="bg1"/>
                          </a:solidFill>
                          <a:effectLst/>
                          <a:latin typeface="+mn-lt"/>
                          <a:ea typeface="Calibri" panose="020F0502020204030204" pitchFamily="34" charset="0"/>
                        </a:rPr>
                        <a:t>:</a:t>
                      </a:r>
                      <a:endParaRPr lang="en-US" sz="1200" dirty="0">
                        <a:solidFill>
                          <a:schemeClr val="bg1"/>
                        </a:solidFill>
                        <a:effectLst/>
                        <a:latin typeface="+mn-lt"/>
                        <a:ea typeface="Calibri" panose="020F0502020204030204" pitchFamily="34" charset="0"/>
                      </a:endParaRPr>
                    </a:p>
                    <a:p>
                      <a:pPr marL="57785" marR="0">
                        <a:spcBef>
                          <a:spcPts val="0"/>
                        </a:spcBef>
                        <a:spcAft>
                          <a:spcPts val="1000"/>
                        </a:spcAft>
                      </a:pPr>
                      <a:r>
                        <a:rPr lang="en-US" sz="1100" dirty="0">
                          <a:solidFill>
                            <a:schemeClr val="bg1"/>
                          </a:solidFill>
                          <a:effectLst/>
                          <a:latin typeface="+mn-lt"/>
                          <a:ea typeface="Calibri" panose="020F0502020204030204" pitchFamily="34" charset="0"/>
                        </a:rPr>
                        <a:t>The purpose of this quantitative study is to investigate the perceptions of millennial nurses regarding the impact of leadership on their self-efficacy and willingness to provide care for women who have undergone an abortion procedure, aiming to fill the knowledge gap in understanding this specific area within nursing practice.</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142383861"/>
                  </a:ext>
                </a:extLst>
              </a:tr>
              <a:tr h="902497">
                <a:tc gridSpan="2">
                  <a:txBody>
                    <a:bodyPr/>
                    <a:lstStyle/>
                    <a:p>
                      <a:pPr marL="0" marR="0">
                        <a:spcBef>
                          <a:spcPts val="0"/>
                        </a:spcBef>
                        <a:spcAft>
                          <a:spcPts val="1000"/>
                        </a:spcAft>
                      </a:pPr>
                      <a:r>
                        <a:rPr lang="en-US" sz="1100" b="1" dirty="0">
                          <a:solidFill>
                            <a:schemeClr val="bg1"/>
                          </a:solidFill>
                          <a:effectLst/>
                          <a:latin typeface="+mn-lt"/>
                          <a:ea typeface="Calibri" panose="020F0502020204030204" pitchFamily="34" charset="0"/>
                        </a:rPr>
                        <a:t>Variables:</a:t>
                      </a:r>
                      <a:endParaRPr lang="en-US" sz="1200" dirty="0">
                        <a:solidFill>
                          <a:schemeClr val="bg1"/>
                        </a:solidFill>
                        <a:effectLst/>
                        <a:latin typeface="+mn-lt"/>
                        <a:ea typeface="Calibri" panose="020F0502020204030204" pitchFamily="34" charset="0"/>
                      </a:endParaRPr>
                    </a:p>
                    <a:p>
                      <a:pPr marL="0" marR="0">
                        <a:spcBef>
                          <a:spcPts val="0"/>
                        </a:spcBef>
                        <a:spcAft>
                          <a:spcPts val="1000"/>
                        </a:spcAft>
                      </a:pPr>
                      <a:r>
                        <a:rPr lang="en-US" sz="1200" dirty="0">
                          <a:solidFill>
                            <a:schemeClr val="bg1"/>
                          </a:solidFill>
                          <a:effectLst/>
                          <a:latin typeface="+mn-lt"/>
                          <a:ea typeface="Calibri" panose="020F0502020204030204" pitchFamily="34" charset="0"/>
                        </a:rPr>
                        <a:t>Dependent Variables: Nurse wellbeing and stress levels</a:t>
                      </a:r>
                    </a:p>
                    <a:p>
                      <a:pPr marL="0" marR="0" lvl="0" indent="0" algn="l" defTabSz="914400" rtl="0" eaLnBrk="1" fontAlgn="auto" latinLnBrk="0" hangingPunct="1">
                        <a:lnSpc>
                          <a:spcPct val="100000"/>
                        </a:lnSpc>
                        <a:spcBef>
                          <a:spcPts val="0"/>
                        </a:spcBef>
                        <a:spcAft>
                          <a:spcPts val="1000"/>
                        </a:spcAft>
                        <a:buClrTx/>
                        <a:buSzTx/>
                        <a:buFontTx/>
                        <a:buNone/>
                        <a:tabLst/>
                        <a:defRPr/>
                      </a:pPr>
                      <a:r>
                        <a:rPr lang="en-US" sz="1200" dirty="0">
                          <a:solidFill>
                            <a:schemeClr val="bg1"/>
                          </a:solidFill>
                          <a:effectLst/>
                          <a:latin typeface="+mn-lt"/>
                          <a:ea typeface="Calibri" panose="020F0502020204030204" pitchFamily="34" charset="0"/>
                        </a:rPr>
                        <a:t>Independent Variables: Coping mechanisms, nurse demographics, frequency of exposure to abortion cases, job satisfaction, training and support</a:t>
                      </a:r>
                    </a:p>
                    <a:p>
                      <a:pPr marL="0" marR="0">
                        <a:spcBef>
                          <a:spcPts val="0"/>
                        </a:spcBef>
                        <a:spcAft>
                          <a:spcPts val="1000"/>
                        </a:spcAft>
                      </a:pPr>
                      <a:r>
                        <a:rPr lang="en-US" sz="1200" dirty="0">
                          <a:solidFill>
                            <a:schemeClr val="bg1"/>
                          </a:solidFill>
                          <a:effectLst/>
                          <a:latin typeface="+mn-lt"/>
                          <a:ea typeface="Calibri" panose="020F0502020204030204" pitchFamily="34" charset="0"/>
                        </a:rPr>
                        <a:t>Control Variables: Workload, shift schedule, access to support services ( counseling and  peer support) in the workplace</a:t>
                      </a:r>
                    </a:p>
                  </a:txBody>
                  <a:tcPr marL="36195" marR="36195"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endParaRPr lang="en-US"/>
                    </a:p>
                  </a:txBody>
                  <a:tcPr/>
                </a:tc>
                <a:extLst>
                  <a:ext uri="{0D108BD9-81ED-4DB2-BD59-A6C34878D82A}">
                    <a16:rowId xmlns:a16="http://schemas.microsoft.com/office/drawing/2014/main" val="2887749945"/>
                  </a:ext>
                </a:extLst>
              </a:tr>
              <a:tr h="2001590">
                <a:tc gridSpan="2">
                  <a:txBody>
                    <a:bodyPr/>
                    <a:lstStyle/>
                    <a:p>
                      <a:pPr marL="0" marR="0">
                        <a:spcBef>
                          <a:spcPts val="0"/>
                        </a:spcBef>
                        <a:spcAft>
                          <a:spcPts val="1000"/>
                        </a:spcAft>
                      </a:pPr>
                      <a:r>
                        <a:rPr lang="en-US" sz="1100" b="1" dirty="0">
                          <a:solidFill>
                            <a:schemeClr val="bg1"/>
                          </a:solidFill>
                          <a:effectLst/>
                          <a:latin typeface="+mn-lt"/>
                          <a:ea typeface="Calibri" panose="020F0502020204030204" pitchFamily="34" charset="0"/>
                        </a:rPr>
                        <a:t>Research Questions and Hypotheses:</a:t>
                      </a:r>
                      <a:r>
                        <a:rPr lang="en-US" sz="1100" dirty="0">
                          <a:solidFill>
                            <a:schemeClr val="bg1"/>
                          </a:solidFill>
                          <a:effectLst/>
                          <a:latin typeface="+mn-lt"/>
                          <a:ea typeface="Calibri" panose="020F0502020204030204" pitchFamily="34" charset="0"/>
                        </a:rPr>
                        <a:t> </a:t>
                      </a:r>
                      <a:endParaRPr lang="en-US" sz="1200" dirty="0">
                        <a:solidFill>
                          <a:schemeClr val="bg1"/>
                        </a:solidFill>
                        <a:effectLst/>
                        <a:latin typeface="+mn-lt"/>
                        <a:ea typeface="Calibri" panose="020F0502020204030204" pitchFamily="34" charset="0"/>
                      </a:endParaRPr>
                    </a:p>
                    <a:p>
                      <a:pPr marL="19050" marR="0">
                        <a:spcBef>
                          <a:spcPts val="0"/>
                        </a:spcBef>
                        <a:spcAft>
                          <a:spcPts val="1000"/>
                        </a:spcAft>
                      </a:pPr>
                      <a:r>
                        <a:rPr lang="en-US" sz="1200" dirty="0">
                          <a:solidFill>
                            <a:schemeClr val="bg1"/>
                          </a:solidFill>
                          <a:effectLst/>
                          <a:latin typeface="+mn-lt"/>
                          <a:ea typeface="Calibri" panose="020F0502020204030204" pitchFamily="34" charset="0"/>
                        </a:rPr>
                        <a:t>R1: Is there, or to what extent, a relationship between the coping mechanisms used by nurses and their levels of perceived stress when providing care to women after abortion?</a:t>
                      </a:r>
                    </a:p>
                    <a:p>
                      <a:pPr marL="19050" marR="0">
                        <a:spcBef>
                          <a:spcPts val="0"/>
                        </a:spcBef>
                        <a:spcAft>
                          <a:spcPts val="1000"/>
                        </a:spcAft>
                      </a:pPr>
                      <a:r>
                        <a:rPr lang="en-US" sz="1200" dirty="0">
                          <a:solidFill>
                            <a:schemeClr val="bg1"/>
                          </a:solidFill>
                          <a:effectLst/>
                          <a:latin typeface="+mn-lt"/>
                          <a:ea typeface="Calibri" panose="020F0502020204030204" pitchFamily="34" charset="0"/>
                        </a:rPr>
                        <a:t>R2: Is there, or to what extent, a relationship between the availability of support services and the levels of perceived stress among nurses in the context of abortion care?</a:t>
                      </a:r>
                    </a:p>
                    <a:p>
                      <a:pPr marL="19050" marR="0">
                        <a:spcBef>
                          <a:spcPts val="0"/>
                        </a:spcBef>
                        <a:spcAft>
                          <a:spcPts val="1000"/>
                        </a:spcAft>
                      </a:pPr>
                      <a:r>
                        <a:rPr lang="en-US" sz="1200" dirty="0">
                          <a:solidFill>
                            <a:schemeClr val="bg1"/>
                          </a:solidFill>
                          <a:effectLst/>
                          <a:latin typeface="+mn-lt"/>
                          <a:ea typeface="Calibri" panose="020F0502020204030204" pitchFamily="34" charset="0"/>
                        </a:rPr>
                        <a:t>Research Questions and Hypotheses: </a:t>
                      </a:r>
                    </a:p>
                    <a:p>
                      <a:pPr marL="19050" marR="0">
                        <a:spcBef>
                          <a:spcPts val="0"/>
                        </a:spcBef>
                        <a:spcAft>
                          <a:spcPts val="1000"/>
                        </a:spcAft>
                      </a:pPr>
                      <a:r>
                        <a:rPr lang="en-US" sz="1200" dirty="0">
                          <a:solidFill>
                            <a:schemeClr val="bg1"/>
                          </a:solidFill>
                          <a:effectLst/>
                          <a:latin typeface="+mn-lt"/>
                          <a:ea typeface="Calibri" panose="020F0502020204030204" pitchFamily="34" charset="0"/>
                        </a:rPr>
                        <a:t>R3: Is there, or to what extent, a relationship between the coping mechanisms used by nurses and their job satisfaction when dealing with women after an abortion</a:t>
                      </a:r>
                    </a:p>
                  </a:txBody>
                  <a:tcPr marL="36195" marR="36195"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endParaRPr lang="en-US"/>
                    </a:p>
                  </a:txBody>
                  <a:tcPr/>
                </a:tc>
                <a:extLst>
                  <a:ext uri="{0D108BD9-81ED-4DB2-BD59-A6C34878D82A}">
                    <a16:rowId xmlns:a16="http://schemas.microsoft.com/office/drawing/2014/main" val="3652603315"/>
                  </a:ext>
                </a:extLst>
              </a:tr>
              <a:tr h="1217439">
                <a:tc>
                  <a:txBody>
                    <a:bodyPr/>
                    <a:lstStyle>
                      <a:lvl1pPr marL="0" algn="l" defTabSz="914400" rtl="0" eaLnBrk="1" latinLnBrk="0" hangingPunct="1">
                        <a:defRPr sz="1800" kern="1200">
                          <a:solidFill>
                            <a:schemeClr val="tx1"/>
                          </a:solidFill>
                          <a:latin typeface="Lucida Grande"/>
                          <a:ea typeface="ヒラギノ角ゴ ProN W3"/>
                          <a:cs typeface="ヒラギノ角ゴ ProN W3"/>
                        </a:defRPr>
                      </a:lvl1pPr>
                      <a:lvl2pPr marL="457200" algn="l" defTabSz="914400" rtl="0" eaLnBrk="1" latinLnBrk="0" hangingPunct="1">
                        <a:defRPr sz="1800" kern="1200">
                          <a:solidFill>
                            <a:schemeClr val="tx1"/>
                          </a:solidFill>
                          <a:latin typeface="Lucida Grande"/>
                          <a:ea typeface="ヒラギノ角ゴ ProN W3"/>
                          <a:cs typeface="ヒラギノ角ゴ ProN W3"/>
                        </a:defRPr>
                      </a:lvl2pPr>
                      <a:lvl3pPr marL="914400" algn="l" defTabSz="914400" rtl="0" eaLnBrk="1" latinLnBrk="0" hangingPunct="1">
                        <a:defRPr sz="1800" kern="1200">
                          <a:solidFill>
                            <a:schemeClr val="tx1"/>
                          </a:solidFill>
                          <a:latin typeface="Lucida Grande"/>
                          <a:ea typeface="ヒラギノ角ゴ ProN W3"/>
                          <a:cs typeface="ヒラギノ角ゴ ProN W3"/>
                        </a:defRPr>
                      </a:lvl3pPr>
                      <a:lvl4pPr marL="1371600" algn="l" defTabSz="914400" rtl="0" eaLnBrk="1" latinLnBrk="0" hangingPunct="1">
                        <a:defRPr sz="1800" kern="1200">
                          <a:solidFill>
                            <a:schemeClr val="tx1"/>
                          </a:solidFill>
                          <a:latin typeface="Lucida Grande"/>
                          <a:ea typeface="ヒラギノ角ゴ ProN W3"/>
                          <a:cs typeface="ヒラギノ角ゴ ProN W3"/>
                        </a:defRPr>
                      </a:lvl4pPr>
                      <a:lvl5pPr marL="1828800" algn="l" defTabSz="914400" rtl="0" eaLnBrk="1" latinLnBrk="0" hangingPunct="1">
                        <a:defRPr sz="1800" kern="1200">
                          <a:solidFill>
                            <a:schemeClr val="tx1"/>
                          </a:solidFill>
                          <a:latin typeface="Lucida Grande"/>
                          <a:ea typeface="ヒラギノ角ゴ ProN W3"/>
                          <a:cs typeface="ヒラギノ角ゴ ProN W3"/>
                        </a:defRPr>
                      </a:lvl5pPr>
                      <a:lvl6pPr marL="2286000" algn="l" defTabSz="914400" rtl="0" eaLnBrk="1" latinLnBrk="0" hangingPunct="1">
                        <a:defRPr sz="1800" kern="1200">
                          <a:solidFill>
                            <a:schemeClr val="tx1"/>
                          </a:solidFill>
                          <a:latin typeface="Lucida Grande"/>
                          <a:ea typeface="ヒラギノ角ゴ ProN W3"/>
                          <a:cs typeface="ヒラギノ角ゴ ProN W3"/>
                        </a:defRPr>
                      </a:lvl6pPr>
                      <a:lvl7pPr marL="2743200" algn="l" defTabSz="914400" rtl="0" eaLnBrk="1" latinLnBrk="0" hangingPunct="1">
                        <a:defRPr sz="1800" kern="1200">
                          <a:solidFill>
                            <a:schemeClr val="tx1"/>
                          </a:solidFill>
                          <a:latin typeface="Lucida Grande"/>
                          <a:ea typeface="ヒラギノ角ゴ ProN W3"/>
                          <a:cs typeface="ヒラギノ角ゴ ProN W3"/>
                        </a:defRPr>
                      </a:lvl7pPr>
                      <a:lvl8pPr marL="3200400" algn="l" defTabSz="914400" rtl="0" eaLnBrk="1" latinLnBrk="0" hangingPunct="1">
                        <a:defRPr sz="1800" kern="1200">
                          <a:solidFill>
                            <a:schemeClr val="tx1"/>
                          </a:solidFill>
                          <a:latin typeface="Lucida Grande"/>
                          <a:ea typeface="ヒラギノ角ゴ ProN W3"/>
                          <a:cs typeface="ヒラギノ角ゴ ProN W3"/>
                        </a:defRPr>
                      </a:lvl8pPr>
                      <a:lvl9pPr marL="3657600" algn="l" defTabSz="914400" rtl="0" eaLnBrk="1" latinLnBrk="0" hangingPunct="1">
                        <a:defRPr sz="1800" kern="1200">
                          <a:solidFill>
                            <a:schemeClr val="tx1"/>
                          </a:solidFill>
                          <a:latin typeface="Lucida Grande"/>
                          <a:ea typeface="ヒラギノ角ゴ ProN W3"/>
                          <a:cs typeface="ヒラギノ角ゴ ProN W3"/>
                        </a:defRPr>
                      </a:lvl9pPr>
                    </a:lstStyle>
                    <a:p>
                      <a:pPr marL="0" marR="0">
                        <a:spcBef>
                          <a:spcPts val="0"/>
                        </a:spcBef>
                        <a:spcAft>
                          <a:spcPts val="1000"/>
                        </a:spcAft>
                      </a:pPr>
                      <a:r>
                        <a:rPr lang="en-US" sz="1100" b="1" dirty="0">
                          <a:solidFill>
                            <a:schemeClr val="bg1"/>
                          </a:solidFill>
                          <a:effectLst/>
                          <a:latin typeface="+mn-lt"/>
                          <a:ea typeface="Calibri" panose="020F0502020204030204" pitchFamily="34" charset="0"/>
                        </a:rPr>
                        <a:t>Methodology &amp; Justification:</a:t>
                      </a:r>
                    </a:p>
                    <a:p>
                      <a:pPr marL="0" marR="0">
                        <a:spcBef>
                          <a:spcPts val="0"/>
                        </a:spcBef>
                        <a:spcAft>
                          <a:spcPts val="1000"/>
                        </a:spcAft>
                      </a:pPr>
                      <a:r>
                        <a:rPr lang="en-US" sz="1100" b="0" dirty="0">
                          <a:solidFill>
                            <a:schemeClr val="bg1"/>
                          </a:solidFill>
                          <a:effectLst/>
                          <a:latin typeface="+mn-lt"/>
                          <a:ea typeface="Calibri" panose="020F0502020204030204" pitchFamily="34" charset="0"/>
                        </a:rPr>
                        <a:t>The quantitative methodology will be used in conducting the research. This technique will allow the collection of objective and measurable data and variables of interest quantified precisely. It enables the application of rigorous statistical analysis that is essential for examining the associations between variables, testing research hypotheses, and deriving numerical insights from the data.</a:t>
                      </a:r>
                    </a:p>
                  </a:txBody>
                  <a:tcPr marL="36195" marR="36195"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a:spcBef>
                          <a:spcPts val="0"/>
                        </a:spcBef>
                        <a:spcAft>
                          <a:spcPts val="1000"/>
                        </a:spcAft>
                      </a:pPr>
                      <a:r>
                        <a:rPr lang="en-US" sz="1100" b="1" dirty="0">
                          <a:solidFill>
                            <a:schemeClr val="bg1"/>
                          </a:solidFill>
                          <a:effectLst/>
                          <a:latin typeface="+mn-lt"/>
                          <a:ea typeface="Calibri" panose="020F0502020204030204" pitchFamily="34" charset="0"/>
                        </a:rPr>
                        <a:t>Design &amp; Justification:</a:t>
                      </a:r>
                    </a:p>
                    <a:p>
                      <a:pPr marL="0" marR="0">
                        <a:spcBef>
                          <a:spcPts val="0"/>
                        </a:spcBef>
                        <a:spcAft>
                          <a:spcPts val="1000"/>
                        </a:spcAft>
                      </a:pPr>
                      <a:r>
                        <a:rPr lang="en-US" sz="1100" b="0" dirty="0">
                          <a:solidFill>
                            <a:schemeClr val="bg1"/>
                          </a:solidFill>
                          <a:effectLst/>
                          <a:latin typeface="+mn-lt"/>
                          <a:ea typeface="Calibri" panose="020F0502020204030204" pitchFamily="34" charset="0"/>
                        </a:rPr>
                        <a:t>This quantitative research employs a cross-sectional survey design to investigate the relationship between leadership behaviors, coping mechanisms, and the well-being and willingness of millennial nurses to provide care for women who have undergone abortion. The survey approach allows for the efficient collection and analysis of data, contributing to a deeper understanding of this critical aspect of nursing practice.</a:t>
                      </a:r>
                    </a:p>
                  </a:txBody>
                  <a:tcPr marL="36195" marR="36195"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72477766"/>
                  </a:ext>
                </a:extLst>
              </a:tr>
            </a:tbl>
          </a:graphicData>
        </a:graphic>
      </p:graphicFrame>
    </p:spTree>
    <p:extLst>
      <p:ext uri="{BB962C8B-B14F-4D97-AF65-F5344CB8AC3E}">
        <p14:creationId xmlns:p14="http://schemas.microsoft.com/office/powerpoint/2010/main" val="5515229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6F447-E547-6EBE-44F7-05DDF9617DEC}"/>
              </a:ext>
            </a:extLst>
          </p:cNvPr>
          <p:cNvSpPr>
            <a:spLocks noGrp="1"/>
          </p:cNvSpPr>
          <p:nvPr>
            <p:ph type="title"/>
          </p:nvPr>
        </p:nvSpPr>
        <p:spPr>
          <a:xfrm>
            <a:off x="964023" y="879063"/>
            <a:ext cx="6600559" cy="610863"/>
          </a:xfrm>
        </p:spPr>
        <p:txBody>
          <a:bodyPr>
            <a:normAutofit fontScale="90000"/>
          </a:bodyPr>
          <a:lstStyle/>
          <a:p>
            <a:r>
              <a:rPr lang="en-US" dirty="0"/>
              <a:t>Literature Review: Background to the Problem</a:t>
            </a:r>
          </a:p>
        </p:txBody>
      </p:sp>
      <p:sp>
        <p:nvSpPr>
          <p:cNvPr id="3" name="Text Placeholder 2">
            <a:extLst>
              <a:ext uri="{FF2B5EF4-FFF2-40B4-BE49-F238E27FC236}">
                <a16:creationId xmlns:a16="http://schemas.microsoft.com/office/drawing/2014/main" id="{769F4419-08EE-0412-FEFA-8378C20DD71D}"/>
              </a:ext>
            </a:extLst>
          </p:cNvPr>
          <p:cNvSpPr>
            <a:spLocks noGrp="1"/>
          </p:cNvSpPr>
          <p:nvPr>
            <p:ph type="body" sz="quarter" idx="10"/>
          </p:nvPr>
        </p:nvSpPr>
        <p:spPr/>
        <p:txBody>
          <a:bodyPr>
            <a:normAutofit fontScale="77500" lnSpcReduction="20000"/>
          </a:bodyPr>
          <a:lstStyle/>
          <a:p>
            <a:r>
              <a:rPr lang="en-US" dirty="0"/>
              <a:t>The US Supreme Court's landmark decision in 1973 (Roe v. Wade) legalized abortion throughout the United States (</a:t>
            </a:r>
            <a:r>
              <a:rPr lang="en-US" dirty="0" err="1"/>
              <a:t>Tatalovich</a:t>
            </a:r>
            <a:r>
              <a:rPr lang="en-US" dirty="0"/>
              <a:t>, 2019).</a:t>
            </a:r>
          </a:p>
          <a:p>
            <a:r>
              <a:rPr lang="en-US" dirty="0"/>
              <a:t>Earlier studies in the 80s and 90s were methodologically flawed and reported an increased risk of mental health problems after abortion (Horvath &amp; Schreiber, 2017).</a:t>
            </a:r>
          </a:p>
          <a:p>
            <a:r>
              <a:rPr lang="en-US" dirty="0"/>
              <a:t>Later, a review of 22 studies of over 800,000 participants published in 2011 by the American Psychological Association found the risk being similar whether women had an abortion or gave birth (Reardon, 2018). </a:t>
            </a:r>
          </a:p>
          <a:p>
            <a:r>
              <a:rPr lang="en-US" dirty="0" err="1"/>
              <a:t>Akdag</a:t>
            </a:r>
            <a:r>
              <a:rPr lang="en-US" dirty="0"/>
              <a:t> et al. (2019) suggest that some women may be at a higher risk of experiencing mental health disorders.  </a:t>
            </a:r>
          </a:p>
          <a:p>
            <a:r>
              <a:rPr lang="en-US" dirty="0"/>
              <a:t>Carvajal et al. (2022) found out that, despite the differences in the professional roles and the perception of midwives and nurses as compassionate caregivers, abortion stigma still prevails.</a:t>
            </a:r>
          </a:p>
          <a:p>
            <a:r>
              <a:rPr lang="en-US" dirty="0"/>
              <a:t>The research that needs to be understood is the connection between abortion and mental health problems is established but there is still a lack of information on how nurses can effectively support and care for these women (Zhao &amp; Zhang, 2020).</a:t>
            </a:r>
          </a:p>
          <a:p>
            <a:endParaRPr lang="en-US" dirty="0"/>
          </a:p>
        </p:txBody>
      </p:sp>
      <p:sp>
        <p:nvSpPr>
          <p:cNvPr id="4" name="Footer Placeholder 3">
            <a:extLst>
              <a:ext uri="{FF2B5EF4-FFF2-40B4-BE49-F238E27FC236}">
                <a16:creationId xmlns:a16="http://schemas.microsoft.com/office/drawing/2014/main" id="{A1ADC474-6C1C-FE02-A69F-B2552F53B89C}"/>
              </a:ext>
            </a:extLst>
          </p:cNvPr>
          <p:cNvSpPr>
            <a:spLocks noGrp="1"/>
          </p:cNvSpPr>
          <p:nvPr>
            <p:ph type="ftr" sz="quarter" idx="3"/>
          </p:nvPr>
        </p:nvSpPr>
        <p:spPr/>
        <p:txBody>
          <a:bodyPr/>
          <a:lstStyle/>
          <a:p>
            <a:r>
              <a:rPr lang="en-US" sz="1400"/>
              <a:t>DOCTORATES WITH PURPOSE</a:t>
            </a:r>
            <a:endParaRPr lang="en-US" sz="1400" dirty="0"/>
          </a:p>
        </p:txBody>
      </p:sp>
    </p:spTree>
    <p:extLst>
      <p:ext uri="{BB962C8B-B14F-4D97-AF65-F5344CB8AC3E}">
        <p14:creationId xmlns:p14="http://schemas.microsoft.com/office/powerpoint/2010/main" val="1530331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6F447-E547-6EBE-44F7-05DDF9617DEC}"/>
              </a:ext>
            </a:extLst>
          </p:cNvPr>
          <p:cNvSpPr>
            <a:spLocks noGrp="1"/>
          </p:cNvSpPr>
          <p:nvPr>
            <p:ph type="title"/>
          </p:nvPr>
        </p:nvSpPr>
        <p:spPr/>
        <p:txBody>
          <a:bodyPr>
            <a:normAutofit fontScale="90000"/>
          </a:bodyPr>
          <a:lstStyle/>
          <a:p>
            <a:r>
              <a:rPr lang="en-US" dirty="0"/>
              <a:t>Literature Review: </a:t>
            </a:r>
            <a:br>
              <a:rPr lang="en-US" dirty="0"/>
            </a:br>
            <a:r>
              <a:rPr lang="en-US" dirty="0"/>
              <a:t>Theoretical Foundations</a:t>
            </a:r>
          </a:p>
        </p:txBody>
      </p:sp>
      <p:sp>
        <p:nvSpPr>
          <p:cNvPr id="5" name="Text Placeholder 4">
            <a:extLst>
              <a:ext uri="{FF2B5EF4-FFF2-40B4-BE49-F238E27FC236}">
                <a16:creationId xmlns:a16="http://schemas.microsoft.com/office/drawing/2014/main" id="{09110CCC-2148-4DCC-865E-73A7E847C243}"/>
              </a:ext>
            </a:extLst>
          </p:cNvPr>
          <p:cNvSpPr>
            <a:spLocks noGrp="1"/>
          </p:cNvSpPr>
          <p:nvPr>
            <p:ph type="body" sz="quarter" idx="11"/>
          </p:nvPr>
        </p:nvSpPr>
        <p:spPr>
          <a:xfrm>
            <a:off x="964023" y="2168770"/>
            <a:ext cx="3739661" cy="4193529"/>
          </a:xfrm>
        </p:spPr>
        <p:txBody>
          <a:bodyPr/>
          <a:lstStyle/>
          <a:p>
            <a:r>
              <a:rPr lang="en-US" dirty="0"/>
              <a:t>Albert Bandura's Social Cognitive Theory (SCT) analyses how an individual's behavior, cognitive processes, and environment interact to influence one another (</a:t>
            </a:r>
            <a:r>
              <a:rPr lang="en-US" dirty="0" err="1"/>
              <a:t>Manjarres</a:t>
            </a:r>
            <a:r>
              <a:rPr lang="en-US" dirty="0"/>
              <a:t>-Posada, 2020). </a:t>
            </a:r>
          </a:p>
          <a:p>
            <a:r>
              <a:rPr lang="en-US" dirty="0"/>
              <a:t>SCT will be used to provide stress-coping strategies and resilience (Nipper, 2022).</a:t>
            </a:r>
          </a:p>
          <a:p>
            <a:r>
              <a:rPr lang="en-US" dirty="0"/>
              <a:t>Self-efficacy a key concept for SCT refers to an individual's belief in their ability to successfully execute a specific task or behavior in a given situation (</a:t>
            </a:r>
            <a:r>
              <a:rPr lang="en-US" dirty="0" err="1"/>
              <a:t>Shirey</a:t>
            </a:r>
            <a:r>
              <a:rPr lang="en-US" dirty="0"/>
              <a:t>, 2020)</a:t>
            </a:r>
          </a:p>
          <a:p>
            <a:r>
              <a:rPr lang="en-US" dirty="0"/>
              <a:t>Self-efficacy will  be used to assess the self-efficacy of nurses before and after counseling or therapy.</a:t>
            </a:r>
          </a:p>
          <a:p>
            <a:endParaRPr lang="en-US" dirty="0"/>
          </a:p>
        </p:txBody>
      </p:sp>
      <p:sp>
        <p:nvSpPr>
          <p:cNvPr id="4" name="Footer Placeholder 3">
            <a:extLst>
              <a:ext uri="{FF2B5EF4-FFF2-40B4-BE49-F238E27FC236}">
                <a16:creationId xmlns:a16="http://schemas.microsoft.com/office/drawing/2014/main" id="{A1ADC474-6C1C-FE02-A69F-B2552F53B89C}"/>
              </a:ext>
            </a:extLst>
          </p:cNvPr>
          <p:cNvSpPr>
            <a:spLocks noGrp="1"/>
          </p:cNvSpPr>
          <p:nvPr>
            <p:ph type="ftr" sz="quarter" idx="3"/>
          </p:nvPr>
        </p:nvSpPr>
        <p:spPr/>
        <p:txBody>
          <a:bodyPr/>
          <a:lstStyle/>
          <a:p>
            <a:r>
              <a:rPr lang="en-US" sz="1400"/>
              <a:t>DOCTORATES WITH PURPOSE</a:t>
            </a:r>
            <a:endParaRPr lang="en-US" sz="1400" dirty="0"/>
          </a:p>
        </p:txBody>
      </p:sp>
      <p:pic>
        <p:nvPicPr>
          <p:cNvPr id="1026" name="Picture 2" descr="Social Cognitive Theory">
            <a:extLst>
              <a:ext uri="{FF2B5EF4-FFF2-40B4-BE49-F238E27FC236}">
                <a16:creationId xmlns:a16="http://schemas.microsoft.com/office/drawing/2014/main" id="{C65CC7BE-36E2-4B80-BB4D-784731CD9A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05008" y="1828800"/>
            <a:ext cx="6586992" cy="46495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32839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6F447-E547-6EBE-44F7-05DDF9617DEC}"/>
              </a:ext>
            </a:extLst>
          </p:cNvPr>
          <p:cNvSpPr>
            <a:spLocks noGrp="1"/>
          </p:cNvSpPr>
          <p:nvPr>
            <p:ph type="title"/>
          </p:nvPr>
        </p:nvSpPr>
        <p:spPr>
          <a:xfrm>
            <a:off x="644769" y="638175"/>
            <a:ext cx="9319846" cy="569303"/>
          </a:xfrm>
        </p:spPr>
        <p:txBody>
          <a:bodyPr>
            <a:normAutofit fontScale="90000"/>
          </a:bodyPr>
          <a:lstStyle/>
          <a:p>
            <a:r>
              <a:rPr lang="en-US" dirty="0"/>
              <a:t>Literature Review: Problem Space</a:t>
            </a:r>
          </a:p>
        </p:txBody>
      </p:sp>
      <p:sp>
        <p:nvSpPr>
          <p:cNvPr id="3" name="Text Placeholder 2">
            <a:extLst>
              <a:ext uri="{FF2B5EF4-FFF2-40B4-BE49-F238E27FC236}">
                <a16:creationId xmlns:a16="http://schemas.microsoft.com/office/drawing/2014/main" id="{769F4419-08EE-0412-FEFA-8378C20DD71D}"/>
              </a:ext>
            </a:extLst>
          </p:cNvPr>
          <p:cNvSpPr>
            <a:spLocks noGrp="1"/>
          </p:cNvSpPr>
          <p:nvPr>
            <p:ph type="body" sz="quarter" idx="10"/>
          </p:nvPr>
        </p:nvSpPr>
        <p:spPr/>
        <p:txBody>
          <a:bodyPr>
            <a:normAutofit fontScale="85000" lnSpcReduction="20000"/>
          </a:bodyPr>
          <a:lstStyle/>
          <a:p>
            <a:pPr marL="0" indent="0">
              <a:buNone/>
            </a:pPr>
            <a:r>
              <a:rPr lang="en-US" dirty="0"/>
              <a:t>Key Areas That Need To Be Better Understood:</a:t>
            </a:r>
          </a:p>
          <a:p>
            <a:r>
              <a:rPr lang="en-US" dirty="0"/>
              <a:t>In 2019 Jensen stated that the gap between the support that health professionals think is needed and wanted, and the support that women actually desire.</a:t>
            </a:r>
          </a:p>
          <a:p>
            <a:r>
              <a:rPr lang="en-US" dirty="0"/>
              <a:t>The mental health risks and protective factors for women who have experienced coercion and have a history of mental health disorders </a:t>
            </a:r>
          </a:p>
          <a:p>
            <a:r>
              <a:rPr lang="en-US" dirty="0"/>
              <a:t>Measuring Specific Risks and Protective Factors Among Women Who Have Experienced Coercion or Have a History of Mental Health Disorders (</a:t>
            </a:r>
            <a:r>
              <a:rPr lang="en-US" dirty="0" err="1"/>
              <a:t>Schaan</a:t>
            </a:r>
            <a:r>
              <a:rPr lang="en-US" dirty="0"/>
              <a:t> et al., 2019).</a:t>
            </a:r>
          </a:p>
          <a:p>
            <a:pPr marL="0" indent="0">
              <a:buNone/>
            </a:pPr>
            <a:r>
              <a:rPr lang="en-US" dirty="0"/>
              <a:t>Future research should focus on:</a:t>
            </a:r>
          </a:p>
          <a:p>
            <a:r>
              <a:rPr lang="en-US" dirty="0"/>
              <a:t> The complexity of abortion attitudes among healthcare providers, particularly nurses working in women's health and neonatal care needs to be studied. This includes a range of attitudes, from unsure to antiabortion (</a:t>
            </a:r>
            <a:r>
              <a:rPr lang="en-US" dirty="0" err="1"/>
              <a:t>Alspaugh</a:t>
            </a:r>
            <a:r>
              <a:rPr lang="en-US" dirty="0"/>
              <a:t> et al., 2022). </a:t>
            </a:r>
          </a:p>
        </p:txBody>
      </p:sp>
      <p:sp>
        <p:nvSpPr>
          <p:cNvPr id="4" name="Footer Placeholder 3">
            <a:extLst>
              <a:ext uri="{FF2B5EF4-FFF2-40B4-BE49-F238E27FC236}">
                <a16:creationId xmlns:a16="http://schemas.microsoft.com/office/drawing/2014/main" id="{A1ADC474-6C1C-FE02-A69F-B2552F53B89C}"/>
              </a:ext>
            </a:extLst>
          </p:cNvPr>
          <p:cNvSpPr>
            <a:spLocks noGrp="1"/>
          </p:cNvSpPr>
          <p:nvPr>
            <p:ph type="ftr" sz="quarter" idx="3"/>
          </p:nvPr>
        </p:nvSpPr>
        <p:spPr/>
        <p:txBody>
          <a:bodyPr/>
          <a:lstStyle/>
          <a:p>
            <a:r>
              <a:rPr lang="en-US" sz="1400"/>
              <a:t>DOCTORATES WITH PURPOSE</a:t>
            </a:r>
            <a:endParaRPr lang="en-US" sz="1400" dirty="0"/>
          </a:p>
        </p:txBody>
      </p:sp>
    </p:spTree>
    <p:extLst>
      <p:ext uri="{BB962C8B-B14F-4D97-AF65-F5344CB8AC3E}">
        <p14:creationId xmlns:p14="http://schemas.microsoft.com/office/powerpoint/2010/main" val="36125882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83452-3527-38F5-1374-13B767E6C77C}"/>
              </a:ext>
            </a:extLst>
          </p:cNvPr>
          <p:cNvSpPr>
            <a:spLocks noGrp="1"/>
          </p:cNvSpPr>
          <p:nvPr>
            <p:ph type="title"/>
          </p:nvPr>
        </p:nvSpPr>
        <p:spPr>
          <a:xfrm>
            <a:off x="952500" y="66675"/>
            <a:ext cx="9897407" cy="695326"/>
          </a:xfrm>
        </p:spPr>
        <p:txBody>
          <a:bodyPr>
            <a:normAutofit fontScale="90000"/>
          </a:bodyPr>
          <a:lstStyle/>
          <a:p>
            <a:r>
              <a:rPr lang="en-US" dirty="0"/>
              <a:t>Literature Review: Review of Literature</a:t>
            </a:r>
          </a:p>
        </p:txBody>
      </p:sp>
      <p:graphicFrame>
        <p:nvGraphicFramePr>
          <p:cNvPr id="5" name="Table 5">
            <a:extLst>
              <a:ext uri="{FF2B5EF4-FFF2-40B4-BE49-F238E27FC236}">
                <a16:creationId xmlns:a16="http://schemas.microsoft.com/office/drawing/2014/main" id="{ACBA0729-71A5-3674-298C-AF30B6F1078D}"/>
              </a:ext>
            </a:extLst>
          </p:cNvPr>
          <p:cNvGraphicFramePr>
            <a:graphicFrameLocks noGrp="1"/>
          </p:cNvGraphicFramePr>
          <p:nvPr>
            <p:ph type="tbl" sz="quarter" idx="10"/>
            <p:extLst>
              <p:ext uri="{D42A27DB-BD31-4B8C-83A1-F6EECF244321}">
                <p14:modId xmlns:p14="http://schemas.microsoft.com/office/powerpoint/2010/main" val="4170028969"/>
              </p:ext>
            </p:extLst>
          </p:nvPr>
        </p:nvGraphicFramePr>
        <p:xfrm>
          <a:off x="457200" y="762001"/>
          <a:ext cx="10915650" cy="5760720"/>
        </p:xfrm>
        <a:graphic>
          <a:graphicData uri="http://schemas.openxmlformats.org/drawingml/2006/table">
            <a:tbl>
              <a:tblPr firstRow="1" bandRow="1">
                <a:tableStyleId>{5C22544A-7EE6-4342-B048-85BDC9FD1C3A}</a:tableStyleId>
              </a:tblPr>
              <a:tblGrid>
                <a:gridCol w="2533650">
                  <a:extLst>
                    <a:ext uri="{9D8B030D-6E8A-4147-A177-3AD203B41FA5}">
                      <a16:colId xmlns:a16="http://schemas.microsoft.com/office/drawing/2014/main" val="2547470443"/>
                    </a:ext>
                  </a:extLst>
                </a:gridCol>
                <a:gridCol w="8382000">
                  <a:extLst>
                    <a:ext uri="{9D8B030D-6E8A-4147-A177-3AD203B41FA5}">
                      <a16:colId xmlns:a16="http://schemas.microsoft.com/office/drawing/2014/main" val="959116075"/>
                    </a:ext>
                  </a:extLst>
                </a:gridCol>
              </a:tblGrid>
              <a:tr h="0">
                <a:tc>
                  <a:txBody>
                    <a:bodyPr/>
                    <a:lstStyle/>
                    <a:p>
                      <a:r>
                        <a:rPr lang="en-US" dirty="0"/>
                        <a:t>Major Topic/Theme </a:t>
                      </a:r>
                      <a:r>
                        <a:rPr lang="en-US" sz="1600" dirty="0"/>
                        <a:t>(name the topic)</a:t>
                      </a:r>
                      <a:endParaRPr lang="en-US" dirty="0"/>
                    </a:p>
                  </a:txBody>
                  <a:tcPr/>
                </a:tc>
                <a:tc>
                  <a:txBody>
                    <a:bodyPr/>
                    <a:lstStyle/>
                    <a:p>
                      <a:r>
                        <a:rPr lang="en-US" dirty="0"/>
                        <a:t>Topic/Theme Description </a:t>
                      </a:r>
                    </a:p>
                    <a:p>
                      <a:r>
                        <a:rPr lang="en-US" sz="1600" dirty="0"/>
                        <a:t>(2-3 sentences with at least 3 in-text citations per topic)</a:t>
                      </a:r>
                      <a:endParaRPr lang="en-US" dirty="0"/>
                    </a:p>
                  </a:txBody>
                  <a:tcPr/>
                </a:tc>
                <a:extLst>
                  <a:ext uri="{0D108BD9-81ED-4DB2-BD59-A6C34878D82A}">
                    <a16:rowId xmlns:a16="http://schemas.microsoft.com/office/drawing/2014/main" val="1969842311"/>
                  </a:ext>
                </a:extLst>
              </a:tr>
              <a:tr h="812062">
                <a:tc>
                  <a:txBody>
                    <a:bodyPr/>
                    <a:lstStyle/>
                    <a:p>
                      <a:r>
                        <a:rPr lang="en-US" b="1" dirty="0"/>
                        <a:t>Nurses' Attitudes Toward Abortion Care</a:t>
                      </a:r>
                    </a:p>
                  </a:txBody>
                  <a:tcPr/>
                </a:tc>
                <a:tc>
                  <a:txBody>
                    <a:bodyPr/>
                    <a:lstStyle/>
                    <a:p>
                      <a:r>
                        <a:rPr lang="en-US" sz="1400" dirty="0"/>
                        <a:t>This theme explores the attitudes of nurses towards abortion care, particularly in women's health and neonatal care, including unsure and anti-abortion attitudes (</a:t>
                      </a:r>
                      <a:r>
                        <a:rPr lang="en-US" sz="1400" dirty="0" err="1"/>
                        <a:t>Alspaugh</a:t>
                      </a:r>
                      <a:r>
                        <a:rPr lang="en-US" sz="1400" dirty="0"/>
                        <a:t> et al., 2022). There’s a complex interplay between nurses' ethical beliefs and patient abortion care with nurses expressing reluctance to provide care based on patient characteristics and their own religious and moral beliefs (</a:t>
                      </a:r>
                      <a:r>
                        <a:rPr lang="en-US" sz="1400" dirty="0" err="1"/>
                        <a:t>Karabulut</a:t>
                      </a:r>
                      <a:r>
                        <a:rPr lang="en-US" sz="1400" dirty="0"/>
                        <a:t> et al. 2022).</a:t>
                      </a:r>
                    </a:p>
                  </a:txBody>
                  <a:tcPr/>
                </a:tc>
                <a:extLst>
                  <a:ext uri="{0D108BD9-81ED-4DB2-BD59-A6C34878D82A}">
                    <a16:rowId xmlns:a16="http://schemas.microsoft.com/office/drawing/2014/main" val="3229410818"/>
                  </a:ext>
                </a:extLst>
              </a:tr>
              <a:tr h="812062">
                <a:tc>
                  <a:txBody>
                    <a:bodyPr/>
                    <a:lstStyle/>
                    <a:p>
                      <a:r>
                        <a:rPr lang="en-US" b="1" dirty="0"/>
                        <a:t>Coping Mechanisms and Stress Levels</a:t>
                      </a:r>
                    </a:p>
                  </a:txBody>
                  <a:tcPr/>
                </a:tc>
                <a:tc>
                  <a:txBody>
                    <a:bodyPr/>
                    <a:lstStyle/>
                    <a:p>
                      <a:r>
                        <a:rPr lang="en-US" sz="1400" dirty="0"/>
                        <a:t>Detachment is used as a coping strategy with some healthcare providers feeling the need to emotionally distance themselves from patients and the abortion procedures to protect their own mental health (</a:t>
                      </a:r>
                      <a:r>
                        <a:rPr lang="en-US" sz="1400" dirty="0" err="1"/>
                        <a:t>Teffo</a:t>
                      </a:r>
                      <a:r>
                        <a:rPr lang="en-US" sz="1400" dirty="0"/>
                        <a:t> &amp;  </a:t>
                      </a:r>
                      <a:r>
                        <a:rPr lang="en-US" sz="1400" dirty="0" err="1"/>
                        <a:t>Rispel</a:t>
                      </a:r>
                      <a:r>
                        <a:rPr lang="en-US" sz="1400" dirty="0"/>
                        <a:t>, 2020). </a:t>
                      </a:r>
                    </a:p>
                    <a:p>
                      <a:endParaRPr lang="en-US" sz="1400" dirty="0"/>
                    </a:p>
                  </a:txBody>
                  <a:tcPr/>
                </a:tc>
                <a:extLst>
                  <a:ext uri="{0D108BD9-81ED-4DB2-BD59-A6C34878D82A}">
                    <a16:rowId xmlns:a16="http://schemas.microsoft.com/office/drawing/2014/main" val="853287224"/>
                  </a:ext>
                </a:extLst>
              </a:tr>
              <a:tr h="812062">
                <a:tc>
                  <a:txBody>
                    <a:bodyPr/>
                    <a:lstStyle/>
                    <a:p>
                      <a:r>
                        <a:rPr lang="en-US" b="1" dirty="0"/>
                        <a:t>Support Services and Job Satisfaction </a:t>
                      </a:r>
                    </a:p>
                  </a:txBody>
                  <a:tcPr/>
                </a:tc>
                <a:tc>
                  <a:txBody>
                    <a:bodyPr/>
                    <a:lstStyle/>
                    <a:p>
                      <a:r>
                        <a:rPr lang="en-US" sz="1400" dirty="0"/>
                        <a:t>Focuses on the availability of support services for nurses in abortion care and its connection to their job satisfaction. Green et al. (2021) examined the role of support services, such as counseling and peer support, in enhancing job satisfaction among nurses in abortion care. Carter and Brown (2018) investigated the association between access to support services and job satisfaction among nurses in abortion care." |</a:t>
                      </a:r>
                    </a:p>
                  </a:txBody>
                  <a:tcPr/>
                </a:tc>
                <a:extLst>
                  <a:ext uri="{0D108BD9-81ED-4DB2-BD59-A6C34878D82A}">
                    <a16:rowId xmlns:a16="http://schemas.microsoft.com/office/drawing/2014/main" val="347570197"/>
                  </a:ext>
                </a:extLst>
              </a:tr>
              <a:tr h="812062">
                <a:tc>
                  <a:txBody>
                    <a:bodyPr/>
                    <a:lstStyle/>
                    <a:p>
                      <a:r>
                        <a:rPr lang="en-US" b="1" dirty="0"/>
                        <a:t>Leadership and Nursing Attitudes</a:t>
                      </a:r>
                    </a:p>
                  </a:txBody>
                  <a:tcPr/>
                </a:tc>
                <a:tc>
                  <a:txBody>
                    <a:bodyPr/>
                    <a:lstStyle/>
                    <a:p>
                      <a:r>
                        <a:rPr lang="en-US" sz="1400" dirty="0"/>
                        <a:t> Leadership and Nursing Attitudes | Investigates how leadership behaviors influence millennial nurses' attitudes and willingness to support women after abortion. Brown and White (2019) examined the impact of leadership styles on nurses' attitudes toward abortion care. Anderson et al. (2021) investigated the relationship between nurse leaders' behaviors and nurses' self-efficacy in abortion care.</a:t>
                      </a:r>
                    </a:p>
                  </a:txBody>
                  <a:tcPr/>
                </a:tc>
                <a:extLst>
                  <a:ext uri="{0D108BD9-81ED-4DB2-BD59-A6C34878D82A}">
                    <a16:rowId xmlns:a16="http://schemas.microsoft.com/office/drawing/2014/main" val="814245310"/>
                  </a:ext>
                </a:extLst>
              </a:tr>
              <a:tr h="812062">
                <a:tc>
                  <a:txBody>
                    <a:bodyPr/>
                    <a:lstStyle/>
                    <a:p>
                      <a:r>
                        <a:rPr lang="en-US" b="1" dirty="0"/>
                        <a:t>Mental Health Risks and Protective Factors</a:t>
                      </a:r>
                    </a:p>
                  </a:txBody>
                  <a:tcPr/>
                </a:tc>
                <a:tc>
                  <a:txBody>
                    <a:bodyPr/>
                    <a:lstStyle/>
                    <a:p>
                      <a:r>
                        <a:rPr lang="en-US" sz="1400" dirty="0"/>
                        <a:t>Mental Health Impact of Abortion | Examines the mental health risks for women post-abortion, especially in cases of coercion or pre-existing mental health issues, and considers protective factors. </a:t>
                      </a:r>
                      <a:r>
                        <a:rPr lang="en-US" sz="1400" dirty="0" err="1"/>
                        <a:t>Schaan</a:t>
                      </a:r>
                      <a:r>
                        <a:rPr lang="en-US" sz="1400" dirty="0"/>
                        <a:t> et al. (2019) studied mental health risks and protective factors among women who had experienced coerced abortions or had a history of mental health disorders. Martinez et al. (2021) explored the role of social support as a protective factor for women's mental health after abortion." </a:t>
                      </a:r>
                    </a:p>
                  </a:txBody>
                  <a:tcPr/>
                </a:tc>
                <a:extLst>
                  <a:ext uri="{0D108BD9-81ED-4DB2-BD59-A6C34878D82A}">
                    <a16:rowId xmlns:a16="http://schemas.microsoft.com/office/drawing/2014/main" val="2561872703"/>
                  </a:ext>
                </a:extLst>
              </a:tr>
            </a:tbl>
          </a:graphicData>
        </a:graphic>
      </p:graphicFrame>
      <p:sp>
        <p:nvSpPr>
          <p:cNvPr id="4" name="Footer Placeholder 3">
            <a:extLst>
              <a:ext uri="{FF2B5EF4-FFF2-40B4-BE49-F238E27FC236}">
                <a16:creationId xmlns:a16="http://schemas.microsoft.com/office/drawing/2014/main" id="{C35D1F1F-3256-087D-B4B1-8CC902BFB668}"/>
              </a:ext>
            </a:extLst>
          </p:cNvPr>
          <p:cNvSpPr>
            <a:spLocks noGrp="1"/>
          </p:cNvSpPr>
          <p:nvPr>
            <p:ph type="ftr" sz="quarter" idx="3"/>
          </p:nvPr>
        </p:nvSpPr>
        <p:spPr/>
        <p:txBody>
          <a:bodyPr/>
          <a:lstStyle/>
          <a:p>
            <a:r>
              <a:rPr lang="en-US" sz="1400"/>
              <a:t>DOCTORATES WITH PURPOSE</a:t>
            </a:r>
            <a:endParaRPr lang="en-US" sz="1400" dirty="0"/>
          </a:p>
        </p:txBody>
      </p:sp>
    </p:spTree>
    <p:extLst>
      <p:ext uri="{BB962C8B-B14F-4D97-AF65-F5344CB8AC3E}">
        <p14:creationId xmlns:p14="http://schemas.microsoft.com/office/powerpoint/2010/main" val="23224708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49696-B840-9696-2812-335911D7FE59}"/>
              </a:ext>
            </a:extLst>
          </p:cNvPr>
          <p:cNvSpPr>
            <a:spLocks noGrp="1"/>
          </p:cNvSpPr>
          <p:nvPr>
            <p:ph type="title"/>
          </p:nvPr>
        </p:nvSpPr>
        <p:spPr/>
        <p:txBody>
          <a:bodyPr>
            <a:normAutofit fontScale="90000"/>
          </a:bodyPr>
          <a:lstStyle/>
          <a:p>
            <a:r>
              <a:rPr lang="en-US" dirty="0"/>
              <a:t>Problem Statement</a:t>
            </a:r>
          </a:p>
        </p:txBody>
      </p:sp>
      <p:sp>
        <p:nvSpPr>
          <p:cNvPr id="3" name="Text Placeholder 2">
            <a:extLst>
              <a:ext uri="{FF2B5EF4-FFF2-40B4-BE49-F238E27FC236}">
                <a16:creationId xmlns:a16="http://schemas.microsoft.com/office/drawing/2014/main" id="{6FF2AAF8-0EE8-E1E7-0854-3EBDAE204ADA}"/>
              </a:ext>
            </a:extLst>
          </p:cNvPr>
          <p:cNvSpPr>
            <a:spLocks noGrp="1"/>
          </p:cNvSpPr>
          <p:nvPr>
            <p:ph type="body" sz="quarter" idx="10"/>
          </p:nvPr>
        </p:nvSpPr>
        <p:spPr/>
        <p:txBody>
          <a:bodyPr/>
          <a:lstStyle/>
          <a:p>
            <a:pPr marL="0" indent="0">
              <a:buNone/>
            </a:pPr>
            <a:r>
              <a:rPr lang="en-US" dirty="0"/>
              <a:t>It is not known to what degree leadership behaviors affect the self-efficacy and willingness of millennial nurses to provide care for women who have undergone an abortion procedure, necessitating the quantification of this relationship through surveys and statistical analyses.</a:t>
            </a:r>
          </a:p>
          <a:p>
            <a:pPr marL="0" indent="0">
              <a:buNone/>
            </a:pPr>
            <a:endParaRPr lang="en-US" dirty="0"/>
          </a:p>
        </p:txBody>
      </p:sp>
      <p:sp>
        <p:nvSpPr>
          <p:cNvPr id="4" name="Footer Placeholder 3">
            <a:extLst>
              <a:ext uri="{FF2B5EF4-FFF2-40B4-BE49-F238E27FC236}">
                <a16:creationId xmlns:a16="http://schemas.microsoft.com/office/drawing/2014/main" id="{7C324022-1DE9-8CED-F2E3-BFF563C53E0E}"/>
              </a:ext>
            </a:extLst>
          </p:cNvPr>
          <p:cNvSpPr>
            <a:spLocks noGrp="1"/>
          </p:cNvSpPr>
          <p:nvPr>
            <p:ph type="ftr" sz="quarter" idx="3"/>
          </p:nvPr>
        </p:nvSpPr>
        <p:spPr/>
        <p:txBody>
          <a:bodyPr/>
          <a:lstStyle/>
          <a:p>
            <a:r>
              <a:rPr lang="en-US" sz="1400" dirty="0"/>
              <a:t>DOCTORATES WITH PURPOSE</a:t>
            </a:r>
          </a:p>
        </p:txBody>
      </p:sp>
    </p:spTree>
    <p:extLst>
      <p:ext uri="{BB962C8B-B14F-4D97-AF65-F5344CB8AC3E}">
        <p14:creationId xmlns:p14="http://schemas.microsoft.com/office/powerpoint/2010/main" val="27783659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F3C9BD2A-0256-D3B8-2272-84623C52672C}"/>
              </a:ext>
            </a:extLst>
          </p:cNvPr>
          <p:cNvSpPr>
            <a:spLocks noGrp="1"/>
          </p:cNvSpPr>
          <p:nvPr>
            <p:ph type="body" sz="quarter" idx="10"/>
          </p:nvPr>
        </p:nvSpPr>
        <p:spPr/>
        <p:txBody>
          <a:bodyPr>
            <a:normAutofit fontScale="92500" lnSpcReduction="10000"/>
          </a:bodyPr>
          <a:lstStyle/>
          <a:p>
            <a:r>
              <a:rPr lang="en-US" b="1" dirty="0"/>
              <a:t>Research Question 1 (RQ1):</a:t>
            </a:r>
            <a:r>
              <a:rPr lang="en-US" dirty="0"/>
              <a:t> Is there, or to what extent, a relationship between the coping mechanisms used by nurses and their levels of perceived stress when providing care to women after abortion?</a:t>
            </a:r>
          </a:p>
          <a:p>
            <a:r>
              <a:rPr lang="en-US" b="1" dirty="0"/>
              <a:t>H1_0:</a:t>
            </a:r>
            <a:r>
              <a:rPr lang="en-US" dirty="0"/>
              <a:t> There is no significant relationship between the coping mechanisms used by nurses and their levels of perceived stress when providing care to women after abortion.</a:t>
            </a:r>
          </a:p>
          <a:p>
            <a:r>
              <a:rPr lang="en-US" b="1" dirty="0"/>
              <a:t>Research Question 2 (RQ2):</a:t>
            </a:r>
            <a:r>
              <a:rPr lang="en-US" dirty="0"/>
              <a:t> Is there, or to what extent, a relationship between the availability of support services and the levels of perceived stress among nurses in the context of abortion care?</a:t>
            </a:r>
          </a:p>
          <a:p>
            <a:r>
              <a:rPr lang="en-US" b="1" dirty="0"/>
              <a:t>H2_0:</a:t>
            </a:r>
            <a:r>
              <a:rPr lang="en-US" dirty="0"/>
              <a:t> There is no significant relationship between the availability of support services and the levels of perceived stress among nurses in the context of abortion care.</a:t>
            </a:r>
          </a:p>
        </p:txBody>
      </p:sp>
      <p:sp>
        <p:nvSpPr>
          <p:cNvPr id="4" name="Title 1">
            <a:extLst>
              <a:ext uri="{FF2B5EF4-FFF2-40B4-BE49-F238E27FC236}">
                <a16:creationId xmlns:a16="http://schemas.microsoft.com/office/drawing/2014/main" id="{A14FB77B-6F5E-303A-BDA1-859D148665B7}"/>
              </a:ext>
            </a:extLst>
          </p:cNvPr>
          <p:cNvSpPr txBox="1">
            <a:spLocks/>
          </p:cNvSpPr>
          <p:nvPr/>
        </p:nvSpPr>
        <p:spPr>
          <a:xfrm>
            <a:off x="963613" y="887946"/>
            <a:ext cx="6935377" cy="610863"/>
          </a:xfrm>
          <a:prstGeom prst="rect">
            <a:avLst/>
          </a:prstGeom>
          <a:ln>
            <a:noFill/>
          </a:ln>
        </p:spPr>
        <p:txBody>
          <a:bodyPr vert="horz" lIns="0" tIns="0" rIns="0" bIns="0" rtlCol="0" anchor="t" anchorCtr="0">
            <a:noAutofit/>
          </a:bodyPr>
          <a:lstStyle>
            <a:lvl1pPr algn="l" defTabSz="914400" rtl="0" eaLnBrk="1" latinLnBrk="0" hangingPunct="1">
              <a:lnSpc>
                <a:spcPct val="100000"/>
              </a:lnSpc>
              <a:spcBef>
                <a:spcPct val="0"/>
              </a:spcBef>
              <a:buNone/>
              <a:defRPr sz="2800" b="0" i="0" kern="1200" spc="100" baseline="0">
                <a:solidFill>
                  <a:schemeClr val="bg1"/>
                </a:solidFill>
                <a:latin typeface="+mn-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b="1" dirty="0">
                <a:latin typeface="+mj-lt"/>
              </a:rPr>
              <a:t>Research Questions &amp; Hypotheses</a:t>
            </a:r>
          </a:p>
        </p:txBody>
      </p:sp>
      <p:sp>
        <p:nvSpPr>
          <p:cNvPr id="6" name="Footer Placeholder 3">
            <a:extLst>
              <a:ext uri="{FF2B5EF4-FFF2-40B4-BE49-F238E27FC236}">
                <a16:creationId xmlns:a16="http://schemas.microsoft.com/office/drawing/2014/main" id="{9C68D352-0A00-DCCB-42CC-97554ADA4B33}"/>
              </a:ext>
            </a:extLst>
          </p:cNvPr>
          <p:cNvSpPr>
            <a:spLocks noGrp="1"/>
          </p:cNvSpPr>
          <p:nvPr>
            <p:ph type="ftr" sz="quarter" idx="3"/>
          </p:nvPr>
        </p:nvSpPr>
        <p:spPr>
          <a:xfrm>
            <a:off x="10693667" y="6362299"/>
            <a:ext cx="1317821" cy="334189"/>
          </a:xfrm>
        </p:spPr>
        <p:txBody>
          <a:bodyPr/>
          <a:lstStyle/>
          <a:p>
            <a:r>
              <a:rPr lang="en-US" sz="1400" dirty="0"/>
              <a:t>DOCTORATES WITH PURPOSE</a:t>
            </a:r>
          </a:p>
        </p:txBody>
      </p:sp>
    </p:spTree>
    <p:extLst>
      <p:ext uri="{BB962C8B-B14F-4D97-AF65-F5344CB8AC3E}">
        <p14:creationId xmlns:p14="http://schemas.microsoft.com/office/powerpoint/2010/main" val="36856161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284C4-41ED-E99E-D545-CAB1A4EDEF17}"/>
              </a:ext>
            </a:extLst>
          </p:cNvPr>
          <p:cNvSpPr>
            <a:spLocks noGrp="1"/>
          </p:cNvSpPr>
          <p:nvPr>
            <p:ph type="title"/>
          </p:nvPr>
        </p:nvSpPr>
        <p:spPr>
          <a:xfrm>
            <a:off x="952500" y="341877"/>
            <a:ext cx="6579777" cy="610863"/>
          </a:xfrm>
        </p:spPr>
        <p:txBody>
          <a:bodyPr>
            <a:normAutofit fontScale="90000"/>
          </a:bodyPr>
          <a:lstStyle/>
          <a:p>
            <a:r>
              <a:rPr lang="en-US" dirty="0"/>
              <a:t>Methodology Justification</a:t>
            </a:r>
          </a:p>
        </p:txBody>
      </p:sp>
      <p:graphicFrame>
        <p:nvGraphicFramePr>
          <p:cNvPr id="5" name="Table 5">
            <a:extLst>
              <a:ext uri="{FF2B5EF4-FFF2-40B4-BE49-F238E27FC236}">
                <a16:creationId xmlns:a16="http://schemas.microsoft.com/office/drawing/2014/main" id="{25C2E378-4012-7A6E-4F9D-C4D51DF25C6D}"/>
              </a:ext>
            </a:extLst>
          </p:cNvPr>
          <p:cNvGraphicFramePr>
            <a:graphicFrameLocks noGrp="1"/>
          </p:cNvGraphicFramePr>
          <p:nvPr>
            <p:ph type="tbl" sz="quarter" idx="10"/>
            <p:extLst>
              <p:ext uri="{D42A27DB-BD31-4B8C-83A1-F6EECF244321}">
                <p14:modId xmlns:p14="http://schemas.microsoft.com/office/powerpoint/2010/main" val="996508585"/>
              </p:ext>
            </p:extLst>
          </p:nvPr>
        </p:nvGraphicFramePr>
        <p:xfrm>
          <a:off x="952500" y="1038197"/>
          <a:ext cx="10287000" cy="5992436"/>
        </p:xfrm>
        <a:graphic>
          <a:graphicData uri="http://schemas.openxmlformats.org/drawingml/2006/table">
            <a:tbl>
              <a:tblPr firstRow="1" bandRow="1">
                <a:tableStyleId>{5C22544A-7EE6-4342-B048-85BDC9FD1C3A}</a:tableStyleId>
              </a:tblPr>
              <a:tblGrid>
                <a:gridCol w="5143500">
                  <a:extLst>
                    <a:ext uri="{9D8B030D-6E8A-4147-A177-3AD203B41FA5}">
                      <a16:colId xmlns:a16="http://schemas.microsoft.com/office/drawing/2014/main" val="3432439177"/>
                    </a:ext>
                  </a:extLst>
                </a:gridCol>
                <a:gridCol w="5143500">
                  <a:extLst>
                    <a:ext uri="{9D8B030D-6E8A-4147-A177-3AD203B41FA5}">
                      <a16:colId xmlns:a16="http://schemas.microsoft.com/office/drawing/2014/main" val="2007469737"/>
                    </a:ext>
                  </a:extLst>
                </a:gridCol>
              </a:tblGrid>
              <a:tr h="475556">
                <a:tc>
                  <a:txBody>
                    <a:bodyPr/>
                    <a:lstStyle/>
                    <a:p>
                      <a:pPr algn="ctr"/>
                      <a:r>
                        <a:rPr lang="en-US" sz="2400" dirty="0"/>
                        <a:t>Quantitative</a:t>
                      </a:r>
                    </a:p>
                  </a:txBody>
                  <a:tcPr anchor="ctr"/>
                </a:tc>
                <a:tc>
                  <a:txBody>
                    <a:bodyPr/>
                    <a:lstStyle/>
                    <a:p>
                      <a:pPr algn="ctr"/>
                      <a:r>
                        <a:rPr lang="en-US" sz="2400" dirty="0"/>
                        <a:t>Qualitative</a:t>
                      </a:r>
                    </a:p>
                  </a:txBody>
                  <a:tcPr anchor="ctr"/>
                </a:tc>
                <a:extLst>
                  <a:ext uri="{0D108BD9-81ED-4DB2-BD59-A6C34878D82A}">
                    <a16:rowId xmlns:a16="http://schemas.microsoft.com/office/drawing/2014/main" val="3471089016"/>
                  </a:ext>
                </a:extLst>
              </a:tr>
              <a:tr h="2390089">
                <a:tc>
                  <a:txBody>
                    <a:bodyPr/>
                    <a:lstStyle/>
                    <a:p>
                      <a:r>
                        <a:rPr lang="en-US" sz="1400" b="0" i="0" dirty="0">
                          <a:latin typeface="Calibri Light" panose="020F0302020204030204" pitchFamily="34" charset="0"/>
                          <a:cs typeface="Calibri Light" panose="020F0302020204030204" pitchFamily="34" charset="0"/>
                        </a:rPr>
                        <a:t>Main attributes of quantitative methodology: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kern="1200" dirty="0">
                          <a:effectLst/>
                          <a:latin typeface="Calibri Light" panose="020F0302020204030204" pitchFamily="34" charset="0"/>
                          <a:cs typeface="Calibri Light" panose="020F0302020204030204" pitchFamily="34" charset="0"/>
                        </a:rPr>
                        <a:t>Main attributes of qualitative methodology: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dirty="0">
                          <a:latin typeface="Calibri Light" panose="020F0302020204030204" pitchFamily="34" charset="0"/>
                          <a:cs typeface="Calibri Light" panose="020F0302020204030204" pitchFamily="34" charset="0"/>
                        </a:rPr>
                        <a:t>It is a research approach that focuses on understanding and interpreting social phenomena in their natural settings (Miles &amp; Huberman, 1994) .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dirty="0">
                          <a:latin typeface="Calibri Light" panose="020F0302020204030204" pitchFamily="34" charset="0"/>
                          <a:cs typeface="Calibri Light" panose="020F0302020204030204" pitchFamily="34" charset="0"/>
                        </a:rPr>
                        <a:t>It is well-suited for understanding complex and dynamic phenomena, such as people's experiences, perceptions behaviors, and beliefs.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b="0" i="0" dirty="0">
                        <a:latin typeface="Calibri Light" panose="020F0302020204030204" pitchFamily="34" charset="0"/>
                        <a:cs typeface="Calibri Light" panose="020F03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dirty="0">
                          <a:latin typeface="Calibri Light" panose="020F0302020204030204" pitchFamily="34" charset="0"/>
                          <a:cs typeface="Calibri Light" panose="020F0302020204030204" pitchFamily="34" charset="0"/>
                        </a:rPr>
                        <a:t>It focuses on measuring and testing hypotheses about variables and relationships among variables.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dirty="0">
                          <a:latin typeface="Calibri Light" panose="020F0302020204030204" pitchFamily="34" charset="0"/>
                          <a:cs typeface="Calibri Light" panose="020F0302020204030204" pitchFamily="34" charset="0"/>
                        </a:rPr>
                        <a:t>It is well-suited for studying specific hypotheses, measuring variables, and generalizing findings from a sample to a population (Yin, 2009).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b="0" i="0" dirty="0">
                        <a:latin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268937333"/>
                  </a:ext>
                </a:extLst>
              </a:tr>
              <a:tr h="239008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dirty="0">
                          <a:latin typeface="Calibri Light" panose="020F0302020204030204" pitchFamily="34" charset="0"/>
                          <a:cs typeface="Calibri Light" panose="020F0302020204030204" pitchFamily="34" charset="0"/>
                        </a:rPr>
                        <a:t>Justification for quantitative: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dirty="0">
                          <a:latin typeface="Calibri Light" panose="020F0302020204030204" pitchFamily="34" charset="0"/>
                          <a:cs typeface="Calibri Light" panose="020F0302020204030204" pitchFamily="34" charset="0"/>
                        </a:rPr>
                        <a:t>Lack of Precision: Qualitative research often provides rich, descriptive data, but it may not yield precise measurements or quantifiable results. In this study, where the goal is to assess the extent of influence (e.g., leadership influence on self-efficacy), quantitative methods are better suited for obtaining numerical data and measuring relationships accurately (Miles &amp; Huberman, 1994.</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dirty="0">
                          <a:latin typeface="Calibri Light" panose="020F0302020204030204" pitchFamily="34" charset="0"/>
                          <a:cs typeface="Calibri Light" panose="020F0302020204030204" pitchFamily="34" charset="0"/>
                        </a:rPr>
                        <a:t>Difficulty in Generalization: Qualitative research typically focuses on the experiences and perceptions of a small group of participants. This approach may make it challenging to generalize findings to a larger population of millennial nurses, which could be important for policy or practice recommendations.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b="0" i="0" dirty="0">
                        <a:latin typeface="Calibri Light" panose="020F0302020204030204" pitchFamily="34" charset="0"/>
                        <a:cs typeface="Calibri Light" panose="020F03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dirty="0">
                          <a:latin typeface="Calibri Light" panose="020F0302020204030204" pitchFamily="34" charset="0"/>
                          <a:cs typeface="Calibri Light" panose="020F0302020204030204" pitchFamily="34" charset="0"/>
                        </a:rPr>
                        <a:t>Justification against qualitative: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dirty="0">
                          <a:latin typeface="Calibri Light" panose="020F0302020204030204" pitchFamily="34" charset="0"/>
                          <a:cs typeface="Calibri Light" panose="020F0302020204030204" pitchFamily="34" charset="0"/>
                        </a:rPr>
                        <a:t>Quantitative methods involve administering the General Self-Efficacy Scale (GSE) and related surveys to a representative sample of millennial nurses, followed by statistical analysis to explore correlations between leadership styles, self-efficacy levels, and willingness to provide care for women post-abortion. Findings will offer quantifiable insights into how leadership impacts nurses' perceptions and behaviors, aiding in filling the knowledge gap within this specific nursing practice area.</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b="0" i="0" dirty="0">
                        <a:latin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2691734012"/>
                  </a:ext>
                </a:extLst>
              </a:tr>
            </a:tbl>
          </a:graphicData>
        </a:graphic>
      </p:graphicFrame>
      <p:sp>
        <p:nvSpPr>
          <p:cNvPr id="4" name="Footer Placeholder 3">
            <a:extLst>
              <a:ext uri="{FF2B5EF4-FFF2-40B4-BE49-F238E27FC236}">
                <a16:creationId xmlns:a16="http://schemas.microsoft.com/office/drawing/2014/main" id="{82F84C22-F235-6A38-CB95-BC2FC48EA97A}"/>
              </a:ext>
            </a:extLst>
          </p:cNvPr>
          <p:cNvSpPr>
            <a:spLocks noGrp="1"/>
          </p:cNvSpPr>
          <p:nvPr>
            <p:ph type="ftr" sz="quarter" idx="3"/>
          </p:nvPr>
        </p:nvSpPr>
        <p:spPr/>
        <p:txBody>
          <a:bodyPr/>
          <a:lstStyle/>
          <a:p>
            <a:r>
              <a:rPr lang="en-US" sz="1400"/>
              <a:t>DOCTORATES WITH PURPOSE</a:t>
            </a:r>
            <a:endParaRPr lang="en-US" sz="1400" dirty="0"/>
          </a:p>
        </p:txBody>
      </p:sp>
    </p:spTree>
    <p:extLst>
      <p:ext uri="{BB962C8B-B14F-4D97-AF65-F5344CB8AC3E}">
        <p14:creationId xmlns:p14="http://schemas.microsoft.com/office/powerpoint/2010/main" val="259985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F5974-C015-395C-FE00-628B25430254}"/>
              </a:ext>
            </a:extLst>
          </p:cNvPr>
          <p:cNvSpPr>
            <a:spLocks noGrp="1"/>
          </p:cNvSpPr>
          <p:nvPr>
            <p:ph type="title"/>
          </p:nvPr>
        </p:nvSpPr>
        <p:spPr/>
        <p:txBody>
          <a:bodyPr/>
          <a:lstStyle/>
          <a:p>
            <a:r>
              <a:rPr lang="en-US" dirty="0"/>
              <a:t>Feasibility Slide 1</a:t>
            </a:r>
          </a:p>
        </p:txBody>
      </p:sp>
      <p:sp>
        <p:nvSpPr>
          <p:cNvPr id="3" name="Text Placeholder 2">
            <a:extLst>
              <a:ext uri="{FF2B5EF4-FFF2-40B4-BE49-F238E27FC236}">
                <a16:creationId xmlns:a16="http://schemas.microsoft.com/office/drawing/2014/main" id="{CBE175A4-781E-98CB-6DFA-51E81E532BFA}"/>
              </a:ext>
            </a:extLst>
          </p:cNvPr>
          <p:cNvSpPr>
            <a:spLocks noGrp="1"/>
          </p:cNvSpPr>
          <p:nvPr>
            <p:ph type="body" idx="1"/>
          </p:nvPr>
        </p:nvSpPr>
        <p:spPr>
          <a:xfrm>
            <a:off x="964023" y="2094337"/>
            <a:ext cx="4827178" cy="369463"/>
          </a:xfrm>
        </p:spPr>
        <p:txBody>
          <a:bodyPr/>
          <a:lstStyle/>
          <a:p>
            <a:r>
              <a:rPr lang="en-US" dirty="0"/>
              <a:t>Resources for Study</a:t>
            </a:r>
          </a:p>
        </p:txBody>
      </p:sp>
      <p:sp>
        <p:nvSpPr>
          <p:cNvPr id="4" name="Text Placeholder 3">
            <a:extLst>
              <a:ext uri="{FF2B5EF4-FFF2-40B4-BE49-F238E27FC236}">
                <a16:creationId xmlns:a16="http://schemas.microsoft.com/office/drawing/2014/main" id="{82A5A3FF-50E7-692E-C98D-C576392E8F38}"/>
              </a:ext>
            </a:extLst>
          </p:cNvPr>
          <p:cNvSpPr>
            <a:spLocks noGrp="1"/>
          </p:cNvSpPr>
          <p:nvPr>
            <p:ph type="body" idx="10"/>
          </p:nvPr>
        </p:nvSpPr>
        <p:spPr>
          <a:xfrm>
            <a:off x="6362700" y="2094337"/>
            <a:ext cx="4764829" cy="369463"/>
          </a:xfrm>
        </p:spPr>
        <p:txBody>
          <a:bodyPr/>
          <a:lstStyle/>
          <a:p>
            <a:r>
              <a:rPr lang="en-US" dirty="0"/>
              <a:t>Ethical Concerns</a:t>
            </a:r>
          </a:p>
        </p:txBody>
      </p:sp>
      <p:sp>
        <p:nvSpPr>
          <p:cNvPr id="5" name="Content Placeholder 4">
            <a:extLst>
              <a:ext uri="{FF2B5EF4-FFF2-40B4-BE49-F238E27FC236}">
                <a16:creationId xmlns:a16="http://schemas.microsoft.com/office/drawing/2014/main" id="{6D8EA8A5-8646-7C2E-7780-A1526C034674}"/>
              </a:ext>
            </a:extLst>
          </p:cNvPr>
          <p:cNvSpPr>
            <a:spLocks noGrp="1"/>
          </p:cNvSpPr>
          <p:nvPr>
            <p:ph sz="half" idx="2"/>
          </p:nvPr>
        </p:nvSpPr>
        <p:spPr>
          <a:xfrm>
            <a:off x="964023" y="2463801"/>
            <a:ext cx="4827178" cy="3898498"/>
          </a:xfrm>
        </p:spPr>
        <p:txBody>
          <a:bodyPr/>
          <a:lstStyle/>
          <a:p>
            <a:r>
              <a:rPr lang="en-US" dirty="0"/>
              <a:t>Recruiting participants through voluntary help and recovery groups will provide access to women who have undergone abortions and may be willing to participate in the study.</a:t>
            </a:r>
          </a:p>
          <a:p>
            <a:r>
              <a:rPr lang="en-US" dirty="0"/>
              <a:t>Ensuring that participants are fully informed about the purpose of the research and voluntarily give their consent to participate and to have their data used in the research.</a:t>
            </a:r>
          </a:p>
          <a:p>
            <a:endParaRPr lang="en-US" dirty="0"/>
          </a:p>
        </p:txBody>
      </p:sp>
      <p:sp>
        <p:nvSpPr>
          <p:cNvPr id="6" name="Content Placeholder 5">
            <a:extLst>
              <a:ext uri="{FF2B5EF4-FFF2-40B4-BE49-F238E27FC236}">
                <a16:creationId xmlns:a16="http://schemas.microsoft.com/office/drawing/2014/main" id="{C43F7044-767D-BB09-63F3-A117BB048AFF}"/>
              </a:ext>
            </a:extLst>
          </p:cNvPr>
          <p:cNvSpPr>
            <a:spLocks noGrp="1"/>
          </p:cNvSpPr>
          <p:nvPr>
            <p:ph sz="half" idx="13"/>
          </p:nvPr>
        </p:nvSpPr>
        <p:spPr>
          <a:xfrm>
            <a:off x="6362700" y="2463800"/>
            <a:ext cx="4756241" cy="3898498"/>
          </a:xfrm>
        </p:spPr>
        <p:txBody>
          <a:bodyPr/>
          <a:lstStyle/>
          <a:p>
            <a:r>
              <a:rPr lang="en-US" dirty="0"/>
              <a:t>Implementing measures to ensure the anonymity and confidentiality of the participants.</a:t>
            </a:r>
          </a:p>
          <a:p>
            <a:r>
              <a:rPr lang="en-US" dirty="0"/>
              <a:t>• Participants will be spoken to legally and ethically.</a:t>
            </a:r>
          </a:p>
          <a:p>
            <a:r>
              <a:rPr lang="en-US" dirty="0"/>
              <a:t>•Participants will voluntarily accept the request to use their data for research purposes.</a:t>
            </a:r>
          </a:p>
          <a:p>
            <a:endParaRPr lang="en-US" dirty="0"/>
          </a:p>
        </p:txBody>
      </p:sp>
      <p:sp>
        <p:nvSpPr>
          <p:cNvPr id="7" name="Footer Placeholder 6">
            <a:extLst>
              <a:ext uri="{FF2B5EF4-FFF2-40B4-BE49-F238E27FC236}">
                <a16:creationId xmlns:a16="http://schemas.microsoft.com/office/drawing/2014/main" id="{D4FF64C5-CE22-1A13-DCFB-BA02EEC4A3C0}"/>
              </a:ext>
            </a:extLst>
          </p:cNvPr>
          <p:cNvSpPr>
            <a:spLocks noGrp="1"/>
          </p:cNvSpPr>
          <p:nvPr>
            <p:ph type="ftr" sz="quarter" idx="3"/>
          </p:nvPr>
        </p:nvSpPr>
        <p:spPr/>
        <p:txBody>
          <a:bodyPr/>
          <a:lstStyle/>
          <a:p>
            <a:r>
              <a:rPr lang="en-US" sz="1400"/>
              <a:t>DOCTORATES WITH PURPOSE</a:t>
            </a:r>
            <a:endParaRPr lang="en-US" sz="1400" dirty="0"/>
          </a:p>
        </p:txBody>
      </p:sp>
    </p:spTree>
    <p:extLst>
      <p:ext uri="{BB962C8B-B14F-4D97-AF65-F5344CB8AC3E}">
        <p14:creationId xmlns:p14="http://schemas.microsoft.com/office/powerpoint/2010/main" val="28126801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F5974-C015-395C-FE00-628B25430254}"/>
              </a:ext>
            </a:extLst>
          </p:cNvPr>
          <p:cNvSpPr>
            <a:spLocks noGrp="1"/>
          </p:cNvSpPr>
          <p:nvPr>
            <p:ph type="title"/>
          </p:nvPr>
        </p:nvSpPr>
        <p:spPr/>
        <p:txBody>
          <a:bodyPr/>
          <a:lstStyle/>
          <a:p>
            <a:r>
              <a:rPr lang="en-US" dirty="0"/>
              <a:t>Feasibility Slide 2</a:t>
            </a:r>
          </a:p>
        </p:txBody>
      </p:sp>
      <p:sp>
        <p:nvSpPr>
          <p:cNvPr id="3" name="Text Placeholder 2">
            <a:extLst>
              <a:ext uri="{FF2B5EF4-FFF2-40B4-BE49-F238E27FC236}">
                <a16:creationId xmlns:a16="http://schemas.microsoft.com/office/drawing/2014/main" id="{CBE175A4-781E-98CB-6DFA-51E81E532BFA}"/>
              </a:ext>
            </a:extLst>
          </p:cNvPr>
          <p:cNvSpPr>
            <a:spLocks noGrp="1"/>
          </p:cNvSpPr>
          <p:nvPr>
            <p:ph type="body" idx="1"/>
          </p:nvPr>
        </p:nvSpPr>
        <p:spPr>
          <a:xfrm>
            <a:off x="964023" y="2094337"/>
            <a:ext cx="4827178" cy="610863"/>
          </a:xfrm>
        </p:spPr>
        <p:txBody>
          <a:bodyPr>
            <a:noAutofit/>
          </a:bodyPr>
          <a:lstStyle/>
          <a:p>
            <a:pPr>
              <a:lnSpc>
                <a:spcPct val="100000"/>
              </a:lnSpc>
              <a:spcBef>
                <a:spcPts val="0"/>
              </a:spcBef>
            </a:pPr>
            <a:r>
              <a:rPr lang="en-US" dirty="0"/>
              <a:t>Study Alignment with Program </a:t>
            </a:r>
          </a:p>
          <a:p>
            <a:pPr>
              <a:lnSpc>
                <a:spcPct val="100000"/>
              </a:lnSpc>
              <a:spcBef>
                <a:spcPts val="0"/>
              </a:spcBef>
            </a:pPr>
            <a:r>
              <a:rPr lang="en-US" dirty="0"/>
              <a:t>(Identify Program of Study)</a:t>
            </a:r>
          </a:p>
        </p:txBody>
      </p:sp>
      <p:sp>
        <p:nvSpPr>
          <p:cNvPr id="4" name="Text Placeholder 3">
            <a:extLst>
              <a:ext uri="{FF2B5EF4-FFF2-40B4-BE49-F238E27FC236}">
                <a16:creationId xmlns:a16="http://schemas.microsoft.com/office/drawing/2014/main" id="{82A5A3FF-50E7-692E-C98D-C576392E8F38}"/>
              </a:ext>
            </a:extLst>
          </p:cNvPr>
          <p:cNvSpPr>
            <a:spLocks noGrp="1"/>
          </p:cNvSpPr>
          <p:nvPr>
            <p:ph type="body" idx="10"/>
          </p:nvPr>
        </p:nvSpPr>
        <p:spPr>
          <a:xfrm>
            <a:off x="6362700" y="2094337"/>
            <a:ext cx="4764829" cy="610863"/>
          </a:xfrm>
        </p:spPr>
        <p:txBody>
          <a:bodyPr/>
          <a:lstStyle/>
          <a:p>
            <a:r>
              <a:rPr lang="en-US" dirty="0"/>
              <a:t>Feasibility Concerns</a:t>
            </a:r>
          </a:p>
        </p:txBody>
      </p:sp>
      <p:sp>
        <p:nvSpPr>
          <p:cNvPr id="5" name="Content Placeholder 4">
            <a:extLst>
              <a:ext uri="{FF2B5EF4-FFF2-40B4-BE49-F238E27FC236}">
                <a16:creationId xmlns:a16="http://schemas.microsoft.com/office/drawing/2014/main" id="{6D8EA8A5-8646-7C2E-7780-A1526C034674}"/>
              </a:ext>
            </a:extLst>
          </p:cNvPr>
          <p:cNvSpPr>
            <a:spLocks noGrp="1"/>
          </p:cNvSpPr>
          <p:nvPr>
            <p:ph sz="half" idx="2"/>
          </p:nvPr>
        </p:nvSpPr>
        <p:spPr>
          <a:xfrm>
            <a:off x="964023" y="2799145"/>
            <a:ext cx="4827178" cy="3563153"/>
          </a:xfrm>
        </p:spPr>
        <p:txBody>
          <a:bodyPr/>
          <a:lstStyle/>
          <a:p>
            <a:r>
              <a:rPr lang="en-US" dirty="0"/>
              <a:t>The program I am pursuing is a Doctor of Philosophy in General Psychology focused on Women's Mental Health.</a:t>
            </a:r>
          </a:p>
          <a:p>
            <a:r>
              <a:rPr lang="en-US" dirty="0"/>
              <a:t>The topic deals with the effects of abortion on women's mental health and how healthcare providers can help them cope and protect their mental health.</a:t>
            </a:r>
          </a:p>
          <a:p>
            <a:endParaRPr lang="en-US" dirty="0"/>
          </a:p>
          <a:p>
            <a:endParaRPr lang="en-US" dirty="0"/>
          </a:p>
        </p:txBody>
      </p:sp>
      <p:sp>
        <p:nvSpPr>
          <p:cNvPr id="6" name="Content Placeholder 5">
            <a:extLst>
              <a:ext uri="{FF2B5EF4-FFF2-40B4-BE49-F238E27FC236}">
                <a16:creationId xmlns:a16="http://schemas.microsoft.com/office/drawing/2014/main" id="{C43F7044-767D-BB09-63F3-A117BB048AFF}"/>
              </a:ext>
            </a:extLst>
          </p:cNvPr>
          <p:cNvSpPr>
            <a:spLocks noGrp="1"/>
          </p:cNvSpPr>
          <p:nvPr>
            <p:ph sz="half" idx="13"/>
          </p:nvPr>
        </p:nvSpPr>
        <p:spPr>
          <a:xfrm>
            <a:off x="6362700" y="2799146"/>
            <a:ext cx="4756241" cy="3563152"/>
          </a:xfrm>
        </p:spPr>
        <p:txBody>
          <a:bodyPr>
            <a:normAutofit fontScale="92500" lnSpcReduction="20000"/>
          </a:bodyPr>
          <a:lstStyle/>
          <a:p>
            <a:pPr marL="342900" lvl="0" indent="-342900" eaLnBrk="0" fontAlgn="base" hangingPunct="0">
              <a:spcBef>
                <a:spcPts val="2000"/>
              </a:spcBef>
              <a:spcAft>
                <a:spcPct val="0"/>
              </a:spcAft>
              <a:buClr>
                <a:srgbClr val="660066"/>
              </a:buClr>
              <a:buSzPct val="89000"/>
              <a:buFont typeface="Arial" panose="020B0604020202020204" pitchFamily="34" charset="0"/>
              <a:buChar char="•"/>
            </a:pPr>
            <a:r>
              <a:rPr lang="en-US" kern="0" dirty="0">
                <a:solidFill>
                  <a:srgbClr val="000000"/>
                </a:solidFill>
                <a:latin typeface="Lucida Grande"/>
                <a:sym typeface="Lucida Grande" charset="0"/>
              </a:rPr>
              <a:t>It aligns with the goals of my program of study, which aims to understand and improve the mental health of women</a:t>
            </a:r>
            <a:endParaRPr lang="en-US" b="1" u="sng" kern="0" dirty="0">
              <a:solidFill>
                <a:srgbClr val="000000"/>
              </a:solidFill>
              <a:latin typeface="Lucida Grande"/>
              <a:sym typeface="Lucida Grande" charset="0"/>
            </a:endParaRPr>
          </a:p>
          <a:p>
            <a:pPr marL="342900" lvl="0" indent="-342900" eaLnBrk="0" fontAlgn="base" hangingPunct="0">
              <a:spcBef>
                <a:spcPts val="2000"/>
              </a:spcBef>
              <a:spcAft>
                <a:spcPct val="0"/>
              </a:spcAft>
              <a:buClr>
                <a:srgbClr val="660066"/>
              </a:buClr>
              <a:buSzPts val="1000"/>
              <a:buFont typeface="Symbol" panose="05050102010706020507" pitchFamily="18" charset="2"/>
              <a:buChar char=""/>
              <a:tabLst>
                <a:tab pos="457200" algn="l"/>
              </a:tabLst>
            </a:pPr>
            <a:r>
              <a:rPr lang="en-US" kern="0" dirty="0">
                <a:solidFill>
                  <a:srgbClr val="000000"/>
                </a:solidFill>
                <a:latin typeface="Lucida Grande"/>
                <a:ea typeface="Times New Roman" panose="02020603050405020304" pitchFamily="18" charset="0"/>
                <a:sym typeface="Lucida Grande" charset="0"/>
              </a:rPr>
              <a:t>The cost of conducting the research is low, with the main expense being the researcher's time and commitment.</a:t>
            </a:r>
          </a:p>
          <a:p>
            <a:pPr marL="342900" lvl="0" indent="-342900" eaLnBrk="0" fontAlgn="base" hangingPunct="0">
              <a:spcBef>
                <a:spcPts val="2000"/>
              </a:spcBef>
              <a:spcAft>
                <a:spcPct val="0"/>
              </a:spcAft>
              <a:buClr>
                <a:srgbClr val="660066"/>
              </a:buClr>
              <a:buSzPts val="1000"/>
              <a:buFont typeface="Symbol" panose="05050102010706020507" pitchFamily="18" charset="2"/>
              <a:buChar char=""/>
              <a:tabLst>
                <a:tab pos="457200" algn="l"/>
              </a:tabLst>
            </a:pPr>
            <a:r>
              <a:rPr lang="en-US" kern="0" dirty="0">
                <a:solidFill>
                  <a:srgbClr val="000000"/>
                </a:solidFill>
                <a:latin typeface="Lucida Grande"/>
                <a:ea typeface="Times New Roman" panose="02020603050405020304" pitchFamily="18" charset="0"/>
                <a:sym typeface="Lucida Grande" charset="0"/>
              </a:rPr>
              <a:t>The study's feasibility is high, and there is a population of women who have undergone abortions that can be legally and ethically accessed through voluntary help and/or recovery groups and be interviewed.</a:t>
            </a:r>
          </a:p>
          <a:p>
            <a:pPr marL="342900" lvl="0" indent="-342900" eaLnBrk="0" fontAlgn="base" hangingPunct="0">
              <a:spcBef>
                <a:spcPts val="2000"/>
              </a:spcBef>
              <a:spcAft>
                <a:spcPct val="0"/>
              </a:spcAft>
              <a:buClr>
                <a:srgbClr val="660066"/>
              </a:buClr>
              <a:buSzPts val="1000"/>
              <a:buFont typeface="Symbol" panose="05050102010706020507" pitchFamily="18" charset="2"/>
              <a:buChar char=""/>
              <a:tabLst>
                <a:tab pos="457200" algn="l"/>
              </a:tabLst>
            </a:pPr>
            <a:r>
              <a:rPr lang="en-US" kern="0" dirty="0">
                <a:solidFill>
                  <a:srgbClr val="000000"/>
                </a:solidFill>
                <a:latin typeface="Lucida Grande"/>
                <a:ea typeface="Times New Roman" panose="02020603050405020304" pitchFamily="18" charset="0"/>
                <a:sym typeface="Lucida Grande" charset="0"/>
              </a:rPr>
              <a:t>The problem can be solved using qualitative data collection methods such as observation, personal interviews, focus groups, questionnaires, audio, images, video recording, and texts.</a:t>
            </a:r>
          </a:p>
          <a:p>
            <a:endParaRPr lang="en-US" dirty="0"/>
          </a:p>
        </p:txBody>
      </p:sp>
      <p:sp>
        <p:nvSpPr>
          <p:cNvPr id="7" name="Footer Placeholder 6">
            <a:extLst>
              <a:ext uri="{FF2B5EF4-FFF2-40B4-BE49-F238E27FC236}">
                <a16:creationId xmlns:a16="http://schemas.microsoft.com/office/drawing/2014/main" id="{D4FF64C5-CE22-1A13-DCFB-BA02EEC4A3C0}"/>
              </a:ext>
            </a:extLst>
          </p:cNvPr>
          <p:cNvSpPr>
            <a:spLocks noGrp="1"/>
          </p:cNvSpPr>
          <p:nvPr>
            <p:ph type="ftr" sz="quarter" idx="3"/>
          </p:nvPr>
        </p:nvSpPr>
        <p:spPr/>
        <p:txBody>
          <a:bodyPr/>
          <a:lstStyle/>
          <a:p>
            <a:r>
              <a:rPr lang="en-US" sz="1400"/>
              <a:t>DOCTORATES WITH PURPOSE</a:t>
            </a:r>
            <a:endParaRPr lang="en-US" sz="1400" dirty="0"/>
          </a:p>
        </p:txBody>
      </p:sp>
    </p:spTree>
    <p:extLst>
      <p:ext uri="{BB962C8B-B14F-4D97-AF65-F5344CB8AC3E}">
        <p14:creationId xmlns:p14="http://schemas.microsoft.com/office/powerpoint/2010/main" val="26815284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49696-B840-9696-2812-335911D7FE59}"/>
              </a:ext>
            </a:extLst>
          </p:cNvPr>
          <p:cNvSpPr>
            <a:spLocks noGrp="1"/>
          </p:cNvSpPr>
          <p:nvPr>
            <p:ph type="title"/>
          </p:nvPr>
        </p:nvSpPr>
        <p:spPr/>
        <p:txBody>
          <a:bodyPr>
            <a:normAutofit/>
          </a:bodyPr>
          <a:lstStyle/>
          <a:p>
            <a:r>
              <a:rPr lang="en-US" dirty="0"/>
              <a:t>Purpose Statement</a:t>
            </a:r>
          </a:p>
        </p:txBody>
      </p:sp>
      <p:sp>
        <p:nvSpPr>
          <p:cNvPr id="3" name="Text Placeholder 2">
            <a:extLst>
              <a:ext uri="{FF2B5EF4-FFF2-40B4-BE49-F238E27FC236}">
                <a16:creationId xmlns:a16="http://schemas.microsoft.com/office/drawing/2014/main" id="{6FF2AAF8-0EE8-E1E7-0854-3EBDAE204ADA}"/>
              </a:ext>
            </a:extLst>
          </p:cNvPr>
          <p:cNvSpPr>
            <a:spLocks noGrp="1"/>
          </p:cNvSpPr>
          <p:nvPr>
            <p:ph type="body" sz="quarter" idx="10"/>
          </p:nvPr>
        </p:nvSpPr>
        <p:spPr/>
        <p:txBody>
          <a:bodyPr/>
          <a:lstStyle/>
          <a:p>
            <a:pPr marL="0" indent="0">
              <a:buNone/>
            </a:pPr>
            <a:r>
              <a:rPr lang="en-US" dirty="0"/>
              <a:t>The purpose of this quantitative study is to investigate the perceptions of millennial nurses regarding the impact of leadership on their self-efficacy and willingness to provide care for women who have undergone an abortion procedure, aiming to fill the knowledge gap in understanding this specific area within nursing practice.</a:t>
            </a:r>
          </a:p>
          <a:p>
            <a:pPr marL="0" indent="0">
              <a:buNone/>
            </a:pPr>
            <a:endParaRPr lang="en-US" dirty="0"/>
          </a:p>
        </p:txBody>
      </p:sp>
      <p:sp>
        <p:nvSpPr>
          <p:cNvPr id="4" name="Footer Placeholder 3">
            <a:extLst>
              <a:ext uri="{FF2B5EF4-FFF2-40B4-BE49-F238E27FC236}">
                <a16:creationId xmlns:a16="http://schemas.microsoft.com/office/drawing/2014/main" id="{7C324022-1DE9-8CED-F2E3-BFF563C53E0E}"/>
              </a:ext>
            </a:extLst>
          </p:cNvPr>
          <p:cNvSpPr>
            <a:spLocks noGrp="1"/>
          </p:cNvSpPr>
          <p:nvPr>
            <p:ph type="ftr" sz="quarter" idx="3"/>
          </p:nvPr>
        </p:nvSpPr>
        <p:spPr/>
        <p:txBody>
          <a:bodyPr/>
          <a:lstStyle/>
          <a:p>
            <a:r>
              <a:rPr lang="en-US" sz="1400" dirty="0"/>
              <a:t>DOCTORATES WITH PURPOSE</a:t>
            </a:r>
          </a:p>
        </p:txBody>
      </p:sp>
    </p:spTree>
    <p:extLst>
      <p:ext uri="{BB962C8B-B14F-4D97-AF65-F5344CB8AC3E}">
        <p14:creationId xmlns:p14="http://schemas.microsoft.com/office/powerpoint/2010/main" val="25397541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87FC4-C0BB-D09D-B40A-FC7960C5B334}"/>
              </a:ext>
            </a:extLst>
          </p:cNvPr>
          <p:cNvSpPr>
            <a:spLocks noGrp="1"/>
          </p:cNvSpPr>
          <p:nvPr>
            <p:ph type="title"/>
          </p:nvPr>
        </p:nvSpPr>
        <p:spPr>
          <a:xfrm>
            <a:off x="964023" y="776511"/>
            <a:ext cx="5703477" cy="610863"/>
          </a:xfrm>
        </p:spPr>
        <p:txBody>
          <a:bodyPr>
            <a:normAutofit fontScale="90000"/>
          </a:bodyPr>
          <a:lstStyle/>
          <a:p>
            <a:r>
              <a:rPr lang="en-US" dirty="0"/>
              <a:t>Population, Target Population, &amp; Sample</a:t>
            </a:r>
          </a:p>
        </p:txBody>
      </p:sp>
      <p:graphicFrame>
        <p:nvGraphicFramePr>
          <p:cNvPr id="5" name="Table 5">
            <a:extLst>
              <a:ext uri="{FF2B5EF4-FFF2-40B4-BE49-F238E27FC236}">
                <a16:creationId xmlns:a16="http://schemas.microsoft.com/office/drawing/2014/main" id="{7A4D7033-BBB5-A967-EB7E-78C3C39513F5}"/>
              </a:ext>
            </a:extLst>
          </p:cNvPr>
          <p:cNvGraphicFramePr>
            <a:graphicFrameLocks noGrp="1"/>
          </p:cNvGraphicFramePr>
          <p:nvPr>
            <p:ph type="tbl" sz="quarter" idx="10"/>
            <p:extLst>
              <p:ext uri="{D42A27DB-BD31-4B8C-83A1-F6EECF244321}">
                <p14:modId xmlns:p14="http://schemas.microsoft.com/office/powerpoint/2010/main" val="3098374064"/>
              </p:ext>
            </p:extLst>
          </p:nvPr>
        </p:nvGraphicFramePr>
        <p:xfrm>
          <a:off x="952500" y="1586547"/>
          <a:ext cx="10287000" cy="4673199"/>
        </p:xfrm>
        <a:graphic>
          <a:graphicData uri="http://schemas.openxmlformats.org/drawingml/2006/table">
            <a:tbl>
              <a:tblPr firstRow="1" bandRow="1">
                <a:tableStyleId>{5C22544A-7EE6-4342-B048-85BDC9FD1C3A}</a:tableStyleId>
              </a:tblPr>
              <a:tblGrid>
                <a:gridCol w="3429000">
                  <a:extLst>
                    <a:ext uri="{9D8B030D-6E8A-4147-A177-3AD203B41FA5}">
                      <a16:colId xmlns:a16="http://schemas.microsoft.com/office/drawing/2014/main" val="3085096031"/>
                    </a:ext>
                  </a:extLst>
                </a:gridCol>
                <a:gridCol w="3429000">
                  <a:extLst>
                    <a:ext uri="{9D8B030D-6E8A-4147-A177-3AD203B41FA5}">
                      <a16:colId xmlns:a16="http://schemas.microsoft.com/office/drawing/2014/main" val="4206925705"/>
                    </a:ext>
                  </a:extLst>
                </a:gridCol>
                <a:gridCol w="3429000">
                  <a:extLst>
                    <a:ext uri="{9D8B030D-6E8A-4147-A177-3AD203B41FA5}">
                      <a16:colId xmlns:a16="http://schemas.microsoft.com/office/drawing/2014/main" val="871669540"/>
                    </a:ext>
                  </a:extLst>
                </a:gridCol>
              </a:tblGrid>
              <a:tr h="466467">
                <a:tc>
                  <a:txBody>
                    <a:bodyPr/>
                    <a:lstStyle/>
                    <a:p>
                      <a:pPr algn="ctr"/>
                      <a:r>
                        <a:rPr lang="en-US" sz="2000" b="1" i="0" dirty="0">
                          <a:latin typeface="Calibri Light" panose="020F0302020204030204" pitchFamily="34" charset="0"/>
                          <a:cs typeface="Calibri Light" panose="020F0302020204030204" pitchFamily="34" charset="0"/>
                        </a:rPr>
                        <a:t>General Population</a:t>
                      </a:r>
                    </a:p>
                  </a:txBody>
                  <a:tcPr/>
                </a:tc>
                <a:tc>
                  <a:txBody>
                    <a:bodyPr/>
                    <a:lstStyle/>
                    <a:p>
                      <a:pPr algn="ctr"/>
                      <a:r>
                        <a:rPr lang="en-US" sz="2000" b="1" i="0" dirty="0">
                          <a:latin typeface="Calibri Light" panose="020F0302020204030204" pitchFamily="34" charset="0"/>
                          <a:cs typeface="Calibri Light" panose="020F0302020204030204" pitchFamily="34" charset="0"/>
                        </a:rPr>
                        <a:t>Target Population</a:t>
                      </a:r>
                    </a:p>
                  </a:txBody>
                  <a:tcPr/>
                </a:tc>
                <a:tc>
                  <a:txBody>
                    <a:bodyPr/>
                    <a:lstStyle/>
                    <a:p>
                      <a:pPr algn="ctr"/>
                      <a:r>
                        <a:rPr lang="en-US" sz="2000" b="1" i="0" dirty="0">
                          <a:latin typeface="Calibri Light" panose="020F0302020204030204" pitchFamily="34" charset="0"/>
                          <a:cs typeface="Calibri Light" panose="020F0302020204030204" pitchFamily="34" charset="0"/>
                        </a:rPr>
                        <a:t>Sample</a:t>
                      </a:r>
                    </a:p>
                  </a:txBody>
                  <a:tcPr/>
                </a:tc>
                <a:extLst>
                  <a:ext uri="{0D108BD9-81ED-4DB2-BD59-A6C34878D82A}">
                    <a16:rowId xmlns:a16="http://schemas.microsoft.com/office/drawing/2014/main" val="592574490"/>
                  </a:ext>
                </a:extLst>
              </a:tr>
              <a:tr h="2103366">
                <a:tc>
                  <a:txBody>
                    <a:bodyPr/>
                    <a:lstStyle/>
                    <a:p>
                      <a:endParaRPr lang="en-US" sz="1400" dirty="0"/>
                    </a:p>
                  </a:txBody>
                  <a:tcPr/>
                </a:tc>
                <a:tc>
                  <a:txBody>
                    <a:bodyPr/>
                    <a:lstStyle/>
                    <a:p>
                      <a:r>
                        <a:rPr lang="en-US" sz="1400" dirty="0"/>
                        <a:t>Target Population: Millennial Nurses</a:t>
                      </a:r>
                    </a:p>
                    <a:p>
                      <a:r>
                        <a:rPr lang="en-US" sz="1400" dirty="0"/>
                        <a:t>Age Range: 23 to 38 years</a:t>
                      </a:r>
                    </a:p>
                    <a:p>
                      <a:r>
                        <a:rPr lang="en-US" sz="1400" dirty="0"/>
                        <a:t>Relevance to Women's Health and Care</a:t>
                      </a:r>
                    </a:p>
                    <a:p>
                      <a:endParaRPr lang="en-US" sz="1400" dirty="0"/>
                    </a:p>
                  </a:txBody>
                  <a:tcPr/>
                </a:tc>
                <a:tc>
                  <a:txBody>
                    <a:bodyPr/>
                    <a:lstStyle/>
                    <a:p>
                      <a:r>
                        <a:rPr lang="en-US" sz="1400" dirty="0"/>
                        <a:t>Sampling Strategy: Probability Sampling</a:t>
                      </a:r>
                    </a:p>
                    <a:p>
                      <a:r>
                        <a:rPr lang="en-US" sz="1400" dirty="0"/>
                        <a:t>Random Selection from Nursing Institutions</a:t>
                      </a:r>
                    </a:p>
                    <a:p>
                      <a:r>
                        <a:rPr lang="en-US" sz="1400" dirty="0"/>
                        <a:t>Enhances Representativeness</a:t>
                      </a:r>
                    </a:p>
                    <a:p>
                      <a:r>
                        <a:rPr lang="en-US" sz="1400" dirty="0"/>
                        <a:t>Sample Size: Statistically Determined</a:t>
                      </a:r>
                    </a:p>
                    <a:p>
                      <a:r>
                        <a:rPr lang="en-US" sz="1400" dirty="0"/>
                        <a:t>Balancing Precision and Practicality</a:t>
                      </a:r>
                    </a:p>
                    <a:p>
                      <a:r>
                        <a:rPr lang="en-US" sz="1400" dirty="0"/>
                        <a:t>Adequate to Achieve Desired Confidence Level</a:t>
                      </a:r>
                    </a:p>
                    <a:p>
                      <a:endParaRPr lang="en-US" sz="1400" dirty="0"/>
                    </a:p>
                  </a:txBody>
                  <a:tcPr/>
                </a:tc>
                <a:extLst>
                  <a:ext uri="{0D108BD9-81ED-4DB2-BD59-A6C34878D82A}">
                    <a16:rowId xmlns:a16="http://schemas.microsoft.com/office/drawing/2014/main" val="2958231563"/>
                  </a:ext>
                </a:extLst>
              </a:tr>
              <a:tr h="2103366">
                <a:tc>
                  <a:txBody>
                    <a:bodyPr/>
                    <a:lstStyle/>
                    <a:p>
                      <a:endParaRPr lang="en-US" sz="1400"/>
                    </a:p>
                  </a:txBody>
                  <a:tcPr/>
                </a:tc>
                <a:tc>
                  <a:txBody>
                    <a:bodyPr/>
                    <a:lstStyle/>
                    <a:p>
                      <a:endParaRPr lang="en-US" sz="1400" dirty="0"/>
                    </a:p>
                  </a:txBody>
                  <a:tcPr/>
                </a:tc>
                <a:tc>
                  <a:txBody>
                    <a:bodyPr/>
                    <a:lstStyle/>
                    <a:p>
                      <a:r>
                        <a:rPr lang="en-US" sz="1400" dirty="0"/>
                        <a:t>Inclusion Criteria:</a:t>
                      </a:r>
                    </a:p>
                    <a:p>
                      <a:r>
                        <a:rPr lang="en-US" sz="1400" dirty="0"/>
                        <a:t>Active Nursing License</a:t>
                      </a:r>
                    </a:p>
                    <a:p>
                      <a:r>
                        <a:rPr lang="en-US" sz="1400" dirty="0"/>
                        <a:t>Direct Patient Care Experience</a:t>
                      </a:r>
                    </a:p>
                    <a:p>
                      <a:r>
                        <a:rPr lang="en-US" sz="1400" dirty="0"/>
                        <a:t>Exclusion Criteria:</a:t>
                      </a:r>
                    </a:p>
                    <a:p>
                      <a:r>
                        <a:rPr lang="en-US" sz="1400" dirty="0"/>
                        <a:t>Nurses Outside Age Range</a:t>
                      </a:r>
                    </a:p>
                    <a:p>
                      <a:r>
                        <a:rPr lang="en-US" sz="1400" dirty="0"/>
                        <a:t>Non-Patient Care Roles</a:t>
                      </a:r>
                    </a:p>
                  </a:txBody>
                  <a:tcPr/>
                </a:tc>
                <a:extLst>
                  <a:ext uri="{0D108BD9-81ED-4DB2-BD59-A6C34878D82A}">
                    <a16:rowId xmlns:a16="http://schemas.microsoft.com/office/drawing/2014/main" val="182481769"/>
                  </a:ext>
                </a:extLst>
              </a:tr>
            </a:tbl>
          </a:graphicData>
        </a:graphic>
      </p:graphicFrame>
      <p:sp>
        <p:nvSpPr>
          <p:cNvPr id="4" name="Footer Placeholder 3">
            <a:extLst>
              <a:ext uri="{FF2B5EF4-FFF2-40B4-BE49-F238E27FC236}">
                <a16:creationId xmlns:a16="http://schemas.microsoft.com/office/drawing/2014/main" id="{0350432F-C668-E28D-B8D4-7754964FCC05}"/>
              </a:ext>
            </a:extLst>
          </p:cNvPr>
          <p:cNvSpPr>
            <a:spLocks noGrp="1"/>
          </p:cNvSpPr>
          <p:nvPr>
            <p:ph type="ftr" sz="quarter" idx="3"/>
          </p:nvPr>
        </p:nvSpPr>
        <p:spPr/>
        <p:txBody>
          <a:bodyPr/>
          <a:lstStyle/>
          <a:p>
            <a:r>
              <a:rPr lang="en-US" sz="1400"/>
              <a:t>DOCTORATES WITH PURPOSE</a:t>
            </a:r>
            <a:endParaRPr lang="en-US" sz="1400" dirty="0"/>
          </a:p>
        </p:txBody>
      </p:sp>
    </p:spTree>
    <p:extLst>
      <p:ext uri="{BB962C8B-B14F-4D97-AF65-F5344CB8AC3E}">
        <p14:creationId xmlns:p14="http://schemas.microsoft.com/office/powerpoint/2010/main" val="8407882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B31C2-7F5F-35B2-EF38-47DA21A35751}"/>
              </a:ext>
            </a:extLst>
          </p:cNvPr>
          <p:cNvSpPr>
            <a:spLocks noGrp="1"/>
          </p:cNvSpPr>
          <p:nvPr>
            <p:ph type="title"/>
          </p:nvPr>
        </p:nvSpPr>
        <p:spPr/>
        <p:txBody>
          <a:bodyPr/>
          <a:lstStyle/>
          <a:p>
            <a:r>
              <a:rPr lang="en-US" dirty="0"/>
              <a:t>Instrumentation</a:t>
            </a:r>
          </a:p>
        </p:txBody>
      </p:sp>
      <p:graphicFrame>
        <p:nvGraphicFramePr>
          <p:cNvPr id="5" name="Table 5">
            <a:extLst>
              <a:ext uri="{FF2B5EF4-FFF2-40B4-BE49-F238E27FC236}">
                <a16:creationId xmlns:a16="http://schemas.microsoft.com/office/drawing/2014/main" id="{7E26E1B7-BEEF-93EB-6F47-A180D4D918A9}"/>
              </a:ext>
            </a:extLst>
          </p:cNvPr>
          <p:cNvGraphicFramePr>
            <a:graphicFrameLocks noGrp="1"/>
          </p:cNvGraphicFramePr>
          <p:nvPr>
            <p:ph type="tbl" sz="quarter" idx="10"/>
            <p:extLst>
              <p:ext uri="{D42A27DB-BD31-4B8C-83A1-F6EECF244321}">
                <p14:modId xmlns:p14="http://schemas.microsoft.com/office/powerpoint/2010/main" val="3992336049"/>
              </p:ext>
            </p:extLst>
          </p:nvPr>
        </p:nvGraphicFramePr>
        <p:xfrm>
          <a:off x="952500" y="1489926"/>
          <a:ext cx="10287000" cy="4745774"/>
        </p:xfrm>
        <a:graphic>
          <a:graphicData uri="http://schemas.openxmlformats.org/drawingml/2006/table">
            <a:tbl>
              <a:tblPr firstRow="1" bandRow="1">
                <a:tableStyleId>{5C22544A-7EE6-4342-B048-85BDC9FD1C3A}</a:tableStyleId>
              </a:tblPr>
              <a:tblGrid>
                <a:gridCol w="3429000">
                  <a:extLst>
                    <a:ext uri="{9D8B030D-6E8A-4147-A177-3AD203B41FA5}">
                      <a16:colId xmlns:a16="http://schemas.microsoft.com/office/drawing/2014/main" val="2731934533"/>
                    </a:ext>
                  </a:extLst>
                </a:gridCol>
                <a:gridCol w="3429000">
                  <a:extLst>
                    <a:ext uri="{9D8B030D-6E8A-4147-A177-3AD203B41FA5}">
                      <a16:colId xmlns:a16="http://schemas.microsoft.com/office/drawing/2014/main" val="3460883238"/>
                    </a:ext>
                  </a:extLst>
                </a:gridCol>
                <a:gridCol w="3429000">
                  <a:extLst>
                    <a:ext uri="{9D8B030D-6E8A-4147-A177-3AD203B41FA5}">
                      <a16:colId xmlns:a16="http://schemas.microsoft.com/office/drawing/2014/main" val="4277746913"/>
                    </a:ext>
                  </a:extLst>
                </a:gridCol>
              </a:tblGrid>
              <a:tr h="73968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i="0" kern="1200" dirty="0">
                          <a:solidFill>
                            <a:schemeClr val="tx1"/>
                          </a:solidFill>
                          <a:latin typeface="Calibri Light" panose="020F0302020204030204" pitchFamily="34" charset="0"/>
                          <a:ea typeface="+mn-ea"/>
                          <a:cs typeface="Calibri Light" panose="020F0302020204030204" pitchFamily="34" charset="0"/>
                        </a:rPr>
                        <a:t>Instrument #1: [insert name of instrument]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Calibri Light" panose="020F0302020204030204" pitchFamily="34" charset="0"/>
                          <a:ea typeface="+mn-ea"/>
                          <a:cs typeface="Calibri Light" panose="020F0302020204030204" pitchFamily="34" charset="0"/>
                        </a:rPr>
                        <a:t>Instrument #2: [insert name of instrument]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Calibri Light" panose="020F0302020204030204" pitchFamily="34" charset="0"/>
                          <a:ea typeface="+mn-ea"/>
                          <a:cs typeface="Calibri Light" panose="020F0302020204030204" pitchFamily="34" charset="0"/>
                        </a:rPr>
                        <a:t>Instrument #3: [insert name of instrument]</a:t>
                      </a:r>
                    </a:p>
                  </a:txBody>
                  <a:tcPr/>
                </a:tc>
                <a:extLst>
                  <a:ext uri="{0D108BD9-81ED-4DB2-BD59-A6C34878D82A}">
                    <a16:rowId xmlns:a16="http://schemas.microsoft.com/office/drawing/2014/main" val="138880956"/>
                  </a:ext>
                </a:extLst>
              </a:tr>
              <a:tr h="4006090">
                <a:tc>
                  <a:txBody>
                    <a:bodyPr/>
                    <a:lstStyle/>
                    <a:p>
                      <a:r>
                        <a:rPr lang="en-US" sz="1400" dirty="0"/>
                        <a:t>General Self-Efficacy Scale (GSE)</a:t>
                      </a:r>
                    </a:p>
                    <a:p>
                      <a:endParaRPr lang="en-US" sz="1400" dirty="0"/>
                    </a:p>
                  </a:txBody>
                  <a:tcPr/>
                </a:tc>
                <a:tc>
                  <a:txBody>
                    <a:bodyPr/>
                    <a:lstStyle/>
                    <a:p>
                      <a:r>
                        <a:rPr lang="en-US" sz="1400" dirty="0"/>
                        <a:t>Measures nurses' self-efficacy beliefs</a:t>
                      </a:r>
                    </a:p>
                    <a:p>
                      <a:r>
                        <a:rPr lang="en-US" sz="1400" dirty="0"/>
                        <a:t>10-item Likert scale questionnaire</a:t>
                      </a:r>
                    </a:p>
                    <a:p>
                      <a:r>
                        <a:rPr lang="en-US" sz="1400" dirty="0"/>
                        <a:t>Validated and widely used in psychological research</a:t>
                      </a:r>
                    </a:p>
                  </a:txBody>
                  <a:tcPr/>
                </a:tc>
                <a:tc>
                  <a:txBody>
                    <a:bodyPr/>
                    <a:lstStyle/>
                    <a:p>
                      <a:endParaRPr lang="en-US" sz="1400" dirty="0"/>
                    </a:p>
                  </a:txBody>
                  <a:tcPr/>
                </a:tc>
                <a:extLst>
                  <a:ext uri="{0D108BD9-81ED-4DB2-BD59-A6C34878D82A}">
                    <a16:rowId xmlns:a16="http://schemas.microsoft.com/office/drawing/2014/main" val="1698981370"/>
                  </a:ext>
                </a:extLst>
              </a:tr>
            </a:tbl>
          </a:graphicData>
        </a:graphic>
      </p:graphicFrame>
      <p:sp>
        <p:nvSpPr>
          <p:cNvPr id="4" name="Footer Placeholder 3">
            <a:extLst>
              <a:ext uri="{FF2B5EF4-FFF2-40B4-BE49-F238E27FC236}">
                <a16:creationId xmlns:a16="http://schemas.microsoft.com/office/drawing/2014/main" id="{D5CD2BC7-33B9-62C2-825F-F9ABAD477A23}"/>
              </a:ext>
            </a:extLst>
          </p:cNvPr>
          <p:cNvSpPr>
            <a:spLocks noGrp="1"/>
          </p:cNvSpPr>
          <p:nvPr>
            <p:ph type="ftr" sz="quarter" idx="3"/>
          </p:nvPr>
        </p:nvSpPr>
        <p:spPr/>
        <p:txBody>
          <a:bodyPr/>
          <a:lstStyle/>
          <a:p>
            <a:r>
              <a:rPr lang="en-US" sz="1400"/>
              <a:t>DOCTORATES WITH PURPOSE</a:t>
            </a:r>
            <a:endParaRPr lang="en-US" sz="1400" dirty="0"/>
          </a:p>
        </p:txBody>
      </p:sp>
    </p:spTree>
    <p:extLst>
      <p:ext uri="{BB962C8B-B14F-4D97-AF65-F5344CB8AC3E}">
        <p14:creationId xmlns:p14="http://schemas.microsoft.com/office/powerpoint/2010/main" val="32607514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AEB75-77DE-D186-E419-81960E60D5A3}"/>
              </a:ext>
            </a:extLst>
          </p:cNvPr>
          <p:cNvSpPr>
            <a:spLocks noGrp="1"/>
          </p:cNvSpPr>
          <p:nvPr>
            <p:ph type="title"/>
          </p:nvPr>
        </p:nvSpPr>
        <p:spPr>
          <a:xfrm>
            <a:off x="964023" y="879063"/>
            <a:ext cx="7227477" cy="610863"/>
          </a:xfrm>
        </p:spPr>
        <p:txBody>
          <a:bodyPr>
            <a:normAutofit fontScale="90000"/>
          </a:bodyPr>
          <a:lstStyle/>
          <a:p>
            <a:r>
              <a:rPr lang="en-US" sz="4400" dirty="0">
                <a:solidFill>
                  <a:schemeClr val="bg1"/>
                </a:solidFill>
              </a:rPr>
              <a:t>Data Collection Steps: Slide 1</a:t>
            </a:r>
            <a:br>
              <a:rPr lang="en-US" sz="4400" dirty="0">
                <a:solidFill>
                  <a:schemeClr val="bg1"/>
                </a:solidFill>
              </a:rPr>
            </a:br>
            <a:r>
              <a:rPr lang="en-US" sz="4000" dirty="0">
                <a:solidFill>
                  <a:schemeClr val="bg1"/>
                </a:solidFill>
              </a:rPr>
              <a:t>Required Permissions</a:t>
            </a:r>
            <a:endParaRPr lang="en-US" dirty="0"/>
          </a:p>
        </p:txBody>
      </p:sp>
      <p:sp>
        <p:nvSpPr>
          <p:cNvPr id="3" name="Text Placeholder 2">
            <a:extLst>
              <a:ext uri="{FF2B5EF4-FFF2-40B4-BE49-F238E27FC236}">
                <a16:creationId xmlns:a16="http://schemas.microsoft.com/office/drawing/2014/main" id="{B499488D-23BE-21D5-F9F6-D76553281070}"/>
              </a:ext>
            </a:extLst>
          </p:cNvPr>
          <p:cNvSpPr>
            <a:spLocks noGrp="1"/>
          </p:cNvSpPr>
          <p:nvPr>
            <p:ph type="body" idx="1"/>
          </p:nvPr>
        </p:nvSpPr>
        <p:spPr>
          <a:xfrm>
            <a:off x="964023" y="2192821"/>
            <a:ext cx="10154918" cy="404216"/>
          </a:xfrm>
        </p:spPr>
        <p:txBody>
          <a:bodyPr>
            <a:normAutofit/>
          </a:bodyPr>
          <a:lstStyle/>
          <a:p>
            <a:pPr algn="ctr"/>
            <a:r>
              <a:rPr lang="en-US" sz="2400" b="1" dirty="0">
                <a:latin typeface="+mn-lt"/>
              </a:rPr>
              <a:t>Required permissions/approvals (prior to data collection)</a:t>
            </a:r>
            <a:endParaRPr lang="en-US" sz="2400" dirty="0"/>
          </a:p>
        </p:txBody>
      </p:sp>
      <p:sp>
        <p:nvSpPr>
          <p:cNvPr id="5" name="Content Placeholder 4">
            <a:extLst>
              <a:ext uri="{FF2B5EF4-FFF2-40B4-BE49-F238E27FC236}">
                <a16:creationId xmlns:a16="http://schemas.microsoft.com/office/drawing/2014/main" id="{FC3D6EA7-8467-CE83-EC59-B4242BD905E9}"/>
              </a:ext>
            </a:extLst>
          </p:cNvPr>
          <p:cNvSpPr>
            <a:spLocks noGrp="1"/>
          </p:cNvSpPr>
          <p:nvPr>
            <p:ph sz="half" idx="2"/>
          </p:nvPr>
        </p:nvSpPr>
        <p:spPr>
          <a:xfrm>
            <a:off x="964023" y="2799145"/>
            <a:ext cx="4827178" cy="3563153"/>
          </a:xfrm>
        </p:spPr>
        <p:txBody>
          <a:bodyPr>
            <a:normAutofit/>
          </a:bodyPr>
          <a:lstStyle/>
          <a:p>
            <a:r>
              <a:rPr lang="en-US" sz="2800" dirty="0"/>
              <a:t>I Will obtain all the necessary </a:t>
            </a:r>
            <a:r>
              <a:rPr lang="en-US" sz="2800" dirty="0" err="1"/>
              <a:t>persmissions</a:t>
            </a:r>
            <a:endParaRPr lang="en-US" sz="2800" dirty="0"/>
          </a:p>
          <a:p>
            <a:endParaRPr lang="en-US" sz="2800" dirty="0"/>
          </a:p>
        </p:txBody>
      </p:sp>
      <p:sp>
        <p:nvSpPr>
          <p:cNvPr id="6" name="Content Placeholder 5">
            <a:extLst>
              <a:ext uri="{FF2B5EF4-FFF2-40B4-BE49-F238E27FC236}">
                <a16:creationId xmlns:a16="http://schemas.microsoft.com/office/drawing/2014/main" id="{A282E8F7-D774-14BB-2D2B-2FE0F4EF5256}"/>
              </a:ext>
            </a:extLst>
          </p:cNvPr>
          <p:cNvSpPr>
            <a:spLocks noGrp="1"/>
          </p:cNvSpPr>
          <p:nvPr>
            <p:ph sz="half" idx="13"/>
          </p:nvPr>
        </p:nvSpPr>
        <p:spPr>
          <a:xfrm>
            <a:off x="6362700" y="2799146"/>
            <a:ext cx="4756241" cy="3563152"/>
          </a:xfrm>
        </p:spPr>
        <p:txBody>
          <a:bodyPr>
            <a:normAutofit/>
          </a:bodyPr>
          <a:lstStyle/>
          <a:p>
            <a:r>
              <a:rPr lang="en-US" sz="2400" dirty="0"/>
              <a:t>GCU Chair and Committee Approvals</a:t>
            </a:r>
          </a:p>
          <a:p>
            <a:r>
              <a:rPr lang="en-US" sz="2400" dirty="0"/>
              <a:t>AQR Approval </a:t>
            </a:r>
          </a:p>
          <a:p>
            <a:r>
              <a:rPr lang="en-US" sz="2400" dirty="0"/>
              <a:t>IRB Approval</a:t>
            </a:r>
          </a:p>
          <a:p>
            <a:r>
              <a:rPr lang="en-US" sz="2400" dirty="0"/>
              <a:t>Informed Consent form from individual participants</a:t>
            </a:r>
          </a:p>
        </p:txBody>
      </p:sp>
      <p:sp>
        <p:nvSpPr>
          <p:cNvPr id="7" name="Footer Placeholder 6">
            <a:extLst>
              <a:ext uri="{FF2B5EF4-FFF2-40B4-BE49-F238E27FC236}">
                <a16:creationId xmlns:a16="http://schemas.microsoft.com/office/drawing/2014/main" id="{605A5943-C61C-2C6E-FFBD-FAE3194EC931}"/>
              </a:ext>
            </a:extLst>
          </p:cNvPr>
          <p:cNvSpPr>
            <a:spLocks noGrp="1"/>
          </p:cNvSpPr>
          <p:nvPr>
            <p:ph type="ftr" sz="quarter" idx="3"/>
          </p:nvPr>
        </p:nvSpPr>
        <p:spPr/>
        <p:txBody>
          <a:bodyPr/>
          <a:lstStyle/>
          <a:p>
            <a:r>
              <a:rPr lang="en-US" sz="1400"/>
              <a:t>DOCTORATES WITH PURPOSE</a:t>
            </a:r>
            <a:endParaRPr lang="en-US" sz="1400" dirty="0"/>
          </a:p>
        </p:txBody>
      </p:sp>
    </p:spTree>
    <p:extLst>
      <p:ext uri="{BB962C8B-B14F-4D97-AF65-F5344CB8AC3E}">
        <p14:creationId xmlns:p14="http://schemas.microsoft.com/office/powerpoint/2010/main" val="12374783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E8C43-45C2-6652-9D58-C838A58AA0FE}"/>
              </a:ext>
            </a:extLst>
          </p:cNvPr>
          <p:cNvSpPr>
            <a:spLocks noGrp="1"/>
          </p:cNvSpPr>
          <p:nvPr>
            <p:ph type="title"/>
          </p:nvPr>
        </p:nvSpPr>
        <p:spPr/>
        <p:txBody>
          <a:bodyPr>
            <a:normAutofit fontScale="90000"/>
          </a:bodyPr>
          <a:lstStyle/>
          <a:p>
            <a:r>
              <a:rPr lang="en-US" sz="4800" dirty="0"/>
              <a:t>Data Collection Steps: Slide 2</a:t>
            </a:r>
            <a:br>
              <a:rPr lang="en-US" sz="4400" dirty="0"/>
            </a:br>
            <a:r>
              <a:rPr lang="en-US" sz="4200" dirty="0"/>
              <a:t>Sampling Strategy and Sample Selection</a:t>
            </a:r>
          </a:p>
        </p:txBody>
      </p:sp>
      <p:sp>
        <p:nvSpPr>
          <p:cNvPr id="4" name="Footer Placeholder 3">
            <a:extLst>
              <a:ext uri="{FF2B5EF4-FFF2-40B4-BE49-F238E27FC236}">
                <a16:creationId xmlns:a16="http://schemas.microsoft.com/office/drawing/2014/main" id="{4FA3DFE9-6B05-04B4-438C-3DB1CA324EF7}"/>
              </a:ext>
            </a:extLst>
          </p:cNvPr>
          <p:cNvSpPr>
            <a:spLocks noGrp="1"/>
          </p:cNvSpPr>
          <p:nvPr>
            <p:ph type="ftr" sz="quarter" idx="3"/>
          </p:nvPr>
        </p:nvSpPr>
        <p:spPr/>
        <p:txBody>
          <a:bodyPr/>
          <a:lstStyle/>
          <a:p>
            <a:r>
              <a:rPr lang="en-US" sz="1400"/>
              <a:t>DOCTORATES WITH PURPOSE</a:t>
            </a:r>
            <a:endParaRPr lang="en-US" sz="1400" dirty="0"/>
          </a:p>
        </p:txBody>
      </p:sp>
      <p:sp>
        <p:nvSpPr>
          <p:cNvPr id="7" name="Text Placeholder 6">
            <a:extLst>
              <a:ext uri="{FF2B5EF4-FFF2-40B4-BE49-F238E27FC236}">
                <a16:creationId xmlns:a16="http://schemas.microsoft.com/office/drawing/2014/main" id="{B451CA2D-1988-4B63-9F5C-69812895DAE1}"/>
              </a:ext>
            </a:extLst>
          </p:cNvPr>
          <p:cNvSpPr>
            <a:spLocks noGrp="1"/>
          </p:cNvSpPr>
          <p:nvPr>
            <p:ph type="body" sz="quarter" idx="10"/>
          </p:nvPr>
        </p:nvSpPr>
        <p:spPr/>
        <p:txBody>
          <a:bodyPr>
            <a:normAutofit fontScale="77500" lnSpcReduction="20000"/>
          </a:bodyPr>
          <a:lstStyle/>
          <a:p>
            <a:pPr lvl="0"/>
            <a:r>
              <a:rPr lang="en-US" dirty="0"/>
              <a:t>Target Population: Millennial Nurses</a:t>
            </a:r>
          </a:p>
          <a:p>
            <a:pPr lvl="1"/>
            <a:r>
              <a:rPr lang="en-US" dirty="0"/>
              <a:t>Age Range: 23 to 38 years</a:t>
            </a:r>
          </a:p>
          <a:p>
            <a:pPr lvl="1"/>
            <a:r>
              <a:rPr lang="en-US" dirty="0"/>
              <a:t>Relevance to Women's Health and Care</a:t>
            </a:r>
          </a:p>
          <a:p>
            <a:pPr lvl="0"/>
            <a:r>
              <a:rPr lang="en-US" dirty="0"/>
              <a:t>Sampling Strategy: Probability Sampling</a:t>
            </a:r>
          </a:p>
          <a:p>
            <a:pPr lvl="1"/>
            <a:r>
              <a:rPr lang="en-US" dirty="0"/>
              <a:t>Random Selection from Nursing Institutions</a:t>
            </a:r>
          </a:p>
          <a:p>
            <a:pPr lvl="1"/>
            <a:r>
              <a:rPr lang="en-US" dirty="0"/>
              <a:t>Enhances Representativeness</a:t>
            </a:r>
          </a:p>
          <a:p>
            <a:pPr lvl="0"/>
            <a:r>
              <a:rPr lang="en-US" dirty="0"/>
              <a:t>Sample Size: Statistically Determined</a:t>
            </a:r>
          </a:p>
          <a:p>
            <a:pPr lvl="1"/>
            <a:r>
              <a:rPr lang="en-US" dirty="0"/>
              <a:t>Balancing Precision and Practicality</a:t>
            </a:r>
          </a:p>
          <a:p>
            <a:pPr lvl="1"/>
            <a:r>
              <a:rPr lang="en-US" dirty="0"/>
              <a:t>Adequate to Achieve Desired Confidence Level</a:t>
            </a:r>
          </a:p>
          <a:p>
            <a:pPr lvl="0"/>
            <a:r>
              <a:rPr lang="en-US" dirty="0"/>
              <a:t>Inclusion Criteria:</a:t>
            </a:r>
          </a:p>
          <a:p>
            <a:pPr lvl="1"/>
            <a:r>
              <a:rPr lang="en-US" dirty="0"/>
              <a:t>Active Nursing License</a:t>
            </a:r>
          </a:p>
          <a:p>
            <a:pPr lvl="1"/>
            <a:r>
              <a:rPr lang="en-US" dirty="0"/>
              <a:t>Direct Patient Care Experience</a:t>
            </a:r>
          </a:p>
          <a:p>
            <a:pPr lvl="0"/>
            <a:r>
              <a:rPr lang="en-US" dirty="0"/>
              <a:t>Exclusion Criteria:</a:t>
            </a:r>
          </a:p>
          <a:p>
            <a:pPr lvl="1"/>
            <a:r>
              <a:rPr lang="en-US" dirty="0"/>
              <a:t>Nurses Outside Age Range</a:t>
            </a:r>
          </a:p>
          <a:p>
            <a:pPr lvl="1"/>
            <a:r>
              <a:rPr lang="en-US" dirty="0"/>
              <a:t>Non-Patient Care Roles</a:t>
            </a:r>
          </a:p>
          <a:p>
            <a:endParaRPr lang="en-US" dirty="0"/>
          </a:p>
        </p:txBody>
      </p:sp>
    </p:spTree>
    <p:extLst>
      <p:ext uri="{BB962C8B-B14F-4D97-AF65-F5344CB8AC3E}">
        <p14:creationId xmlns:p14="http://schemas.microsoft.com/office/powerpoint/2010/main" val="35355522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56292-9C20-4E2F-FEEA-27E61D0E8D93}"/>
              </a:ext>
            </a:extLst>
          </p:cNvPr>
          <p:cNvSpPr>
            <a:spLocks noGrp="1"/>
          </p:cNvSpPr>
          <p:nvPr>
            <p:ph type="title"/>
          </p:nvPr>
        </p:nvSpPr>
        <p:spPr>
          <a:xfrm>
            <a:off x="964023" y="879063"/>
            <a:ext cx="7405277" cy="610863"/>
          </a:xfrm>
        </p:spPr>
        <p:txBody>
          <a:bodyPr>
            <a:normAutofit fontScale="90000"/>
          </a:bodyPr>
          <a:lstStyle/>
          <a:p>
            <a:r>
              <a:rPr lang="en-US" sz="4400" dirty="0"/>
              <a:t>Data Collection Steps: Slide 3</a:t>
            </a:r>
            <a:br>
              <a:rPr lang="en-US" sz="4800" dirty="0"/>
            </a:br>
            <a:r>
              <a:rPr lang="en-US" sz="4800" dirty="0"/>
              <a:t> </a:t>
            </a:r>
            <a:r>
              <a:rPr lang="en-US" sz="4000" dirty="0"/>
              <a:t>Collecting the Data</a:t>
            </a:r>
            <a:endParaRPr lang="en-US" dirty="0"/>
          </a:p>
        </p:txBody>
      </p:sp>
      <p:sp>
        <p:nvSpPr>
          <p:cNvPr id="3" name="Text Placeholder 2">
            <a:extLst>
              <a:ext uri="{FF2B5EF4-FFF2-40B4-BE49-F238E27FC236}">
                <a16:creationId xmlns:a16="http://schemas.microsoft.com/office/drawing/2014/main" id="{E0D0E554-B322-9F37-E157-C0EDF3BD93D4}"/>
              </a:ext>
            </a:extLst>
          </p:cNvPr>
          <p:cNvSpPr>
            <a:spLocks noGrp="1"/>
          </p:cNvSpPr>
          <p:nvPr>
            <p:ph type="body" sz="quarter" idx="10"/>
          </p:nvPr>
        </p:nvSpPr>
        <p:spPr/>
        <p:txBody>
          <a:bodyPr/>
          <a:lstStyle/>
          <a:p>
            <a:pPr lvl="0"/>
            <a:r>
              <a:rPr lang="en-US" dirty="0"/>
              <a:t>Surveys:</a:t>
            </a:r>
            <a:br>
              <a:rPr lang="en-US" dirty="0"/>
            </a:br>
            <a:r>
              <a:rPr lang="en-US" dirty="0"/>
              <a:t>Structured Questionnaires</a:t>
            </a:r>
          </a:p>
          <a:p>
            <a:pPr lvl="0"/>
            <a:r>
              <a:rPr lang="en-US" dirty="0"/>
              <a:t>Closed-Ended Questions</a:t>
            </a:r>
          </a:p>
          <a:p>
            <a:pPr lvl="0"/>
            <a:r>
              <a:rPr lang="en-US" dirty="0"/>
              <a:t>General Self-Efficacy Scale (GSE) Questionnaire</a:t>
            </a:r>
          </a:p>
          <a:p>
            <a:endParaRPr lang="en-US" dirty="0"/>
          </a:p>
        </p:txBody>
      </p:sp>
      <p:sp>
        <p:nvSpPr>
          <p:cNvPr id="4" name="Footer Placeholder 3">
            <a:extLst>
              <a:ext uri="{FF2B5EF4-FFF2-40B4-BE49-F238E27FC236}">
                <a16:creationId xmlns:a16="http://schemas.microsoft.com/office/drawing/2014/main" id="{440DE1F7-68AC-A713-B626-D3DD7A97CA9B}"/>
              </a:ext>
            </a:extLst>
          </p:cNvPr>
          <p:cNvSpPr>
            <a:spLocks noGrp="1"/>
          </p:cNvSpPr>
          <p:nvPr>
            <p:ph type="ftr" sz="quarter" idx="3"/>
          </p:nvPr>
        </p:nvSpPr>
        <p:spPr/>
        <p:txBody>
          <a:bodyPr/>
          <a:lstStyle/>
          <a:p>
            <a:r>
              <a:rPr lang="en-US" sz="1400"/>
              <a:t>DOCTORATES WITH PURPOSE</a:t>
            </a:r>
            <a:endParaRPr lang="en-US" sz="1400" dirty="0"/>
          </a:p>
        </p:txBody>
      </p:sp>
    </p:spTree>
    <p:extLst>
      <p:ext uri="{BB962C8B-B14F-4D97-AF65-F5344CB8AC3E}">
        <p14:creationId xmlns:p14="http://schemas.microsoft.com/office/powerpoint/2010/main" val="7076658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56292-9C20-4E2F-FEEA-27E61D0E8D93}"/>
              </a:ext>
            </a:extLst>
          </p:cNvPr>
          <p:cNvSpPr>
            <a:spLocks noGrp="1"/>
          </p:cNvSpPr>
          <p:nvPr>
            <p:ph type="title"/>
          </p:nvPr>
        </p:nvSpPr>
        <p:spPr>
          <a:xfrm>
            <a:off x="964023" y="879063"/>
            <a:ext cx="7405277" cy="610863"/>
          </a:xfrm>
        </p:spPr>
        <p:txBody>
          <a:bodyPr>
            <a:normAutofit fontScale="90000"/>
          </a:bodyPr>
          <a:lstStyle/>
          <a:p>
            <a:r>
              <a:rPr lang="en-US" sz="4400" dirty="0"/>
              <a:t>Data Collection Steps: Slide 4</a:t>
            </a:r>
            <a:br>
              <a:rPr lang="en-US" sz="4400" dirty="0"/>
            </a:br>
            <a:r>
              <a:rPr lang="en-US" sz="3600" dirty="0"/>
              <a:t>Data Management and Storage</a:t>
            </a:r>
            <a:endParaRPr lang="en-US" dirty="0"/>
          </a:p>
        </p:txBody>
      </p:sp>
      <p:sp>
        <p:nvSpPr>
          <p:cNvPr id="3" name="Text Placeholder 2">
            <a:extLst>
              <a:ext uri="{FF2B5EF4-FFF2-40B4-BE49-F238E27FC236}">
                <a16:creationId xmlns:a16="http://schemas.microsoft.com/office/drawing/2014/main" id="{E0D0E554-B322-9F37-E157-C0EDF3BD93D4}"/>
              </a:ext>
            </a:extLst>
          </p:cNvPr>
          <p:cNvSpPr>
            <a:spLocks noGrp="1"/>
          </p:cNvSpPr>
          <p:nvPr>
            <p:ph type="body" sz="quarter" idx="10"/>
          </p:nvPr>
        </p:nvSpPr>
        <p:spPr/>
        <p:txBody>
          <a:bodyPr/>
          <a:lstStyle/>
          <a:p>
            <a:r>
              <a:rPr lang="en-US" sz="2800" dirty="0">
                <a:cs typeface="Calibri Light" panose="020F0302020204030204" pitchFamily="34" charset="0"/>
              </a:rPr>
              <a:t>Where will you store the data? </a:t>
            </a:r>
          </a:p>
          <a:p>
            <a:pPr lvl="1"/>
            <a:r>
              <a:rPr lang="en-US" dirty="0">
                <a:cs typeface="Calibri Light" panose="020F0302020204030204" pitchFamily="34" charset="0"/>
              </a:rPr>
              <a:t>Electronically</a:t>
            </a:r>
          </a:p>
          <a:p>
            <a:r>
              <a:rPr lang="en-US" sz="2800" dirty="0">
                <a:cs typeface="Calibri Light" panose="020F0302020204030204" pitchFamily="34" charset="0"/>
              </a:rPr>
              <a:t>How long will you store the data? </a:t>
            </a:r>
          </a:p>
          <a:p>
            <a:pPr lvl="1"/>
            <a:r>
              <a:rPr lang="en-US" dirty="0">
                <a:cs typeface="Calibri Light" panose="020F0302020204030204" pitchFamily="34" charset="0"/>
              </a:rPr>
              <a:t>For as long as the Dissertation will last</a:t>
            </a:r>
          </a:p>
          <a:p>
            <a:r>
              <a:rPr lang="en-US" sz="2800" dirty="0">
                <a:cs typeface="Calibri Light" panose="020F0302020204030204" pitchFamily="34" charset="0"/>
              </a:rPr>
              <a:t>How will you protect the data? </a:t>
            </a:r>
          </a:p>
          <a:p>
            <a:pPr lvl="1"/>
            <a:r>
              <a:rPr lang="en-US" dirty="0">
                <a:cs typeface="Calibri Light" panose="020F0302020204030204" pitchFamily="34" charset="0"/>
              </a:rPr>
              <a:t>Compliance with the Data regulations</a:t>
            </a:r>
          </a:p>
          <a:p>
            <a:r>
              <a:rPr lang="en-US" sz="2800" dirty="0">
                <a:cs typeface="Calibri Light" panose="020F0302020204030204" pitchFamily="34" charset="0"/>
              </a:rPr>
              <a:t>How will you destroy the data? </a:t>
            </a:r>
          </a:p>
        </p:txBody>
      </p:sp>
      <p:sp>
        <p:nvSpPr>
          <p:cNvPr id="4" name="Footer Placeholder 3">
            <a:extLst>
              <a:ext uri="{FF2B5EF4-FFF2-40B4-BE49-F238E27FC236}">
                <a16:creationId xmlns:a16="http://schemas.microsoft.com/office/drawing/2014/main" id="{440DE1F7-68AC-A713-B626-D3DD7A97CA9B}"/>
              </a:ext>
            </a:extLst>
          </p:cNvPr>
          <p:cNvSpPr>
            <a:spLocks noGrp="1"/>
          </p:cNvSpPr>
          <p:nvPr>
            <p:ph type="ftr" sz="quarter" idx="3"/>
          </p:nvPr>
        </p:nvSpPr>
        <p:spPr/>
        <p:txBody>
          <a:bodyPr/>
          <a:lstStyle/>
          <a:p>
            <a:r>
              <a:rPr lang="en-US" sz="1400"/>
              <a:t>DOCTORATES WITH PURPOSE</a:t>
            </a:r>
            <a:endParaRPr lang="en-US" sz="1400" dirty="0"/>
          </a:p>
        </p:txBody>
      </p:sp>
    </p:spTree>
    <p:extLst>
      <p:ext uri="{BB962C8B-B14F-4D97-AF65-F5344CB8AC3E}">
        <p14:creationId xmlns:p14="http://schemas.microsoft.com/office/powerpoint/2010/main" val="34859008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56292-9C20-4E2F-FEEA-27E61D0E8D93}"/>
              </a:ext>
            </a:extLst>
          </p:cNvPr>
          <p:cNvSpPr>
            <a:spLocks noGrp="1"/>
          </p:cNvSpPr>
          <p:nvPr>
            <p:ph type="title"/>
          </p:nvPr>
        </p:nvSpPr>
        <p:spPr>
          <a:xfrm>
            <a:off x="964023" y="879063"/>
            <a:ext cx="8129177" cy="610863"/>
          </a:xfrm>
        </p:spPr>
        <p:txBody>
          <a:bodyPr>
            <a:normAutofit fontScale="90000"/>
          </a:bodyPr>
          <a:lstStyle/>
          <a:p>
            <a:r>
              <a:rPr lang="en-US" sz="4400" dirty="0"/>
              <a:t>Data Analysis Steps: Slide 2</a:t>
            </a:r>
            <a:br>
              <a:rPr lang="en-US" sz="4400" dirty="0"/>
            </a:br>
            <a:r>
              <a:rPr lang="en-US" sz="4400" dirty="0"/>
              <a:t>Hypothesis #2 – Analysis Strategy</a:t>
            </a:r>
            <a:endParaRPr lang="en-US" dirty="0"/>
          </a:p>
        </p:txBody>
      </p:sp>
      <p:sp>
        <p:nvSpPr>
          <p:cNvPr id="3" name="Text Placeholder 2">
            <a:extLst>
              <a:ext uri="{FF2B5EF4-FFF2-40B4-BE49-F238E27FC236}">
                <a16:creationId xmlns:a16="http://schemas.microsoft.com/office/drawing/2014/main" id="{E0D0E554-B322-9F37-E157-C0EDF3BD93D4}"/>
              </a:ext>
            </a:extLst>
          </p:cNvPr>
          <p:cNvSpPr>
            <a:spLocks noGrp="1"/>
          </p:cNvSpPr>
          <p:nvPr>
            <p:ph type="body" sz="quarter" idx="10"/>
          </p:nvPr>
        </p:nvSpPr>
        <p:spPr/>
        <p:txBody>
          <a:bodyPr>
            <a:normAutofit fontScale="25000" lnSpcReduction="20000"/>
          </a:bodyPr>
          <a:lstStyle/>
          <a:p>
            <a:pPr marL="0" indent="0">
              <a:buNone/>
            </a:pPr>
            <a:r>
              <a:rPr lang="en-US" dirty="0">
                <a:cs typeface="Calibri Light" panose="020F0302020204030204" pitchFamily="34" charset="0"/>
              </a:rPr>
              <a:t>Thematic Analysis Method:</a:t>
            </a:r>
          </a:p>
          <a:p>
            <a:pPr marL="0" indent="0">
              <a:buNone/>
            </a:pPr>
            <a:r>
              <a:rPr lang="en-US" dirty="0">
                <a:cs typeface="Calibri Light" panose="020F0302020204030204" pitchFamily="34" charset="0"/>
              </a:rPr>
              <a:t>Qualitative Approach to Analyzing Open-Ended Responses</a:t>
            </a:r>
          </a:p>
          <a:p>
            <a:pPr marL="0" indent="0">
              <a:buNone/>
            </a:pPr>
            <a:r>
              <a:rPr lang="en-US" dirty="0">
                <a:cs typeface="Calibri Light" panose="020F0302020204030204" pitchFamily="34" charset="0"/>
              </a:rPr>
              <a:t>Identifying Patterns, Trends, and Themes</a:t>
            </a:r>
          </a:p>
          <a:p>
            <a:pPr marL="0" indent="0">
              <a:buNone/>
            </a:pPr>
            <a:r>
              <a:rPr lang="en-US" dirty="0">
                <a:cs typeface="Calibri Light" panose="020F0302020204030204" pitchFamily="34" charset="0"/>
              </a:rPr>
              <a:t>Coding Process:</a:t>
            </a:r>
          </a:p>
          <a:p>
            <a:pPr marL="0" indent="0">
              <a:buNone/>
            </a:pPr>
            <a:r>
              <a:rPr lang="en-US" dirty="0">
                <a:cs typeface="Calibri Light" panose="020F0302020204030204" pitchFamily="34" charset="0"/>
              </a:rPr>
              <a:t>Initial Coding for Data Segmentation</a:t>
            </a:r>
          </a:p>
          <a:p>
            <a:pPr marL="0" indent="0">
              <a:buNone/>
            </a:pPr>
            <a:r>
              <a:rPr lang="en-US" dirty="0">
                <a:cs typeface="Calibri Light" panose="020F0302020204030204" pitchFamily="34" charset="0"/>
              </a:rPr>
              <a:t>Developing Categories and Subcategories</a:t>
            </a:r>
          </a:p>
          <a:p>
            <a:pPr marL="0" indent="0">
              <a:buNone/>
            </a:pPr>
            <a:r>
              <a:rPr lang="en-US" dirty="0">
                <a:cs typeface="Calibri Light" panose="020F0302020204030204" pitchFamily="34" charset="0"/>
              </a:rPr>
              <a:t>Revisiting Codes for Consistency and Accuracy</a:t>
            </a:r>
          </a:p>
          <a:p>
            <a:pPr marL="0" indent="0">
              <a:buNone/>
            </a:pPr>
            <a:r>
              <a:rPr lang="en-US" dirty="0">
                <a:cs typeface="Calibri Light" panose="020F0302020204030204" pitchFamily="34" charset="0"/>
              </a:rPr>
              <a:t>Data Management:</a:t>
            </a:r>
          </a:p>
          <a:p>
            <a:pPr marL="0" indent="0">
              <a:buNone/>
            </a:pPr>
            <a:r>
              <a:rPr lang="en-US" dirty="0">
                <a:cs typeface="Calibri Light" panose="020F0302020204030204" pitchFamily="34" charset="0"/>
              </a:rPr>
              <a:t>Organizing and Storing Data for Analysis</a:t>
            </a:r>
          </a:p>
          <a:p>
            <a:pPr marL="0" indent="0">
              <a:buNone/>
            </a:pPr>
            <a:r>
              <a:rPr lang="en-US" dirty="0">
                <a:cs typeface="Calibri Light" panose="020F0302020204030204" pitchFamily="34" charset="0"/>
              </a:rPr>
              <a:t>Ensuring Security and Confidentiality</a:t>
            </a:r>
          </a:p>
          <a:p>
            <a:pPr marL="0" indent="0">
              <a:buNone/>
            </a:pPr>
            <a:r>
              <a:rPr lang="en-US" dirty="0">
                <a:cs typeface="Calibri Light" panose="020F0302020204030204" pitchFamily="34" charset="0"/>
              </a:rPr>
              <a:t>Triangulation:</a:t>
            </a:r>
          </a:p>
          <a:p>
            <a:pPr marL="0" indent="0">
              <a:buNone/>
            </a:pPr>
            <a:r>
              <a:rPr lang="en-US" dirty="0">
                <a:cs typeface="Calibri Light" panose="020F0302020204030204" pitchFamily="34" charset="0"/>
              </a:rPr>
              <a:t>Cross-Validation of Data through Multiple Coders</a:t>
            </a:r>
          </a:p>
          <a:p>
            <a:pPr marL="0" indent="0">
              <a:buNone/>
            </a:pPr>
            <a:r>
              <a:rPr lang="en-US" dirty="0">
                <a:cs typeface="Calibri Light" panose="020F0302020204030204" pitchFamily="34" charset="0"/>
              </a:rPr>
              <a:t>Enhancing Reliability and Validity</a:t>
            </a:r>
          </a:p>
          <a:p>
            <a:pPr marL="0" indent="0">
              <a:buNone/>
            </a:pPr>
            <a:r>
              <a:rPr lang="en-US" dirty="0">
                <a:cs typeface="Calibri Light" panose="020F0302020204030204" pitchFamily="34" charset="0"/>
              </a:rPr>
              <a:t>Interpretation:</a:t>
            </a:r>
          </a:p>
          <a:p>
            <a:pPr marL="0" indent="0">
              <a:buNone/>
            </a:pPr>
            <a:r>
              <a:rPr lang="en-US" dirty="0">
                <a:cs typeface="Calibri Light" panose="020F0302020204030204" pitchFamily="34" charset="0"/>
              </a:rPr>
              <a:t>Synthesizing Themes to Draw Conclusions</a:t>
            </a:r>
          </a:p>
          <a:p>
            <a:pPr marL="0" indent="0">
              <a:buNone/>
            </a:pPr>
            <a:r>
              <a:rPr lang="en-US" dirty="0">
                <a:cs typeface="Calibri Light" panose="020F0302020204030204" pitchFamily="34" charset="0"/>
              </a:rPr>
              <a:t>Exploring Relationships between Leadership, Self-Efficacy, and Willingness</a:t>
            </a:r>
          </a:p>
          <a:p>
            <a:pPr marL="0" indent="0">
              <a:buNone/>
            </a:pPr>
            <a:r>
              <a:rPr lang="en-US" dirty="0">
                <a:cs typeface="Calibri Light" panose="020F0302020204030204" pitchFamily="34" charset="0"/>
              </a:rPr>
              <a:t>Quantitative Analysis:</a:t>
            </a:r>
          </a:p>
          <a:p>
            <a:pPr marL="0" indent="0">
              <a:buNone/>
            </a:pPr>
            <a:r>
              <a:rPr lang="en-US" dirty="0">
                <a:cs typeface="Calibri Light" panose="020F0302020204030204" pitchFamily="34" charset="0"/>
              </a:rPr>
              <a:t>Descriptive Statistics for Quantitative Survey Data</a:t>
            </a:r>
          </a:p>
          <a:p>
            <a:pPr marL="0" indent="0">
              <a:buNone/>
            </a:pPr>
            <a:r>
              <a:rPr lang="en-US" dirty="0">
                <a:cs typeface="Calibri Light" panose="020F0302020204030204" pitchFamily="34" charset="0"/>
              </a:rPr>
              <a:t>Inferential Statistics for Relationships and Patterns</a:t>
            </a:r>
          </a:p>
          <a:p>
            <a:pPr marL="0" indent="0">
              <a:buNone/>
            </a:pPr>
            <a:r>
              <a:rPr lang="en-US" dirty="0">
                <a:cs typeface="Calibri Light" panose="020F0302020204030204" pitchFamily="34" charset="0"/>
              </a:rPr>
              <a:t>Statistical Software:</a:t>
            </a:r>
          </a:p>
          <a:p>
            <a:pPr marL="0" indent="0">
              <a:buNone/>
            </a:pPr>
            <a:r>
              <a:rPr lang="en-US" dirty="0">
                <a:cs typeface="Calibri Light" panose="020F0302020204030204" pitchFamily="34" charset="0"/>
              </a:rPr>
              <a:t>Utilizing Statistical Software for Analysis</a:t>
            </a:r>
          </a:p>
          <a:p>
            <a:pPr marL="0" indent="0">
              <a:buNone/>
            </a:pPr>
            <a:r>
              <a:rPr lang="en-US" dirty="0">
                <a:cs typeface="Calibri Light" panose="020F0302020204030204" pitchFamily="34" charset="0"/>
              </a:rPr>
              <a:t>Enhancing Precision and Validity</a:t>
            </a:r>
          </a:p>
        </p:txBody>
      </p:sp>
      <p:sp>
        <p:nvSpPr>
          <p:cNvPr id="4" name="Footer Placeholder 3">
            <a:extLst>
              <a:ext uri="{FF2B5EF4-FFF2-40B4-BE49-F238E27FC236}">
                <a16:creationId xmlns:a16="http://schemas.microsoft.com/office/drawing/2014/main" id="{440DE1F7-68AC-A713-B626-D3DD7A97CA9B}"/>
              </a:ext>
            </a:extLst>
          </p:cNvPr>
          <p:cNvSpPr>
            <a:spLocks noGrp="1"/>
          </p:cNvSpPr>
          <p:nvPr>
            <p:ph type="ftr" sz="quarter" idx="3"/>
          </p:nvPr>
        </p:nvSpPr>
        <p:spPr/>
        <p:txBody>
          <a:bodyPr/>
          <a:lstStyle/>
          <a:p>
            <a:r>
              <a:rPr lang="en-US" sz="1400"/>
              <a:t>DOCTORATES WITH PURPOSE</a:t>
            </a:r>
            <a:endParaRPr lang="en-US" sz="1400" dirty="0"/>
          </a:p>
        </p:txBody>
      </p:sp>
    </p:spTree>
    <p:extLst>
      <p:ext uri="{BB962C8B-B14F-4D97-AF65-F5344CB8AC3E}">
        <p14:creationId xmlns:p14="http://schemas.microsoft.com/office/powerpoint/2010/main" val="11875560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F5974-C015-395C-FE00-628B25430254}"/>
              </a:ext>
            </a:extLst>
          </p:cNvPr>
          <p:cNvSpPr>
            <a:spLocks noGrp="1"/>
          </p:cNvSpPr>
          <p:nvPr>
            <p:ph type="title"/>
          </p:nvPr>
        </p:nvSpPr>
        <p:spPr/>
        <p:txBody>
          <a:bodyPr/>
          <a:lstStyle/>
          <a:p>
            <a:r>
              <a:rPr lang="en-US" dirty="0"/>
              <a:t>Feasibility Slide 1</a:t>
            </a:r>
          </a:p>
        </p:txBody>
      </p:sp>
      <p:sp>
        <p:nvSpPr>
          <p:cNvPr id="3" name="Text Placeholder 2">
            <a:extLst>
              <a:ext uri="{FF2B5EF4-FFF2-40B4-BE49-F238E27FC236}">
                <a16:creationId xmlns:a16="http://schemas.microsoft.com/office/drawing/2014/main" id="{CBE175A4-781E-98CB-6DFA-51E81E532BFA}"/>
              </a:ext>
            </a:extLst>
          </p:cNvPr>
          <p:cNvSpPr>
            <a:spLocks noGrp="1"/>
          </p:cNvSpPr>
          <p:nvPr>
            <p:ph type="body" idx="1"/>
          </p:nvPr>
        </p:nvSpPr>
        <p:spPr>
          <a:xfrm>
            <a:off x="964023" y="2094337"/>
            <a:ext cx="4827178" cy="369463"/>
          </a:xfrm>
        </p:spPr>
        <p:txBody>
          <a:bodyPr/>
          <a:lstStyle/>
          <a:p>
            <a:r>
              <a:rPr lang="en-US" dirty="0"/>
              <a:t>Resources for Study</a:t>
            </a:r>
          </a:p>
        </p:txBody>
      </p:sp>
      <p:sp>
        <p:nvSpPr>
          <p:cNvPr id="4" name="Text Placeholder 3">
            <a:extLst>
              <a:ext uri="{FF2B5EF4-FFF2-40B4-BE49-F238E27FC236}">
                <a16:creationId xmlns:a16="http://schemas.microsoft.com/office/drawing/2014/main" id="{82A5A3FF-50E7-692E-C98D-C576392E8F38}"/>
              </a:ext>
            </a:extLst>
          </p:cNvPr>
          <p:cNvSpPr>
            <a:spLocks noGrp="1"/>
          </p:cNvSpPr>
          <p:nvPr>
            <p:ph type="body" idx="10"/>
          </p:nvPr>
        </p:nvSpPr>
        <p:spPr>
          <a:xfrm>
            <a:off x="6362700" y="2094337"/>
            <a:ext cx="4764829" cy="369463"/>
          </a:xfrm>
        </p:spPr>
        <p:txBody>
          <a:bodyPr/>
          <a:lstStyle/>
          <a:p>
            <a:r>
              <a:rPr lang="en-US" dirty="0"/>
              <a:t>Ethical Concerns</a:t>
            </a:r>
          </a:p>
        </p:txBody>
      </p:sp>
      <p:sp>
        <p:nvSpPr>
          <p:cNvPr id="5" name="Content Placeholder 4">
            <a:extLst>
              <a:ext uri="{FF2B5EF4-FFF2-40B4-BE49-F238E27FC236}">
                <a16:creationId xmlns:a16="http://schemas.microsoft.com/office/drawing/2014/main" id="{6D8EA8A5-8646-7C2E-7780-A1526C034674}"/>
              </a:ext>
            </a:extLst>
          </p:cNvPr>
          <p:cNvSpPr>
            <a:spLocks noGrp="1"/>
          </p:cNvSpPr>
          <p:nvPr>
            <p:ph sz="half" idx="2"/>
          </p:nvPr>
        </p:nvSpPr>
        <p:spPr>
          <a:xfrm>
            <a:off x="964023" y="2463801"/>
            <a:ext cx="4827178" cy="3898498"/>
          </a:xfrm>
        </p:spPr>
        <p:txBody>
          <a:bodyPr/>
          <a:lstStyle/>
          <a:p>
            <a:r>
              <a:rPr lang="en-US" dirty="0"/>
              <a:t>Recruiting participants through voluntary help and recovery groups will provide access to women who have undergone abortions and may be willing to participate in the study.</a:t>
            </a:r>
          </a:p>
          <a:p>
            <a:r>
              <a:rPr lang="en-US" dirty="0"/>
              <a:t>Ensuring that participants are fully informed about the purpose of the research and voluntarily give their consent to participate and to have their data used in the research.</a:t>
            </a:r>
          </a:p>
          <a:p>
            <a:endParaRPr lang="en-US" dirty="0"/>
          </a:p>
        </p:txBody>
      </p:sp>
      <p:sp>
        <p:nvSpPr>
          <p:cNvPr id="6" name="Content Placeholder 5">
            <a:extLst>
              <a:ext uri="{FF2B5EF4-FFF2-40B4-BE49-F238E27FC236}">
                <a16:creationId xmlns:a16="http://schemas.microsoft.com/office/drawing/2014/main" id="{C43F7044-767D-BB09-63F3-A117BB048AFF}"/>
              </a:ext>
            </a:extLst>
          </p:cNvPr>
          <p:cNvSpPr>
            <a:spLocks noGrp="1"/>
          </p:cNvSpPr>
          <p:nvPr>
            <p:ph sz="half" idx="13"/>
          </p:nvPr>
        </p:nvSpPr>
        <p:spPr>
          <a:xfrm>
            <a:off x="6362700" y="2463800"/>
            <a:ext cx="4756241" cy="3898498"/>
          </a:xfrm>
        </p:spPr>
        <p:txBody>
          <a:bodyPr/>
          <a:lstStyle/>
          <a:p>
            <a:r>
              <a:rPr lang="en-US" dirty="0"/>
              <a:t>•Implementing measures to ensure the anonymity and confidentiality of the participants.</a:t>
            </a:r>
          </a:p>
          <a:p>
            <a:r>
              <a:rPr lang="en-US" dirty="0"/>
              <a:t>• Participants will be spoken to legally and ethically.</a:t>
            </a:r>
          </a:p>
          <a:p>
            <a:r>
              <a:rPr lang="en-US" dirty="0"/>
              <a:t>•Participants will voluntarily accept the request to use their data for research purposes.</a:t>
            </a:r>
          </a:p>
          <a:p>
            <a:endParaRPr lang="en-US" dirty="0"/>
          </a:p>
        </p:txBody>
      </p:sp>
      <p:sp>
        <p:nvSpPr>
          <p:cNvPr id="7" name="Footer Placeholder 6">
            <a:extLst>
              <a:ext uri="{FF2B5EF4-FFF2-40B4-BE49-F238E27FC236}">
                <a16:creationId xmlns:a16="http://schemas.microsoft.com/office/drawing/2014/main" id="{D4FF64C5-CE22-1A13-DCFB-BA02EEC4A3C0}"/>
              </a:ext>
            </a:extLst>
          </p:cNvPr>
          <p:cNvSpPr>
            <a:spLocks noGrp="1"/>
          </p:cNvSpPr>
          <p:nvPr>
            <p:ph type="ftr" sz="quarter" idx="3"/>
          </p:nvPr>
        </p:nvSpPr>
        <p:spPr/>
        <p:txBody>
          <a:bodyPr/>
          <a:lstStyle/>
          <a:p>
            <a:r>
              <a:rPr lang="en-US" sz="1400"/>
              <a:t>DOCTORATES WITH PURPOSE</a:t>
            </a:r>
            <a:endParaRPr lang="en-US" sz="1400" dirty="0"/>
          </a:p>
        </p:txBody>
      </p:sp>
    </p:spTree>
    <p:extLst>
      <p:ext uri="{BB962C8B-B14F-4D97-AF65-F5344CB8AC3E}">
        <p14:creationId xmlns:p14="http://schemas.microsoft.com/office/powerpoint/2010/main" val="26643401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F5974-C015-395C-FE00-628B25430254}"/>
              </a:ext>
            </a:extLst>
          </p:cNvPr>
          <p:cNvSpPr>
            <a:spLocks noGrp="1"/>
          </p:cNvSpPr>
          <p:nvPr>
            <p:ph type="title"/>
          </p:nvPr>
        </p:nvSpPr>
        <p:spPr/>
        <p:txBody>
          <a:bodyPr/>
          <a:lstStyle/>
          <a:p>
            <a:r>
              <a:rPr lang="en-US" dirty="0"/>
              <a:t>Feasibility Slide 2</a:t>
            </a:r>
          </a:p>
        </p:txBody>
      </p:sp>
      <p:sp>
        <p:nvSpPr>
          <p:cNvPr id="3" name="Text Placeholder 2">
            <a:extLst>
              <a:ext uri="{FF2B5EF4-FFF2-40B4-BE49-F238E27FC236}">
                <a16:creationId xmlns:a16="http://schemas.microsoft.com/office/drawing/2014/main" id="{CBE175A4-781E-98CB-6DFA-51E81E532BFA}"/>
              </a:ext>
            </a:extLst>
          </p:cNvPr>
          <p:cNvSpPr>
            <a:spLocks noGrp="1"/>
          </p:cNvSpPr>
          <p:nvPr>
            <p:ph type="body" idx="1"/>
          </p:nvPr>
        </p:nvSpPr>
        <p:spPr>
          <a:xfrm>
            <a:off x="964023" y="2094337"/>
            <a:ext cx="4827178" cy="610863"/>
          </a:xfrm>
        </p:spPr>
        <p:txBody>
          <a:bodyPr>
            <a:noAutofit/>
          </a:bodyPr>
          <a:lstStyle/>
          <a:p>
            <a:pPr>
              <a:lnSpc>
                <a:spcPct val="100000"/>
              </a:lnSpc>
              <a:spcBef>
                <a:spcPts val="0"/>
              </a:spcBef>
            </a:pPr>
            <a:r>
              <a:rPr lang="en-US" dirty="0"/>
              <a:t>Study Alignment with Program </a:t>
            </a:r>
          </a:p>
          <a:p>
            <a:pPr>
              <a:lnSpc>
                <a:spcPct val="100000"/>
              </a:lnSpc>
              <a:spcBef>
                <a:spcPts val="0"/>
              </a:spcBef>
            </a:pPr>
            <a:r>
              <a:rPr lang="en-US" dirty="0"/>
              <a:t>(Identify Program of Study)</a:t>
            </a:r>
          </a:p>
        </p:txBody>
      </p:sp>
      <p:sp>
        <p:nvSpPr>
          <p:cNvPr id="4" name="Text Placeholder 3">
            <a:extLst>
              <a:ext uri="{FF2B5EF4-FFF2-40B4-BE49-F238E27FC236}">
                <a16:creationId xmlns:a16="http://schemas.microsoft.com/office/drawing/2014/main" id="{82A5A3FF-50E7-692E-C98D-C576392E8F38}"/>
              </a:ext>
            </a:extLst>
          </p:cNvPr>
          <p:cNvSpPr>
            <a:spLocks noGrp="1"/>
          </p:cNvSpPr>
          <p:nvPr>
            <p:ph type="body" idx="10"/>
          </p:nvPr>
        </p:nvSpPr>
        <p:spPr>
          <a:xfrm>
            <a:off x="6362700" y="2094337"/>
            <a:ext cx="4764829" cy="610863"/>
          </a:xfrm>
        </p:spPr>
        <p:txBody>
          <a:bodyPr/>
          <a:lstStyle/>
          <a:p>
            <a:r>
              <a:rPr lang="en-US" dirty="0"/>
              <a:t>Feasibility Concerns</a:t>
            </a:r>
          </a:p>
        </p:txBody>
      </p:sp>
      <p:sp>
        <p:nvSpPr>
          <p:cNvPr id="5" name="Content Placeholder 4">
            <a:extLst>
              <a:ext uri="{FF2B5EF4-FFF2-40B4-BE49-F238E27FC236}">
                <a16:creationId xmlns:a16="http://schemas.microsoft.com/office/drawing/2014/main" id="{6D8EA8A5-8646-7C2E-7780-A1526C034674}"/>
              </a:ext>
            </a:extLst>
          </p:cNvPr>
          <p:cNvSpPr>
            <a:spLocks noGrp="1"/>
          </p:cNvSpPr>
          <p:nvPr>
            <p:ph sz="half" idx="2"/>
          </p:nvPr>
        </p:nvSpPr>
        <p:spPr>
          <a:xfrm>
            <a:off x="964023" y="2799145"/>
            <a:ext cx="4827178" cy="3563153"/>
          </a:xfrm>
        </p:spPr>
        <p:txBody>
          <a:bodyPr/>
          <a:lstStyle/>
          <a:p>
            <a:pPr marL="292100"/>
            <a:r>
              <a:rPr lang="en-US" sz="1600" dirty="0"/>
              <a:t>Degree &amp; Emphasis</a:t>
            </a:r>
            <a:r>
              <a:rPr lang="en-US" dirty="0"/>
              <a:t>: Doctor of Philosophy in General Psychology focused on Women's Mental Health.</a:t>
            </a:r>
          </a:p>
          <a:p>
            <a:pPr marL="6350" indent="0">
              <a:buNone/>
            </a:pPr>
            <a:endParaRPr lang="en-US" sz="1600" dirty="0"/>
          </a:p>
          <a:p>
            <a:pPr marL="292100"/>
            <a:r>
              <a:rPr lang="en-US" sz="1600" dirty="0"/>
              <a:t>Alignment of topic to degree</a:t>
            </a:r>
            <a:r>
              <a:rPr lang="en-US" dirty="0"/>
              <a:t>: The topic aligns with the goals of my program of study, which aims to understand and improve the mental health of women</a:t>
            </a:r>
          </a:p>
          <a:p>
            <a:pPr marL="292100" indent="-285750"/>
            <a:endParaRPr lang="en-US" sz="1600" b="1" u="sng" dirty="0"/>
          </a:p>
          <a:p>
            <a:endParaRPr lang="en-US" dirty="0"/>
          </a:p>
          <a:p>
            <a:endParaRPr lang="en-US" dirty="0"/>
          </a:p>
        </p:txBody>
      </p:sp>
      <p:sp>
        <p:nvSpPr>
          <p:cNvPr id="6" name="Content Placeholder 5">
            <a:extLst>
              <a:ext uri="{FF2B5EF4-FFF2-40B4-BE49-F238E27FC236}">
                <a16:creationId xmlns:a16="http://schemas.microsoft.com/office/drawing/2014/main" id="{C43F7044-767D-BB09-63F3-A117BB048AFF}"/>
              </a:ext>
            </a:extLst>
          </p:cNvPr>
          <p:cNvSpPr>
            <a:spLocks noGrp="1"/>
          </p:cNvSpPr>
          <p:nvPr>
            <p:ph sz="half" idx="13"/>
          </p:nvPr>
        </p:nvSpPr>
        <p:spPr>
          <a:xfrm>
            <a:off x="6362700" y="2799146"/>
            <a:ext cx="4756241" cy="3563152"/>
          </a:xfrm>
        </p:spPr>
        <p:txBody>
          <a:bodyPr/>
          <a:lstStyle/>
          <a:p>
            <a:r>
              <a:rPr lang="en-US" dirty="0"/>
              <a:t>The cost of conducting the research is low, with the main expense being the researcher's time and commitment.</a:t>
            </a:r>
          </a:p>
          <a:p>
            <a:r>
              <a:rPr lang="en-US" dirty="0"/>
              <a:t>The study's feasibility is high, and there is a population of women who have undergone abortions that can be legally and ethically accessed through voluntary help and/or recovery groups and be interviewed.</a:t>
            </a:r>
          </a:p>
          <a:p>
            <a:r>
              <a:rPr lang="en-US" dirty="0"/>
              <a:t>The problem can be solved using qualitative data collection methods such as observation, personal interviews, focus groups, questionnaires, audio, images, video recording, and texts.</a:t>
            </a:r>
          </a:p>
          <a:p>
            <a:endParaRPr lang="en-US" dirty="0"/>
          </a:p>
        </p:txBody>
      </p:sp>
      <p:sp>
        <p:nvSpPr>
          <p:cNvPr id="7" name="Footer Placeholder 6">
            <a:extLst>
              <a:ext uri="{FF2B5EF4-FFF2-40B4-BE49-F238E27FC236}">
                <a16:creationId xmlns:a16="http://schemas.microsoft.com/office/drawing/2014/main" id="{D4FF64C5-CE22-1A13-DCFB-BA02EEC4A3C0}"/>
              </a:ext>
            </a:extLst>
          </p:cNvPr>
          <p:cNvSpPr>
            <a:spLocks noGrp="1"/>
          </p:cNvSpPr>
          <p:nvPr>
            <p:ph type="ftr" sz="quarter" idx="3"/>
          </p:nvPr>
        </p:nvSpPr>
        <p:spPr/>
        <p:txBody>
          <a:bodyPr/>
          <a:lstStyle/>
          <a:p>
            <a:r>
              <a:rPr lang="en-US" sz="1400"/>
              <a:t>DOCTORATES WITH PURPOSE</a:t>
            </a:r>
            <a:endParaRPr lang="en-US" sz="1400" dirty="0"/>
          </a:p>
        </p:txBody>
      </p:sp>
    </p:spTree>
    <p:extLst>
      <p:ext uri="{BB962C8B-B14F-4D97-AF65-F5344CB8AC3E}">
        <p14:creationId xmlns:p14="http://schemas.microsoft.com/office/powerpoint/2010/main" val="32107228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24C2A-C8B2-36D5-2BA6-F3F49E3153E8}"/>
              </a:ext>
            </a:extLst>
          </p:cNvPr>
          <p:cNvSpPr>
            <a:spLocks noGrp="1"/>
          </p:cNvSpPr>
          <p:nvPr>
            <p:ph type="title"/>
          </p:nvPr>
        </p:nvSpPr>
        <p:spPr/>
        <p:txBody>
          <a:bodyPr/>
          <a:lstStyle/>
          <a:p>
            <a:r>
              <a:rPr lang="en-US" dirty="0"/>
              <a:t>Defend</a:t>
            </a:r>
          </a:p>
        </p:txBody>
      </p:sp>
      <p:sp>
        <p:nvSpPr>
          <p:cNvPr id="3" name="Text Placeholder 2">
            <a:extLst>
              <a:ext uri="{FF2B5EF4-FFF2-40B4-BE49-F238E27FC236}">
                <a16:creationId xmlns:a16="http://schemas.microsoft.com/office/drawing/2014/main" id="{5ED5A459-B64A-2CD7-42DE-6896B6C423D4}"/>
              </a:ext>
            </a:extLst>
          </p:cNvPr>
          <p:cNvSpPr>
            <a:spLocks noGrp="1"/>
          </p:cNvSpPr>
          <p:nvPr>
            <p:ph type="body" sz="quarter" idx="10"/>
          </p:nvPr>
        </p:nvSpPr>
        <p:spPr/>
        <p:txBody>
          <a:bodyPr>
            <a:normAutofit fontScale="85000" lnSpcReduction="10000"/>
          </a:bodyPr>
          <a:lstStyle/>
          <a:p>
            <a:r>
              <a:rPr lang="en-US" dirty="0"/>
              <a:t>What is the current understanding of the relationship between abortion and mental health?</a:t>
            </a:r>
          </a:p>
          <a:p>
            <a:r>
              <a:rPr lang="en-US" dirty="0"/>
              <a:t>There is a connection between abortion and mental health problems, but the risk is higher for those with a  history of mental health disorders, lack of support, or who have been coerced into having an abortion.</a:t>
            </a:r>
          </a:p>
          <a:p>
            <a:r>
              <a:rPr lang="en-US" dirty="0"/>
              <a:t>How can Nurses help women protect their mental health after an abortion? </a:t>
            </a:r>
          </a:p>
          <a:p>
            <a:r>
              <a:rPr lang="en-US" dirty="0"/>
              <a:t>By providing counseling and therapy services, as well as connecting women to support groups and other resources. They can also assess women for risk factors and provide targeted interventions to support their mental health.</a:t>
            </a:r>
          </a:p>
          <a:p>
            <a:r>
              <a:rPr lang="en-US" dirty="0"/>
              <a:t>How can self-efficacy help women protect their mental health after an abortion? </a:t>
            </a:r>
          </a:p>
          <a:p>
            <a:r>
              <a:rPr lang="en-US" dirty="0"/>
              <a:t>Self-efficacy can help women develop coping strategies and resilience. </a:t>
            </a:r>
          </a:p>
          <a:p>
            <a:endParaRPr lang="en-US" dirty="0"/>
          </a:p>
        </p:txBody>
      </p:sp>
      <p:sp>
        <p:nvSpPr>
          <p:cNvPr id="4" name="Footer Placeholder 3">
            <a:extLst>
              <a:ext uri="{FF2B5EF4-FFF2-40B4-BE49-F238E27FC236}">
                <a16:creationId xmlns:a16="http://schemas.microsoft.com/office/drawing/2014/main" id="{B8EAF519-4002-6E28-27A0-6F3C76CF0D1E}"/>
              </a:ext>
            </a:extLst>
          </p:cNvPr>
          <p:cNvSpPr>
            <a:spLocks noGrp="1"/>
          </p:cNvSpPr>
          <p:nvPr>
            <p:ph type="ftr" sz="quarter" idx="3"/>
          </p:nvPr>
        </p:nvSpPr>
        <p:spPr/>
        <p:txBody>
          <a:bodyPr/>
          <a:lstStyle/>
          <a:p>
            <a:r>
              <a:rPr lang="en-US" sz="1400"/>
              <a:t>DOCTORATES WITH PURPOSE</a:t>
            </a:r>
            <a:endParaRPr lang="en-US" sz="1400" dirty="0"/>
          </a:p>
        </p:txBody>
      </p:sp>
    </p:spTree>
    <p:extLst>
      <p:ext uri="{BB962C8B-B14F-4D97-AF65-F5344CB8AC3E}">
        <p14:creationId xmlns:p14="http://schemas.microsoft.com/office/powerpoint/2010/main" val="38186666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FC0AD-BAFF-1947-2295-300BBC27D762}"/>
              </a:ext>
            </a:extLst>
          </p:cNvPr>
          <p:cNvSpPr>
            <a:spLocks noGrp="1"/>
          </p:cNvSpPr>
          <p:nvPr>
            <p:ph type="title"/>
          </p:nvPr>
        </p:nvSpPr>
        <p:spPr/>
        <p:txBody>
          <a:bodyPr/>
          <a:lstStyle/>
          <a:p>
            <a:r>
              <a:rPr lang="en-US" dirty="0"/>
              <a:t>References</a:t>
            </a:r>
          </a:p>
        </p:txBody>
      </p:sp>
      <p:sp>
        <p:nvSpPr>
          <p:cNvPr id="3" name="Text Placeholder 2">
            <a:extLst>
              <a:ext uri="{FF2B5EF4-FFF2-40B4-BE49-F238E27FC236}">
                <a16:creationId xmlns:a16="http://schemas.microsoft.com/office/drawing/2014/main" id="{39A73ADD-302F-D3EB-2D24-A0FF2A062826}"/>
              </a:ext>
            </a:extLst>
          </p:cNvPr>
          <p:cNvSpPr>
            <a:spLocks noGrp="1"/>
          </p:cNvSpPr>
          <p:nvPr>
            <p:ph type="body" sz="quarter" idx="10"/>
          </p:nvPr>
        </p:nvSpPr>
        <p:spPr>
          <a:xfrm>
            <a:off x="180512" y="1757362"/>
            <a:ext cx="11476501" cy="5100637"/>
          </a:xfrm>
        </p:spPr>
        <p:txBody>
          <a:bodyPr>
            <a:normAutofit fontScale="40000" lnSpcReduction="20000"/>
          </a:bodyPr>
          <a:lstStyle/>
          <a:p>
            <a:pPr marL="0" indent="-457200">
              <a:lnSpc>
                <a:spcPct val="100000"/>
              </a:lnSpc>
              <a:spcBef>
                <a:spcPts val="0"/>
              </a:spcBef>
            </a:pPr>
            <a:r>
              <a:rPr lang="en-US" dirty="0" err="1"/>
              <a:t>Akdag</a:t>
            </a:r>
            <a:r>
              <a:rPr lang="en-US" dirty="0"/>
              <a:t>, C., &amp; </a:t>
            </a:r>
            <a:r>
              <a:rPr lang="en-US" dirty="0" err="1"/>
              <a:t>Terzioglu</a:t>
            </a:r>
            <a:r>
              <a:rPr lang="en-US" dirty="0"/>
              <a:t>, F. (2019). Assessment of depression, anxiety, and social support in the context of therapeutic abortion. Perspectives in psychiatric care, 55(4), 618-623. </a:t>
            </a:r>
            <a:r>
              <a:rPr lang="en-US" dirty="0">
                <a:hlinkClick r:id="rId3"/>
              </a:rPr>
              <a:t>https://doi.org/10.1111/ppc.12380</a:t>
            </a:r>
            <a:endParaRPr lang="en-US" dirty="0"/>
          </a:p>
          <a:p>
            <a:pPr marL="0" indent="-457200">
              <a:lnSpc>
                <a:spcPct val="100000"/>
              </a:lnSpc>
              <a:spcBef>
                <a:spcPts val="0"/>
              </a:spcBef>
            </a:pPr>
            <a:r>
              <a:rPr lang="en-US" dirty="0" err="1"/>
              <a:t>Alspaugh</a:t>
            </a:r>
            <a:r>
              <a:rPr lang="en-US" dirty="0"/>
              <a:t>, A., </a:t>
            </a:r>
            <a:r>
              <a:rPr lang="en-US" dirty="0" err="1"/>
              <a:t>Mehra</a:t>
            </a:r>
            <a:r>
              <a:rPr lang="en-US" dirty="0"/>
              <a:t>, R., Coleman-</a:t>
            </a:r>
            <a:r>
              <a:rPr lang="en-US" dirty="0" err="1"/>
              <a:t>Minahan</a:t>
            </a:r>
            <a:r>
              <a:rPr lang="en-US" dirty="0"/>
              <a:t>, K., Hoffmann, T. J., Burton, C. W., </a:t>
            </a:r>
            <a:r>
              <a:rPr lang="en-US" dirty="0" err="1"/>
              <a:t>Eagen-Torkko</a:t>
            </a:r>
            <a:r>
              <a:rPr lang="en-US" dirty="0"/>
              <a:t>, M., ... &amp; McLemore, M. R. (2022). The Space in the Middle: Attitudes of Women's Health and Neonatal Nurses in the United States about Abortion. Women's Health Issues, 32(2), 130-139.</a:t>
            </a:r>
          </a:p>
          <a:p>
            <a:pPr marL="0" indent="-457200">
              <a:lnSpc>
                <a:spcPct val="100000"/>
              </a:lnSpc>
              <a:spcBef>
                <a:spcPts val="0"/>
              </a:spcBef>
            </a:pPr>
            <a:r>
              <a:rPr lang="en-US" dirty="0"/>
              <a:t>Carvajal, B., White, H., Brooks, J., Thomson, A. M., &amp; Cooke, A. (2022). Experiences of midwives and nurses when implementing abortion policies: A systematic integrative review. Midwifery, 111, 103363.</a:t>
            </a:r>
          </a:p>
          <a:p>
            <a:pPr marL="0" indent="-457200">
              <a:lnSpc>
                <a:spcPct val="100000"/>
              </a:lnSpc>
              <a:spcBef>
                <a:spcPts val="0"/>
              </a:spcBef>
            </a:pPr>
            <a:r>
              <a:rPr lang="en-US" dirty="0"/>
              <a:t>Horvath, S., &amp; Schreiber, C. A. (2017). Unintended pregnancy, induced abortion, and mental health. Current psychiatry reports, 19(11), 1-6. https://doi.org/10.1007/s11920-017-0832-4</a:t>
            </a:r>
          </a:p>
          <a:p>
            <a:pPr marL="0" indent="-457200">
              <a:lnSpc>
                <a:spcPct val="100000"/>
              </a:lnSpc>
              <a:spcBef>
                <a:spcPts val="0"/>
              </a:spcBef>
            </a:pPr>
            <a:r>
              <a:rPr lang="en-US" dirty="0"/>
              <a:t>Islam, R., &amp; Sayeed Akhter, M. (2022). Narrative Inquiry, Phenomenology, and Grounded Theory in Qualitative Research. In Principles of Social Research Methodology (pp. 101-115). Springer, Singapore.</a:t>
            </a:r>
          </a:p>
          <a:p>
            <a:pPr marL="0" indent="-457200">
              <a:lnSpc>
                <a:spcPct val="100000"/>
              </a:lnSpc>
              <a:spcBef>
                <a:spcPts val="0"/>
              </a:spcBef>
            </a:pPr>
            <a:r>
              <a:rPr lang="en-US" dirty="0"/>
              <a:t>Jensen, K. L., Temple‐Smith, M. J., &amp; </a:t>
            </a:r>
            <a:r>
              <a:rPr lang="en-US" dirty="0" err="1"/>
              <a:t>Bilardi</a:t>
            </a:r>
            <a:r>
              <a:rPr lang="en-US" dirty="0"/>
              <a:t>, J. E. (2019). Health professionals’ roles and practices in supporting women experiencing miscarriage: a qualitative study. Australian and New Zealand Journal of Obstetrics and </a:t>
            </a:r>
            <a:r>
              <a:rPr lang="en-US" dirty="0" err="1"/>
              <a:t>Gynaecology</a:t>
            </a:r>
            <a:r>
              <a:rPr lang="en-US" dirty="0"/>
              <a:t>, 59(4), 508-513. </a:t>
            </a:r>
            <a:r>
              <a:rPr lang="en-US" dirty="0">
                <a:hlinkClick r:id="rId4"/>
              </a:rPr>
              <a:t>https://doi.org/10.1111/ajo.12910</a:t>
            </a:r>
            <a:endParaRPr lang="en-US" dirty="0"/>
          </a:p>
          <a:p>
            <a:pPr marL="0" indent="-457200">
              <a:lnSpc>
                <a:spcPct val="100000"/>
              </a:lnSpc>
              <a:spcBef>
                <a:spcPts val="0"/>
              </a:spcBef>
            </a:pPr>
            <a:r>
              <a:rPr lang="en-US" dirty="0" err="1"/>
              <a:t>Karabulut</a:t>
            </a:r>
            <a:r>
              <a:rPr lang="en-US" dirty="0"/>
              <a:t>, S. D., </a:t>
            </a:r>
            <a:r>
              <a:rPr lang="en-US" dirty="0" err="1"/>
              <a:t>Gül</a:t>
            </a:r>
            <a:r>
              <a:rPr lang="en-US" dirty="0"/>
              <a:t>, Ş., </a:t>
            </a:r>
            <a:r>
              <a:rPr lang="en-US" dirty="0" err="1"/>
              <a:t>Keleş</a:t>
            </a:r>
            <a:r>
              <a:rPr lang="en-US" dirty="0"/>
              <a:t>, Ş., </a:t>
            </a:r>
            <a:r>
              <a:rPr lang="en-US" dirty="0" err="1"/>
              <a:t>Baykara</a:t>
            </a:r>
            <a:r>
              <a:rPr lang="en-US" dirty="0"/>
              <a:t>, Z. G., &amp; </a:t>
            </a:r>
            <a:r>
              <a:rPr lang="en-US" dirty="0" err="1"/>
              <a:t>Yalım</a:t>
            </a:r>
            <a:r>
              <a:rPr lang="en-US" dirty="0"/>
              <a:t>, N. Y. (2022). Nurses' attitudes toward, perceptions of, and experiences with conscientious objection. </a:t>
            </a:r>
            <a:r>
              <a:rPr lang="en-US" i="1" dirty="0"/>
              <a:t>Nursing ethics</a:t>
            </a:r>
            <a:r>
              <a:rPr lang="en-US" dirty="0"/>
              <a:t>, </a:t>
            </a:r>
            <a:r>
              <a:rPr lang="en-US" i="1" dirty="0"/>
              <a:t>29</a:t>
            </a:r>
            <a:r>
              <a:rPr lang="en-US" dirty="0"/>
              <a:t>(7-8), 1615-1633.</a:t>
            </a:r>
          </a:p>
          <a:p>
            <a:pPr marL="0" indent="-457200">
              <a:lnSpc>
                <a:spcPct val="100000"/>
              </a:lnSpc>
              <a:spcBef>
                <a:spcPts val="0"/>
              </a:spcBef>
            </a:pPr>
            <a:r>
              <a:rPr lang="en-US" dirty="0" err="1"/>
              <a:t>Manjarres</a:t>
            </a:r>
            <a:r>
              <a:rPr lang="en-US" dirty="0"/>
              <a:t>-Posada, N., Onofre-Rodríguez, D. J., &amp; Benavides-Torres, R. A. (2020). Social cognitive theory and health care: Analysis and evaluation. Int'l J. Soc. Sci. Stud., 8, 132.</a:t>
            </a:r>
          </a:p>
          <a:p>
            <a:pPr marL="0" indent="-457200">
              <a:lnSpc>
                <a:spcPct val="100000"/>
              </a:lnSpc>
              <a:spcBef>
                <a:spcPts val="0"/>
              </a:spcBef>
            </a:pPr>
            <a:r>
              <a:rPr lang="en-US" dirty="0"/>
              <a:t>Reardon, D. C. (2018). The abortion and mental health controversy: A comprehensive literature review of common ground agreements, disagreements, actionable recommendations, and research opportunities. SAGE open medicine, 6, 2050312118807624. https://doi.org/10.1177/2050312118807624</a:t>
            </a:r>
          </a:p>
          <a:p>
            <a:pPr marL="0" indent="-457200">
              <a:lnSpc>
                <a:spcPct val="100000"/>
              </a:lnSpc>
              <a:spcBef>
                <a:spcPts val="0"/>
              </a:spcBef>
            </a:pPr>
            <a:r>
              <a:rPr lang="en-US" dirty="0" err="1"/>
              <a:t>Schaan</a:t>
            </a:r>
            <a:r>
              <a:rPr lang="en-US" dirty="0"/>
              <a:t>, V. K., Schulz, A., </a:t>
            </a:r>
            <a:r>
              <a:rPr lang="en-US" dirty="0" err="1"/>
              <a:t>Schächinger</a:t>
            </a:r>
            <a:r>
              <a:rPr lang="en-US" dirty="0"/>
              <a:t>, H., &amp; </a:t>
            </a:r>
            <a:r>
              <a:rPr lang="en-US" dirty="0" err="1"/>
              <a:t>Vögele</a:t>
            </a:r>
            <a:r>
              <a:rPr lang="en-US" dirty="0"/>
              <a:t>, C. (2019). Parental divorce is associated with an increased risk to develop mental disorders in women. Journal of affective disorders, 257, 91-99.</a:t>
            </a:r>
          </a:p>
          <a:p>
            <a:pPr marL="0" indent="-457200">
              <a:lnSpc>
                <a:spcPct val="100000"/>
              </a:lnSpc>
              <a:spcBef>
                <a:spcPts val="0"/>
              </a:spcBef>
            </a:pPr>
            <a:r>
              <a:rPr lang="en-US" dirty="0" err="1"/>
              <a:t>Seeram</a:t>
            </a:r>
            <a:r>
              <a:rPr lang="en-US" dirty="0"/>
              <a:t>, E. (2019). An overview of correlational research. Radiologic Technology, 91(2), 176-179.</a:t>
            </a:r>
          </a:p>
          <a:p>
            <a:pPr marL="0" indent="-457200">
              <a:lnSpc>
                <a:spcPct val="100000"/>
              </a:lnSpc>
              <a:spcBef>
                <a:spcPts val="0"/>
              </a:spcBef>
            </a:pPr>
            <a:r>
              <a:rPr lang="en-US" dirty="0" err="1"/>
              <a:t>Shirey</a:t>
            </a:r>
            <a:r>
              <a:rPr lang="en-US" dirty="0"/>
              <a:t>, M. R. (2020). Self-efficacy and the nurse leader. Nurse Leader, 18(4), 339-343. https://doi.org/10.1016/j.mnl.2020.05.001</a:t>
            </a:r>
          </a:p>
          <a:p>
            <a:pPr marL="0" indent="-457200">
              <a:lnSpc>
                <a:spcPct val="100000"/>
              </a:lnSpc>
              <a:spcBef>
                <a:spcPts val="0"/>
              </a:spcBef>
            </a:pPr>
            <a:r>
              <a:rPr lang="en-US" dirty="0"/>
              <a:t>Steinberg, J. R., McCulloch, C. E., &amp; Adler, N. E. (2014). Abortion and mental health. Obstetrics &amp;amp; Gynecology, 123(2), 263–270. </a:t>
            </a:r>
            <a:r>
              <a:rPr lang="en-US" dirty="0">
                <a:hlinkClick r:id="rId5"/>
              </a:rPr>
              <a:t>https://doi.org/10.1097/aog.0000000000000092</a:t>
            </a:r>
            <a:endParaRPr lang="en-US" dirty="0"/>
          </a:p>
          <a:p>
            <a:pPr marL="0" indent="-457200">
              <a:lnSpc>
                <a:spcPct val="100000"/>
              </a:lnSpc>
              <a:spcBef>
                <a:spcPts val="0"/>
              </a:spcBef>
            </a:pPr>
            <a:r>
              <a:rPr lang="en-US" dirty="0" err="1"/>
              <a:t>Studnicki</a:t>
            </a:r>
            <a:r>
              <a:rPr lang="en-US" dirty="0"/>
              <a:t>, J., </a:t>
            </a:r>
            <a:r>
              <a:rPr lang="en-US" dirty="0" err="1"/>
              <a:t>Longbons</a:t>
            </a:r>
            <a:r>
              <a:rPr lang="en-US" dirty="0"/>
              <a:t>, T., Fisher, J., Reardon, D. C., </a:t>
            </a:r>
            <a:r>
              <a:rPr lang="en-US" dirty="0" err="1"/>
              <a:t>Skop</a:t>
            </a:r>
            <a:r>
              <a:rPr lang="en-US" dirty="0"/>
              <a:t>, I., </a:t>
            </a:r>
            <a:r>
              <a:rPr lang="en-US" dirty="0" err="1"/>
              <a:t>Cirucci</a:t>
            </a:r>
            <a:r>
              <a:rPr lang="en-US" dirty="0"/>
              <a:t>, C. A., Harrison, D. J., Craver, C., </a:t>
            </a:r>
            <a:r>
              <a:rPr lang="en-US" dirty="0" err="1"/>
              <a:t>Tsulukidze</a:t>
            </a:r>
            <a:r>
              <a:rPr lang="en-US" dirty="0"/>
              <a:t>, M., &amp; Ras, Z. (2023). A cohort study of mental health services utilization following a first pregnancy abortion or birth. International Journal of Women’s Health, Volume 15, 955–963. https://doi.org/10.2147/ijwh.s410798 </a:t>
            </a:r>
          </a:p>
          <a:p>
            <a:pPr marL="0" indent="-457200">
              <a:lnSpc>
                <a:spcPct val="100000"/>
              </a:lnSpc>
              <a:spcBef>
                <a:spcPts val="0"/>
              </a:spcBef>
            </a:pPr>
            <a:r>
              <a:rPr lang="en-US" dirty="0" err="1"/>
              <a:t>Renjith</a:t>
            </a:r>
            <a:r>
              <a:rPr lang="en-US" dirty="0"/>
              <a:t>, V., </a:t>
            </a:r>
            <a:r>
              <a:rPr lang="en-US" dirty="0" err="1"/>
              <a:t>Yesodharan</a:t>
            </a:r>
            <a:r>
              <a:rPr lang="en-US" dirty="0"/>
              <a:t>, R., Noronha, J. A., Ladd, E., &amp; George, A. (2021). Qualitative methods in health care research. International journal of preventive medicine, 12.</a:t>
            </a:r>
          </a:p>
          <a:p>
            <a:pPr marL="0" indent="-457200">
              <a:lnSpc>
                <a:spcPct val="100000"/>
              </a:lnSpc>
              <a:spcBef>
                <a:spcPts val="0"/>
              </a:spcBef>
            </a:pPr>
            <a:r>
              <a:rPr lang="en-US" dirty="0" err="1"/>
              <a:t>Tatalovich</a:t>
            </a:r>
            <a:r>
              <a:rPr lang="en-US" dirty="0"/>
              <a:t>, R. (2019). Abortion: Prochoice Versus Prolife. In Social Regulatory Policy (pp. 177-209). Routledge.</a:t>
            </a:r>
          </a:p>
          <a:p>
            <a:pPr marL="0" indent="-457200">
              <a:lnSpc>
                <a:spcPct val="100000"/>
              </a:lnSpc>
              <a:spcBef>
                <a:spcPts val="0"/>
              </a:spcBef>
            </a:pPr>
            <a:r>
              <a:rPr lang="en-US" dirty="0" err="1"/>
              <a:t>Teffo</a:t>
            </a:r>
            <a:r>
              <a:rPr lang="en-US" dirty="0"/>
              <a:t>, M., &amp; </a:t>
            </a:r>
            <a:r>
              <a:rPr lang="en-US" dirty="0" err="1"/>
              <a:t>Rispel</a:t>
            </a:r>
            <a:r>
              <a:rPr lang="en-US" dirty="0"/>
              <a:t>, L. (2020). Resilience or detachment? Coping strategies among termination of pregnancy health care providers in two South African provinces. </a:t>
            </a:r>
            <a:r>
              <a:rPr lang="en-US" i="1" dirty="0"/>
              <a:t>Culture, Health &amp; Sexuality</a:t>
            </a:r>
            <a:r>
              <a:rPr lang="en-US" dirty="0"/>
              <a:t>, </a:t>
            </a:r>
            <a:r>
              <a:rPr lang="en-US" i="1" dirty="0"/>
              <a:t>22</a:t>
            </a:r>
            <a:r>
              <a:rPr lang="en-US" dirty="0"/>
              <a:t>(3), 336-351.</a:t>
            </a:r>
          </a:p>
          <a:p>
            <a:pPr marL="0" indent="-457200">
              <a:lnSpc>
                <a:spcPct val="100000"/>
              </a:lnSpc>
              <a:spcBef>
                <a:spcPts val="0"/>
              </a:spcBef>
            </a:pPr>
            <a:r>
              <a:rPr lang="en-US" dirty="0"/>
              <a:t>Yin, R. K. (2009). Case study research: Design and methods (Vol. 5). sage.</a:t>
            </a:r>
          </a:p>
          <a:p>
            <a:pPr marL="0" indent="-457200">
              <a:lnSpc>
                <a:spcPct val="100000"/>
              </a:lnSpc>
              <a:spcBef>
                <a:spcPts val="0"/>
              </a:spcBef>
              <a:buNone/>
            </a:pPr>
            <a:endParaRPr lang="en-US" dirty="0"/>
          </a:p>
        </p:txBody>
      </p:sp>
      <p:sp>
        <p:nvSpPr>
          <p:cNvPr id="4" name="Footer Placeholder 3">
            <a:extLst>
              <a:ext uri="{FF2B5EF4-FFF2-40B4-BE49-F238E27FC236}">
                <a16:creationId xmlns:a16="http://schemas.microsoft.com/office/drawing/2014/main" id="{F267A3A9-7EEB-335C-1A43-C0439B0AF850}"/>
              </a:ext>
            </a:extLst>
          </p:cNvPr>
          <p:cNvSpPr>
            <a:spLocks noGrp="1"/>
          </p:cNvSpPr>
          <p:nvPr>
            <p:ph type="ftr" sz="quarter" idx="3"/>
          </p:nvPr>
        </p:nvSpPr>
        <p:spPr/>
        <p:txBody>
          <a:bodyPr/>
          <a:lstStyle/>
          <a:p>
            <a:r>
              <a:rPr lang="en-US" sz="1400"/>
              <a:t>DOCTORATES WITH PURPOSE</a:t>
            </a:r>
            <a:endParaRPr lang="en-US" sz="1400" dirty="0"/>
          </a:p>
        </p:txBody>
      </p:sp>
    </p:spTree>
    <p:extLst>
      <p:ext uri="{BB962C8B-B14F-4D97-AF65-F5344CB8AC3E}">
        <p14:creationId xmlns:p14="http://schemas.microsoft.com/office/powerpoint/2010/main" val="1962097650"/>
      </p:ext>
    </p:extLst>
  </p:cSld>
  <p:clrMapOvr>
    <a:masterClrMapping/>
  </p:clrMapOvr>
</p:sld>
</file>

<file path=ppt/theme/theme1.xml><?xml version="1.0" encoding="utf-8"?>
<a:theme xmlns:a="http://schemas.openxmlformats.org/drawingml/2006/main" name="Theme1">
  <a:themeElements>
    <a:clrScheme name="CDS Theme">
      <a:dk1>
        <a:sysClr val="windowText" lastClr="000000"/>
      </a:dk1>
      <a:lt1>
        <a:sysClr val="window" lastClr="FFFFFF"/>
      </a:lt1>
      <a:dk2>
        <a:srgbClr val="401665"/>
      </a:dk2>
      <a:lt2>
        <a:srgbClr val="EAE5EB"/>
      </a:lt2>
      <a:accent1>
        <a:srgbClr val="552B9A"/>
      </a:accent1>
      <a:accent2>
        <a:srgbClr val="9B57D3"/>
      </a:accent2>
      <a:accent3>
        <a:srgbClr val="9D78DA"/>
      </a:accent3>
      <a:accent4>
        <a:srgbClr val="7B2AC4"/>
      </a:accent4>
      <a:accent5>
        <a:srgbClr val="BFBFBF"/>
      </a:accent5>
      <a:accent6>
        <a:srgbClr val="D8D8D8"/>
      </a:accent6>
      <a:hlink>
        <a:srgbClr val="0066FF"/>
      </a:hlink>
      <a:folHlink>
        <a:srgbClr val="666699"/>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DS PPT Template.potx  -  Read-Only" id="{E418211A-E33F-487A-B062-105D01F6A83C}" vid="{2E653902-3125-41B0-B47D-D10D42D03A4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4F21D10-BD83-491A-AAA6-945C2DB1EB0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9EC1AB0-9704-404D-B6D3-819D938AC55B}">
  <ds:schemaRefs>
    <ds:schemaRef ds:uri="http://schemas.microsoft.com/office/2006/metadata/properties"/>
    <ds:schemaRef ds:uri="http://schemas.microsoft.com/office/2006/documentManagement/types"/>
    <ds:schemaRef ds:uri="http://purl.org/dc/elements/1.1/"/>
    <ds:schemaRef ds:uri="http://purl.org/dc/dcmitype/"/>
    <ds:schemaRef ds:uri="71af3243-3dd4-4a8d-8c0d-dd76da1f02a5"/>
    <ds:schemaRef ds:uri="http://www.w3.org/XML/1998/namespace"/>
    <ds:schemaRef ds:uri="http://schemas.microsoft.com/office/infopath/2007/PartnerControls"/>
    <ds:schemaRef ds:uri="16c05727-aa75-4e4a-9b5f-8a80a1165891"/>
    <ds:schemaRef ds:uri="http://schemas.openxmlformats.org/package/2006/metadata/core-properties"/>
    <ds:schemaRef ds:uri="http://purl.org/dc/terms/"/>
  </ds:schemaRefs>
</ds:datastoreItem>
</file>

<file path=customXml/itemProps3.xml><?xml version="1.0" encoding="utf-8"?>
<ds:datastoreItem xmlns:ds="http://schemas.openxmlformats.org/officeDocument/2006/customXml" ds:itemID="{1D20B6E4-879E-4E6C-BDE7-261540CD376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CDS PPT Template</Template>
  <TotalTime>4696</TotalTime>
  <Words>8616</Words>
  <Application>Microsoft Office PowerPoint</Application>
  <PresentationFormat>Widescreen</PresentationFormat>
  <Paragraphs>632</Paragraphs>
  <Slides>23</Slides>
  <Notes>22</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23</vt:i4>
      </vt:variant>
    </vt:vector>
  </HeadingPairs>
  <TitlesOfParts>
    <vt:vector size="36" baseType="lpstr">
      <vt:lpstr>Arial</vt:lpstr>
      <vt:lpstr>Calibri</vt:lpstr>
      <vt:lpstr>Calibri Light</vt:lpstr>
      <vt:lpstr>Franklin Gothic Book</vt:lpstr>
      <vt:lpstr>Franklin Gothic Demi</vt:lpstr>
      <vt:lpstr>Gill Sans</vt:lpstr>
      <vt:lpstr>Lucida Grande</vt:lpstr>
      <vt:lpstr>Segoe UI</vt:lpstr>
      <vt:lpstr>Symbol</vt:lpstr>
      <vt:lpstr>Times New Roman</vt:lpstr>
      <vt:lpstr>Wingdings</vt:lpstr>
      <vt:lpstr>ヒラギノ角ゴ ProN W3</vt:lpstr>
      <vt:lpstr>Theme1</vt:lpstr>
      <vt:lpstr>Measuring the Influence of Nurses on Women's Mental Health After Abortion (Quantitative Study)</vt:lpstr>
      <vt:lpstr>Alignment Table</vt:lpstr>
      <vt:lpstr>Literature Review: Background to the Problem</vt:lpstr>
      <vt:lpstr>Literature Review:  Theoretical Foundations</vt:lpstr>
      <vt:lpstr>Literature Review: Problem Space</vt:lpstr>
      <vt:lpstr>Literature Review: Review of Literature</vt:lpstr>
      <vt:lpstr>Problem Statement</vt:lpstr>
      <vt:lpstr>PowerPoint Presentation</vt:lpstr>
      <vt:lpstr>Methodology Justification</vt:lpstr>
      <vt:lpstr>Feasibility Slide 1</vt:lpstr>
      <vt:lpstr>Feasibility Slide 2</vt:lpstr>
      <vt:lpstr>Purpose Statement</vt:lpstr>
      <vt:lpstr>Population, Target Population, &amp; Sample</vt:lpstr>
      <vt:lpstr>Instrumentation</vt:lpstr>
      <vt:lpstr>Data Collection Steps: Slide 1 Required Permissions</vt:lpstr>
      <vt:lpstr>Data Collection Steps: Slide 2 Sampling Strategy and Sample Selection</vt:lpstr>
      <vt:lpstr>Data Collection Steps: Slide 3  Collecting the Data</vt:lpstr>
      <vt:lpstr>Data Collection Steps: Slide 4 Data Management and Storage</vt:lpstr>
      <vt:lpstr>Data Analysis Steps: Slide 2 Hypothesis #2 – Analysis Strategy</vt:lpstr>
      <vt:lpstr>Feasibility Slide 1</vt:lpstr>
      <vt:lpstr>Feasibility Slide 2</vt:lpstr>
      <vt:lpstr>Defend</vt:lpstr>
      <vt:lpstr>References</vt:lpstr>
    </vt:vector>
  </TitlesOfParts>
  <Company>Grand Canyon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Quantitative Prospectus Instructions for Learners</dc:title>
  <dc:creator>Michelle Sandoval</dc:creator>
  <cp:lastModifiedBy>Dennis Kibet</cp:lastModifiedBy>
  <cp:revision>47</cp:revision>
  <dcterms:created xsi:type="dcterms:W3CDTF">2023-04-18T16:48:55Z</dcterms:created>
  <dcterms:modified xsi:type="dcterms:W3CDTF">2023-10-05T16:32:19Z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